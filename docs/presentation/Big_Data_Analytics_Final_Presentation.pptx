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(60-90 SECONDS) ===</a:t>
            </a:r>
          </a:p>
          <a:p>
            <a:r>
              <a:t>Good morning Dr. Sreeja and evaluators. Today, our team presents our Big Data Analytics final project: Agricultural Commodity Price Forecasting and Market Analysis using Hadoop HDFS and Apache Spark. Our team members are Rishitha, Karthikeya, Ashwin, and Kaushal. The goal of this project is an end-to-end distributed pipeline over 75.98 million archived mandi reports plus 7.7 million official records that forecasts mandi prices 1 to 14 days ahead with Spark MLlib, with measured 80% intervals, and streams daily reports through Kafka.</a:t>
            </a:r>
          </a:p>
          <a:p/>
          <a:p>
            <a:r>
              <a:t>=== MAIN TECHNICAL POINT ===</a:t>
            </a:r>
          </a:p>
          <a:p>
            <a:r>
              <a:t>Team and faculty title slide matching the exact 23AID302 course reference format.</a:t>
            </a:r>
          </a:p>
          <a:p/>
          <a:p>
            <a:r>
              <a:t>=== LIKELY FACULTY QUESTION ===</a:t>
            </a:r>
          </a:p>
          <a:p>
            <a:r>
              <a:t>What is the core Big Data focus of this project?</a:t>
            </a:r>
          </a:p>
          <a:p/>
          <a:p>
            <a:r>
              <a:t>=== SHORT, DEFENSIBLE ANSWER ===</a:t>
            </a:r>
          </a:p>
          <a:p>
            <a:r>
              <a:t>Ma'am, our core focus is distributed data architecture: distributed storage using HDFS replication, leakage-safe feature engineering and deduplication in Apache Spark, honestly evaluated price forecasting with Spark MLlib, and micro-batch processing of daily reports through Kafka and Structured Streaming.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(60-90 SECONDS) ===</a:t>
            </a:r>
          </a:p>
          <a:p>
            <a:r>
              <a:t>Slide 2 defines what we are trying to find. On the left: the modal price a mandi will report 1, 3, 7 and 14 days ahead, for 36 commodities and 11,845 series, each with an 80% interval. We always compare with persistence, the last reported price, which is hard to beat because 17 to 34% of price changes are exactly zero. On the right, the forecasts become cautious SELL, HOLD, WATCH and COMPARE cards. In the bottom box: 75.98 million reports and 21.06 million feature rows do not fit single-node Pandas, so HDFS stores the data in replicated blocks and Spark distributes the feature engineering and MLlib work across CPU cores.</a:t>
            </a:r>
          </a:p>
          <a:p/>
          <a:p>
            <a:r>
              <a:t>=== MAIN TECHNICAL POINT ===</a:t>
            </a:r>
          </a:p>
          <a:p>
            <a:r>
              <a:t>Problem formulation, domain objective, and big data justification using the reference layout.</a:t>
            </a:r>
          </a:p>
          <a:p/>
          <a:p>
            <a:r>
              <a:t>=== LIKELY FACULTY QUESTION ===</a:t>
            </a:r>
          </a:p>
          <a:p>
            <a:r>
              <a:t>Why can't this be done in a standard SQL database or Pandas?</a:t>
            </a:r>
          </a:p>
          <a:p/>
          <a:p>
            <a:r>
              <a:t>=== SHORT, DEFENSIBLE ANSWER ===</a:t>
            </a:r>
          </a:p>
          <a:p>
            <a:r>
              <a:t>Ma'am, per-series window features and business-key deduplication over 75 million reports exceed the memory of a single-node tool on our 16 GB laptop. Spark provides Catalyst query optimization, Tungsten execution and partition-level parallelism; on the full 75.6 million rows, 10 cores give a 2.4 to 3.0 times speed-up over one core.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(60-90 SECONDS) ===</a:t>
            </a:r>
          </a:p>
          <a:p>
            <a:r>
              <a:t>Slide 3 presents our data layers and the 5 Vs. The raw archive has 75.98 million rows; after quality rules and de-duplication the silver layer keeps 75.64 million. We back-filled 7.72 million official records from data.gov.in for October 2025 to October 2026, giving a silver v2 layer of 82.1 million rows. The back-fill showed that the archive mirror holds only 30% of official reports after September 2025. The forecast panel has 21.06 million feature rows over 11,845 series. On the right, the 5 Vs map to our project. All models are trained and tested on real data only.</a:t>
            </a:r>
          </a:p>
          <a:p/>
          <a:p>
            <a:r>
              <a:t>=== MAIN TECHNICAL POINT ===</a:t>
            </a:r>
          </a:p>
          <a:p>
            <a:r>
              <a:t>Dataset provenance, table breakdown, and the 5 Vs structured like Reference Slide 3.</a:t>
            </a:r>
          </a:p>
          <a:p/>
          <a:p>
            <a:r>
              <a:t>=== LIKELY FACULTY QUESTION ===</a:t>
            </a:r>
          </a:p>
          <a:p>
            <a:r>
              <a:t>Why does silver v2 differ from the archive silver layer?</a:t>
            </a:r>
          </a:p>
          <a:p/>
          <a:p>
            <a:r>
              <a:t>=== SHORT, DEFENSIBLE ANSWER ===</a:t>
            </a:r>
          </a:p>
          <a:p>
            <a:r>
              <a:t>Ma'am, the archive silver layer has 75.64 million rows. Silver v2 keeps the archive before 2025-10-01 (74.49 million rows) and replaces everything from 2025-10-01 with the official data.gov.in back-fill (7.63 million rows after the same rules), giving 82.11 million rows. We did this because the archive mirror holds only 30% of the official reports for that period.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(60-90 SECONDS) ===</a:t>
            </a:r>
          </a:p>
          <a:p>
            <a:r>
              <a:t>Slide 4 details our System Setup and Configuration. Across the top is our end-to-end pipeline: archive CSVs and official API records are cleaned and de-duplicated by Scala readers, stored as Parquet layers in HDFS, Spark computes leakage-safe features and MLlib forecasts, and gold tables feed the API and the six-language app. On the middle left, HDFS runs 1 NameNode and 3 DataNodes in Docker with 128 MB blocks and replication factor 3; the 692 MB silver layer is HEALTHY and stayed readable with one DataNode down. On the middle right, Spark executes in local[*] mode on 10 cores with 64 shuffle partitions. The bottom box answers a frequent viva question: DataNodes store blocks, they are not Spark executors.</a:t>
            </a:r>
          </a:p>
          <a:p/>
          <a:p>
            <a:r>
              <a:t>=== MAIN TECHNICAL POINT ===</a:t>
            </a:r>
          </a:p>
          <a:p>
            <a:r>
              <a:t>Architecture flow diagram, storage settings, Spark settings, and callout box matching Reference Slide 4.</a:t>
            </a:r>
          </a:p>
          <a:p/>
          <a:p>
            <a:r>
              <a:t>=== LIKELY FACULTY QUESTION ===</a:t>
            </a:r>
          </a:p>
          <a:p>
            <a:r>
              <a:t>Why didn't your team deploy a multi-node YARN compute cluster?</a:t>
            </a:r>
          </a:p>
          <a:p/>
          <a:p>
            <a:r>
              <a:t>=== SHORT, DEFENSIBLE ANSWER ===</a:t>
            </a:r>
          </a:p>
          <a:p>
            <a:r>
              <a:t>Ma'am, we only had one machine, and we wanted to be transparent. Multi-container HDFS on Docker gives genuine block storage, replication and failover behaviour. Spark in local[*] mode uses all 10 cores; we also ran a 2-worker Docker Spark cluster on the same host (11.27 million rows: 9.2 s and 14.4 s for our two workloads). We do not claim a physical multi-node cluster.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(60-90 SECONDS) ===</a:t>
            </a:r>
          </a:p>
          <a:p>
            <a:r>
              <a:t>Slide 5 covers Spark Workflow and DAG execution. On the left are our steps: explicit schemas, quality rules and business-key de-duplication, leakage-safe window features and targets, and MLlib model fitting and scoring. We use 64 shuffle partitions, coalesced by AQE, and year directory pruning. On the full 75.6 million rows, 10 cores give a 2.4 to 3.0 times speed-up over one core. On the right, the DAG diagram shows how Spark schedules work: narrow transformations pipeline in memory, while wide transformations like Window.partitionBy trigger shuffles that divide the DAG into stages. The bottom box explains that stage boundaries come from shuffle dependencies; we read the exact counts in the Spark UI.</a:t>
            </a:r>
          </a:p>
          <a:p/>
          <a:p>
            <a:r>
              <a:t>=== MAIN TECHNICAL POINT ===</a:t>
            </a:r>
          </a:p>
          <a:p>
            <a:r>
              <a:t>Spark workflow, DAG stage breakdown, partitions, cache, and callout question matching Reference Slide 5.</a:t>
            </a:r>
          </a:p>
          <a:p/>
          <a:p>
            <a:r>
              <a:t>=== LIKELY FACULTY QUESTION ===</a:t>
            </a:r>
          </a:p>
          <a:p>
            <a:r>
              <a:t>What is the difference between a transformation and an action in Spark?</a:t>
            </a:r>
          </a:p>
          <a:p/>
          <a:p>
            <a:r>
              <a:t>=== SHORT, DEFENSIBLE ANSWER ===</a:t>
            </a:r>
          </a:p>
          <a:p>
            <a:r>
              <a:t>Ma'am, transformations like `filter()` and `withColumn()` are lazily evaluated—they only record operations in the DAG. No computation happens until an action like `count()`, `collect()`, or `write.parquet()` is called, which triggers Catalyst optimization and launches the DAG across stages.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(60-90 SECONDS) ===</a:t>
            </a:r>
          </a:p>
          <a:p>
            <a:r>
              <a:t>Slide 6 presents our Scala implementation and streaming architecture. On the left are excerpts from our codebase: snippet 1 uses try_to_date so a malformed date becomes null instead of failing the job; snippet 2 de-duplicates deterministically over the business key with row_number; snippet 3 builds a feature window that ends at the current report, which our perturbation test enforces. The bottom box explains streaming: reports go through Kafka topic agri.prices.v1 into PriceEventStream, which writes bronze, quarantines invalid messages before the watermark, removes re-sends and writes silver and alerts. In our replay, 21,524 messages gave 20,000 rows in silver, 1,317 duplicates removed and 207 quarantined, with nothing missing.</a:t>
            </a:r>
          </a:p>
          <a:p/>
          <a:p>
            <a:r>
              <a:t>=== MAIN TECHNICAL POINT ===</a:t>
            </a:r>
          </a:p>
          <a:p>
            <a:r>
              <a:t>Code excerpts, architectural purpose, and Structured Streaming callout box matching Reference Slide 6.</a:t>
            </a:r>
          </a:p>
          <a:p/>
          <a:p>
            <a:r>
              <a:t>=== LIKELY FACULTY QUESTION ===</a:t>
            </a:r>
          </a:p>
          <a:p>
            <a:r>
              <a:t>Why don't you compute forecast features in the stream?</a:t>
            </a:r>
          </a:p>
          <a:p/>
          <a:p>
            <a:r>
              <a:t>=== SHORT, DEFENSIBLE ANSWER ===</a:t>
            </a:r>
          </a:p>
          <a:p>
            <a:r>
              <a:t>Ma'am, it was a deliberate trade-off: one feature implementation instead of two that could drift apart. Streaming validates reports and raises alerts; features and forecasts are recomputed by the daily batch job. Batch and stream share the same canonicalisation code, and our parity check found 0 mismatches between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(60-90 SECONDS) ===</a:t>
            </a:r>
          </a:p>
          <a:p>
            <a:r>
              <a:t>Slide 7 explains how we train and test. On the left: persistence, moving-average and seasonal-naive baselines against MLlib linear regression, random forests and gradient-boosted trees, one global model per horizon. Absolute-loss GBT was selected for next and 3 days, random forest for 7 and 14 days. On the right: train origins 2016 to 2023, model choice and conformal calibration on 2024, and the January 2025 to April 2026 test scored once. We then re-scored the frozen models on complete official data and on six months, April to October 2026, that did not exist in the archive. The bottom box explains why random splits would leak future information.</a:t>
            </a:r>
          </a:p>
          <a:p/>
          <a:p>
            <a:r>
              <a:t>=== MAIN TECHNICAL POINT ===</a:t>
            </a:r>
          </a:p>
          <a:p>
            <a:r>
              <a:t>Model definitions, temporal split strategy, and data leakage callout box matching Reference Slide 7.</a:t>
            </a:r>
          </a:p>
          <a:p/>
          <a:p>
            <a:r>
              <a:t>=== LIKELY FACULTY QUESTION ===</a:t>
            </a:r>
          </a:p>
          <a:p>
            <a:r>
              <a:t>Why did you replace the v1 anomaly classifier with forecasting?</a:t>
            </a:r>
          </a:p>
          <a:p/>
          <a:p>
            <a:r>
              <a:t>=== SHORT, DEFENSIBLE ANSWER ===</a:t>
            </a:r>
          </a:p>
          <a:p>
            <a:r>
              <a:t>Ma'am, we audited v1 and found its headline classifier metrics were not produced by any code or log, its labels were functions of its own features, and its outlier bounds were fitted on the test years; its only logged classifier (72.54% accuracy) was below the 84.35% all-normal baseline. Those claims are withdrawn (docs/AUDIT_PRIOR_RESULTS.md). The project title promises price forecasting, so we built an honest forecasting benchmark instead.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(60-90 SECONDS) ===</a:t>
            </a:r>
          </a:p>
          <a:p>
            <a:r>
              <a:t>Slide 8 presents our verified results. The top table shows relative MAE against persistence on the 2025 to 2026 test: 0.971, 0.953, 0.938 and 0.923 for next, 3, 7 and 14 days, with 80% intervals covering 78.6 to 80.5%. The last column shows the frozen models on six unseen months: 0.952 to 0.963. Every Diebold–Mariano p-value is at most 1.3e-22. On the bottom left: the gains are modest but hold on most series; decision cards are conservative; anomaly flags are evaluated only on injected corruptions. On the bottom right: the Kafka replay delivered all 20,000 valid messages with 0 parity mismatches and a 1.69 second median latency, and HDFS stayed readable with one DataNode down.</a:t>
            </a:r>
          </a:p>
          <a:p/>
          <a:p>
            <a:r>
              <a:t>=== MAIN TECHNICAL POINT ===</a:t>
            </a:r>
          </a:p>
          <a:p>
            <a:r>
              <a:t>Model evaluation table, confusion matrix interpretation, and streaming replay validation matching Reference Slide 8.</a:t>
            </a:r>
          </a:p>
          <a:p/>
          <a:p>
            <a:r>
              <a:t>=== LIKELY FACULTY QUESTION ===</a:t>
            </a:r>
          </a:p>
          <a:p>
            <a:r>
              <a:t>Your model beats 'last price' by only 3 to 8%. Why so small, and is it real?</a:t>
            </a:r>
          </a:p>
          <a:p/>
          <a:p>
            <a:r>
              <a:t>=== SHORT, DEFENSIBLE ANSWER ===</a:t>
            </a:r>
          </a:p>
          <a:p>
            <a:r>
              <a:t>Ma'am, persistence is a hard baseline for mandi prices: 17 to 34% of price changes are exactly zero because mandis re-quote prices. The gain is real: Diebold–Mariano tests reject equal accuracy at every horizon, the model beats persistence on 58.5 to 76.4% of series, and the frozen models still score 0.952 to 0.963 on six months of data that did not exist when they were trained. A per-series exponential smoother matches us at 1 to 3 days, so our clear advantage is at 7 to 14 days.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(60-90 SECONDS) ===</a:t>
            </a:r>
          </a:p>
          <a:p>
            <a:r>
              <a:t>Slide 9 covers challenges, honest limitations and what changed. On the left: JDK 21 reflection fixed with --add-opens, malformed dates handled with try_to_date, a hard persistence baseline that needed absolute-loss GBT, and an archive mirror that missed 70% of recent reports, which we fixed by back-filling official data. On the right: one-host Spark and HDFS, modest gains, and no public deployment. The callout box explains that we audited our v1 results and withdrew the anomaly-classifier and streaming figures that no code produced. In conclusion, our forecasts beat persistence by 3 to 8% at every horizon with calibrated intervals, and the gains held on six unseen months.</a:t>
            </a:r>
          </a:p>
          <a:p/>
          <a:p>
            <a:r>
              <a:t>=== MAIN TECHNICAL POINT ===</a:t>
            </a:r>
          </a:p>
          <a:p>
            <a:r>
              <a:t>Engineering challenges, honest limitations, deduplication callout box, and conclusion matching Reference Slide 9.</a:t>
            </a:r>
          </a:p>
          <a:p/>
          <a:p>
            <a:r>
              <a:t>=== LIKELY FACULTY QUESTION ===</a:t>
            </a:r>
          </a:p>
          <a:p>
            <a:r>
              <a:t>What was the single most difficult engineering obstacle your team encountered?</a:t>
            </a:r>
          </a:p>
          <a:p/>
          <a:p>
            <a:r>
              <a:t>=== SHORT, DEFENSIBLE ANSWER ===</a:t>
            </a:r>
          </a:p>
          <a:p>
            <a:r>
              <a:t>Ma'am, data coverage. Our first models were trained and tested on the Kaggle archive, which after the AGMARKNET 2.0 migration looked like a performance drop. When we back-filled 7.7 million official records we found the archive held only 30% of official reports; re-scoring the same frozen models on complete data showed most of the apparent drop was missing reports, not model failure.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(60-90 SECONDS) ===</a:t>
            </a:r>
          </a:p>
          <a:p>
            <a:r>
              <a:t>Finally, Slide 10 provides our authoritative technical references and project deliverables. Our repository is public at `https://github.com/kaushalrog/AG-DATA`. It contains the Scala pipelines, Docker configurations, Kafka streaming scripts, the API and the six-language app. Our work is grounded in authoritative literature from Apache Spark, Apache Hadoop, and the Ministry of Agriculture. Every number we quoted is listed with its source in docs/VERIFIED_METRICS.md. This concludes our presentation, and our team is now ready for your questions. Thank you, Dr. Sreeja.</a:t>
            </a:r>
          </a:p>
          <a:p/>
          <a:p>
            <a:r>
              <a:t>=== MAIN TECHNICAL POINT ===</a:t>
            </a:r>
          </a:p>
          <a:p>
            <a:r>
              <a:t>References, project repository link, and final slide matching Reference Slide 10.</a:t>
            </a:r>
          </a:p>
          <a:p/>
          <a:p>
            <a:r>
              <a:t>=== LIKELY FACULTY QUESTION ===</a:t>
            </a:r>
          </a:p>
          <a:p>
            <a:r>
              <a:t>Where can we verify the raw execution logs and metrics?</a:t>
            </a:r>
          </a:p>
          <a:p/>
          <a:p>
            <a:r>
              <a:t>=== SHORT, DEFENSIBLE ANSWER ===</a:t>
            </a:r>
          </a:p>
          <a:p>
            <a:r>
              <a:t>Ma'am, in our GitHub repository: docs/VERIFIED_METRICS.md lists every number with its source file under results/ (forecast metrics, intervals, DM tests, anomaly benchmark, streaming summary, HDFS checks), and docs/AUDIT_PRIOR_RESULTS.md documents the withdrawn v1 claims.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92240"/>
            <a:ext cx="2560320" cy="365760"/>
          </a:xfrm>
          <a:prstGeom prst="rect">
            <a:avLst/>
          </a:prstGeom>
          <a:solidFill>
            <a:srgbClr val="A30000"/>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b="1">
                <a:solidFill>
                  <a:srgbClr val="FFFFFF"/>
                </a:solidFill>
              </a:defRPr>
            </a:pPr>
            <a:r>
              <a:t>Team AG-DATA / 23AID302</a:t>
            </a:r>
          </a:p>
        </p:txBody>
      </p:sp>
      <p:sp>
        <p:nvSpPr>
          <p:cNvPr id="4" name="Rectangle 3"/>
          <p:cNvSpPr/>
          <p:nvPr/>
        </p:nvSpPr>
        <p:spPr>
          <a:xfrm>
            <a:off x="2560320" y="6492240"/>
            <a:ext cx="7802575" cy="365760"/>
          </a:xfrm>
          <a:prstGeom prst="rect">
            <a:avLst/>
          </a:prstGeom>
          <a:solidFill>
            <a:srgbClr val="EAEDF2"/>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a:solidFill>
                  <a:srgbClr val="A30000"/>
                </a:solidFill>
              </a:defRPr>
            </a:pPr>
            <a:r>
              <a:t>Agricultural Commodity Price Analysis and Decision Support</a:t>
            </a:r>
          </a:p>
        </p:txBody>
      </p:sp>
      <p:sp>
        <p:nvSpPr>
          <p:cNvPr id="5" name="Rectangle 4"/>
          <p:cNvSpPr/>
          <p:nvPr/>
        </p:nvSpPr>
        <p:spPr>
          <a:xfrm>
            <a:off x="10362895" y="6492240"/>
            <a:ext cx="1828800" cy="365760"/>
          </a:xfrm>
          <a:prstGeom prst="rect">
            <a:avLst/>
          </a:prstGeom>
          <a:solidFill>
            <a:srgbClr val="DEE2E8"/>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b="1">
                <a:solidFill>
                  <a:srgbClr val="141923"/>
                </a:solidFill>
              </a:defRPr>
            </a:pPr>
            <a:r>
              <a:t>1 / 10</a:t>
            </a:r>
          </a:p>
        </p:txBody>
      </p:sp>
      <p:sp>
        <p:nvSpPr>
          <p:cNvPr id="6" name="Rounded Rectangle 5"/>
          <p:cNvSpPr/>
          <p:nvPr/>
        </p:nvSpPr>
        <p:spPr>
          <a:xfrm>
            <a:off x="548640" y="502920"/>
            <a:ext cx="11094415" cy="1645920"/>
          </a:xfrm>
          <a:prstGeom prst="roundRect">
            <a:avLst/>
          </a:prstGeom>
          <a:solidFill>
            <a:srgbClr val="ECF0F6"/>
          </a:solidFill>
          <a:ln w="15240">
            <a:solidFill>
              <a:srgbClr val="D7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0080"/>
            <a:ext cx="10728655" cy="1371600"/>
          </a:xfrm>
          <a:prstGeom prst="rect">
            <a:avLst/>
          </a:prstGeom>
          <a:noFill/>
        </p:spPr>
        <p:txBody>
          <a:bodyPr wrap="square">
            <a:spAutoFit/>
          </a:bodyPr>
          <a:lstStyle/>
          <a:p>
            <a:pPr algn="ctr">
              <a:defRPr sz="2600" b="1">
                <a:solidFill>
                  <a:srgbClr val="A30000"/>
                </a:solidFill>
              </a:defRPr>
            </a:pPr>
            <a:r>
              <a:t>Agricultural Commodity Price Forecasting and Market Analysis</a:t>
            </a:r>
          </a:p>
          <a:p>
            <a:pPr algn="ctr">
              <a:spcBef>
                <a:spcPts val="600"/>
              </a:spcBef>
              <a:defRPr sz="1600">
                <a:solidFill>
                  <a:srgbClr val="A30000"/>
                </a:solidFill>
              </a:defRPr>
            </a:pPr>
            <a:r>
              <a:t>Using Hadoop HDFS, Apache Spark, MLlib, and Apache Kafka</a:t>
            </a:r>
          </a:p>
        </p:txBody>
      </p:sp>
      <p:sp>
        <p:nvSpPr>
          <p:cNvPr id="8" name="TextBox 7"/>
          <p:cNvSpPr txBox="1"/>
          <p:nvPr/>
        </p:nvSpPr>
        <p:spPr>
          <a:xfrm>
            <a:off x="731520" y="2331720"/>
            <a:ext cx="10728655" cy="411480"/>
          </a:xfrm>
          <a:prstGeom prst="rect">
            <a:avLst/>
          </a:prstGeom>
          <a:noFill/>
        </p:spPr>
        <p:txBody>
          <a:bodyPr wrap="none">
            <a:spAutoFit/>
          </a:bodyPr>
          <a:lstStyle/>
          <a:p>
            <a:pPr algn="ctr">
              <a:defRPr sz="1700" b="1">
                <a:solidFill>
                  <a:srgbClr val="141923"/>
                </a:solidFill>
              </a:defRPr>
            </a:pPr>
            <a:r>
              <a:t>Final Review — Team AG-DATA</a:t>
            </a:r>
          </a:p>
        </p:txBody>
      </p:sp>
      <p:graphicFrame>
        <p:nvGraphicFramePr>
          <p:cNvPr id="9" name="Table 8"/>
          <p:cNvGraphicFramePr>
            <a:graphicFrameLocks noGrp="1"/>
          </p:cNvGraphicFramePr>
          <p:nvPr/>
        </p:nvGraphicFramePr>
        <p:xfrm>
          <a:off x="3749039" y="2880360"/>
          <a:ext cx="4690872" cy="1920240"/>
        </p:xfrm>
        <a:graphic>
          <a:graphicData uri="http://schemas.openxmlformats.org/drawingml/2006/table">
            <a:tbl>
              <a:tblPr firstRow="1" bandRow="1">
                <a:tableStyleId>{5C22544A-7EE6-4342-B048-85BDC9FD1C3A}</a:tableStyleId>
              </a:tblPr>
              <a:tblGrid>
                <a:gridCol w="2340864"/>
                <a:gridCol w="2350008"/>
              </a:tblGrid>
              <a:tr h="384048">
                <a:tc>
                  <a:txBody>
                    <a:bodyPr/>
                    <a:lstStyle/>
                    <a:p>
                      <a:pPr>
                        <a:defRPr sz="1200" b="1">
                          <a:solidFill>
                            <a:srgbClr val="141923"/>
                          </a:solidFill>
                        </a:defRPr>
                      </a:pPr>
                      <a:r>
                        <a:t>Name</a:t>
                      </a:r>
                    </a:p>
                  </a:txBody>
                  <a:tcPr anchor="ctr" marL="137160" marR="137160">
                    <a:solidFill>
                      <a:srgbClr val="E6EBF5"/>
                    </a:solidFill>
                  </a:tcPr>
                </a:tc>
                <a:tc>
                  <a:txBody>
                    <a:bodyPr/>
                    <a:lstStyle/>
                    <a:p>
                      <a:pPr>
                        <a:defRPr sz="1200" b="1">
                          <a:solidFill>
                            <a:srgbClr val="141923"/>
                          </a:solidFill>
                        </a:defRPr>
                      </a:pPr>
                      <a:r>
                        <a:t>Register no.</a:t>
                      </a:r>
                    </a:p>
                  </a:txBody>
                  <a:tcPr anchor="ctr" marL="137160" marR="137160">
                    <a:solidFill>
                      <a:srgbClr val="E6EBF5"/>
                    </a:solidFill>
                  </a:tcPr>
                </a:tc>
              </a:tr>
              <a:tr h="384048">
                <a:tc>
                  <a:txBody>
                    <a:bodyPr/>
                    <a:lstStyle/>
                    <a:p>
                      <a:pPr>
                        <a:defRPr sz="1200">
                          <a:solidFill>
                            <a:srgbClr val="141923"/>
                          </a:solidFill>
                        </a:defRPr>
                      </a:pPr>
                      <a:r>
                        <a:t>C Rishitha</a:t>
                      </a:r>
                    </a:p>
                  </a:txBody>
                  <a:tcPr anchor="ctr" marL="137160" marR="137160">
                    <a:solidFill>
                      <a:srgbClr val="FFFFFF"/>
                    </a:solidFill>
                  </a:tcPr>
                </a:tc>
                <a:tc>
                  <a:txBody>
                    <a:bodyPr/>
                    <a:lstStyle/>
                    <a:p>
                      <a:pPr>
                        <a:defRPr sz="1200">
                          <a:solidFill>
                            <a:srgbClr val="141923"/>
                          </a:solidFill>
                        </a:defRPr>
                      </a:pPr>
                      <a:r>
                        <a:t>CB.AI.U4AID24109</a:t>
                      </a:r>
                    </a:p>
                  </a:txBody>
                  <a:tcPr anchor="ctr" marL="137160" marR="137160">
                    <a:solidFill>
                      <a:srgbClr val="FFFFFF"/>
                    </a:solidFill>
                  </a:tcPr>
                </a:tc>
              </a:tr>
              <a:tr h="384048">
                <a:tc>
                  <a:txBody>
                    <a:bodyPr/>
                    <a:lstStyle/>
                    <a:p>
                      <a:pPr>
                        <a:defRPr sz="1200">
                          <a:solidFill>
                            <a:srgbClr val="141923"/>
                          </a:solidFill>
                        </a:defRPr>
                      </a:pPr>
                      <a:r>
                        <a:t>Karthikeya Y</a:t>
                      </a:r>
                    </a:p>
                  </a:txBody>
                  <a:tcPr anchor="ctr" marL="137160" marR="137160">
                    <a:solidFill>
                      <a:srgbClr val="F5F8FD"/>
                    </a:solidFill>
                  </a:tcPr>
                </a:tc>
                <a:tc>
                  <a:txBody>
                    <a:bodyPr/>
                    <a:lstStyle/>
                    <a:p>
                      <a:pPr>
                        <a:defRPr sz="1200">
                          <a:solidFill>
                            <a:srgbClr val="141923"/>
                          </a:solidFill>
                        </a:defRPr>
                      </a:pPr>
                      <a:r>
                        <a:t>CB.AI.U4AID24163</a:t>
                      </a:r>
                    </a:p>
                  </a:txBody>
                  <a:tcPr anchor="ctr" marL="137160" marR="137160">
                    <a:solidFill>
                      <a:srgbClr val="F5F8FD"/>
                    </a:solidFill>
                  </a:tcPr>
                </a:tc>
              </a:tr>
              <a:tr h="384048">
                <a:tc>
                  <a:txBody>
                    <a:bodyPr/>
                    <a:lstStyle/>
                    <a:p>
                      <a:pPr>
                        <a:defRPr sz="1200">
                          <a:solidFill>
                            <a:srgbClr val="141923"/>
                          </a:solidFill>
                        </a:defRPr>
                      </a:pPr>
                      <a:r>
                        <a:t>Ashwin Tyagi</a:t>
                      </a:r>
                    </a:p>
                  </a:txBody>
                  <a:tcPr anchor="ctr" marL="137160" marR="137160">
                    <a:solidFill>
                      <a:srgbClr val="FFFFFF"/>
                    </a:solidFill>
                  </a:tcPr>
                </a:tc>
                <a:tc>
                  <a:txBody>
                    <a:bodyPr/>
                    <a:lstStyle/>
                    <a:p>
                      <a:pPr>
                        <a:defRPr sz="1200">
                          <a:solidFill>
                            <a:srgbClr val="141923"/>
                          </a:solidFill>
                        </a:defRPr>
                      </a:pPr>
                      <a:r>
                        <a:t>CB.AI.U4AID24167</a:t>
                      </a:r>
                    </a:p>
                  </a:txBody>
                  <a:tcPr anchor="ctr" marL="137160" marR="137160">
                    <a:solidFill>
                      <a:srgbClr val="FFFFFF"/>
                    </a:solidFill>
                  </a:tcPr>
                </a:tc>
              </a:tr>
              <a:tr h="384048">
                <a:tc>
                  <a:txBody>
                    <a:bodyPr/>
                    <a:lstStyle/>
                    <a:p>
                      <a:pPr>
                        <a:defRPr sz="1200">
                          <a:solidFill>
                            <a:srgbClr val="141923"/>
                          </a:solidFill>
                        </a:defRPr>
                      </a:pPr>
                      <a:r>
                        <a:t>Kaushal S</a:t>
                      </a:r>
                    </a:p>
                  </a:txBody>
                  <a:tcPr anchor="ctr" marL="137160" marR="137160">
                    <a:solidFill>
                      <a:srgbClr val="F5F8FD"/>
                    </a:solidFill>
                  </a:tcPr>
                </a:tc>
                <a:tc>
                  <a:txBody>
                    <a:bodyPr/>
                    <a:lstStyle/>
                    <a:p>
                      <a:pPr>
                        <a:defRPr sz="1200">
                          <a:solidFill>
                            <a:srgbClr val="141923"/>
                          </a:solidFill>
                        </a:defRPr>
                      </a:pPr>
                      <a:r>
                        <a:t>CB.AI.U4AID24168</a:t>
                      </a:r>
                    </a:p>
                  </a:txBody>
                  <a:tcPr anchor="ctr" marL="137160" marR="137160">
                    <a:solidFill>
                      <a:srgbClr val="F5F8FD"/>
                    </a:solidFill>
                  </a:tcPr>
                </a:tc>
              </a:tr>
            </a:tbl>
          </a:graphicData>
        </a:graphic>
      </p:graphicFrame>
      <p:sp>
        <p:nvSpPr>
          <p:cNvPr id="10" name="TextBox 9"/>
          <p:cNvSpPr txBox="1"/>
          <p:nvPr/>
        </p:nvSpPr>
        <p:spPr>
          <a:xfrm>
            <a:off x="731520" y="4983480"/>
            <a:ext cx="10728655" cy="1188720"/>
          </a:xfrm>
          <a:prstGeom prst="rect">
            <a:avLst/>
          </a:prstGeom>
          <a:noFill/>
        </p:spPr>
        <p:txBody>
          <a:bodyPr wrap="square">
            <a:spAutoFit/>
          </a:bodyPr>
          <a:lstStyle/>
          <a:p>
            <a:pPr algn="ctr">
              <a:defRPr sz="1400" b="1">
                <a:solidFill>
                  <a:srgbClr val="141923"/>
                </a:solidFill>
              </a:defRPr>
            </a:pPr>
            <a:r>
              <a:t>23AID302 — Big Data Analytics</a:t>
            </a:r>
          </a:p>
          <a:p>
            <a:pPr algn="ctr">
              <a:spcBef>
                <a:spcPts val="300"/>
              </a:spcBef>
              <a:defRPr sz="1200">
                <a:solidFill>
                  <a:srgbClr val="555F6E"/>
                </a:solidFill>
              </a:defRPr>
            </a:pPr>
            <a:r>
              <a:t>Department of Artificial Intelligence and Data Science  ·  Amrita Vishwa Vidyapeetham</a:t>
            </a:r>
          </a:p>
          <a:p>
            <a:pPr algn="ctr">
              <a:spcBef>
                <a:spcPts val="400"/>
              </a:spcBef>
              <a:defRPr sz="1300" b="1">
                <a:solidFill>
                  <a:srgbClr val="A30000"/>
                </a:solidFill>
              </a:defRPr>
            </a:pPr>
            <a:r>
              <a:t>Faculty Guide: Dr. Sreeja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92240"/>
            <a:ext cx="2560320" cy="365760"/>
          </a:xfrm>
          <a:prstGeom prst="rect">
            <a:avLst/>
          </a:prstGeom>
          <a:solidFill>
            <a:srgbClr val="A30000"/>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b="1">
                <a:solidFill>
                  <a:srgbClr val="FFFFFF"/>
                </a:solidFill>
              </a:defRPr>
            </a:pPr>
            <a:r>
              <a:t>Team AG-DATA / 23AID302</a:t>
            </a:r>
          </a:p>
        </p:txBody>
      </p:sp>
      <p:sp>
        <p:nvSpPr>
          <p:cNvPr id="4" name="Rectangle 3"/>
          <p:cNvSpPr/>
          <p:nvPr/>
        </p:nvSpPr>
        <p:spPr>
          <a:xfrm>
            <a:off x="2560320" y="6492240"/>
            <a:ext cx="7802575" cy="365760"/>
          </a:xfrm>
          <a:prstGeom prst="rect">
            <a:avLst/>
          </a:prstGeom>
          <a:solidFill>
            <a:srgbClr val="EAEDF2"/>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a:solidFill>
                  <a:srgbClr val="A30000"/>
                </a:solidFill>
              </a:defRPr>
            </a:pPr>
            <a:r>
              <a:t>Agricultural Commodity Price Analysis and Decision Support</a:t>
            </a:r>
          </a:p>
        </p:txBody>
      </p:sp>
      <p:sp>
        <p:nvSpPr>
          <p:cNvPr id="5" name="Rectangle 4"/>
          <p:cNvSpPr/>
          <p:nvPr/>
        </p:nvSpPr>
        <p:spPr>
          <a:xfrm>
            <a:off x="10362895" y="6492240"/>
            <a:ext cx="1828800" cy="365760"/>
          </a:xfrm>
          <a:prstGeom prst="rect">
            <a:avLst/>
          </a:prstGeom>
          <a:solidFill>
            <a:srgbClr val="DEE2E8"/>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b="1">
                <a:solidFill>
                  <a:srgbClr val="141923"/>
                </a:solidFill>
              </a:defRPr>
            </a:pPr>
            <a:r>
              <a:t>2 / 10</a:t>
            </a:r>
          </a:p>
        </p:txBody>
      </p:sp>
      <p:sp>
        <p:nvSpPr>
          <p:cNvPr id="6" name="TextBox 5"/>
          <p:cNvSpPr txBox="1"/>
          <p:nvPr/>
        </p:nvSpPr>
        <p:spPr>
          <a:xfrm>
            <a:off x="548640" y="292608"/>
            <a:ext cx="11094415" cy="594360"/>
          </a:xfrm>
          <a:prstGeom prst="rect">
            <a:avLst/>
          </a:prstGeom>
          <a:noFill/>
        </p:spPr>
        <p:txBody>
          <a:bodyPr wrap="square" lIns="0" tIns="0" rIns="0" bIns="0">
            <a:spAutoFit/>
          </a:bodyPr>
          <a:lstStyle/>
          <a:p>
            <a:pPr>
              <a:defRPr sz="2200" b="1">
                <a:solidFill>
                  <a:srgbClr val="A30000"/>
                </a:solidFill>
              </a:defRPr>
            </a:pPr>
            <a:r>
              <a:t>1. What Are We Trying to Find?</a:t>
            </a:r>
          </a:p>
        </p:txBody>
      </p:sp>
      <p:sp>
        <p:nvSpPr>
          <p:cNvPr id="7" name="Rounded Rectangle 6"/>
          <p:cNvSpPr/>
          <p:nvPr/>
        </p:nvSpPr>
        <p:spPr>
          <a:xfrm>
            <a:off x="548640" y="1051560"/>
            <a:ext cx="5349240" cy="2651760"/>
          </a:xfrm>
          <a:prstGeom prst="roundRect">
            <a:avLst/>
          </a:prstGeom>
          <a:solidFill>
            <a:srgbClr val="F1F4FA"/>
          </a:solidFill>
          <a:ln w="12700">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051560"/>
            <a:ext cx="5349240" cy="384048"/>
          </a:xfrm>
          <a:prstGeom prst="roundRect">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06424"/>
            <a:ext cx="4983479" cy="292607"/>
          </a:xfrm>
          <a:prstGeom prst="rect">
            <a:avLst/>
          </a:prstGeom>
          <a:noFill/>
        </p:spPr>
        <p:txBody>
          <a:bodyPr wrap="square" lIns="0" tIns="0" rIns="0" bIns="0">
            <a:spAutoFit/>
          </a:bodyPr>
          <a:lstStyle/>
          <a:p>
            <a:pPr>
              <a:defRPr sz="1300" b="1">
                <a:solidFill>
                  <a:srgbClr val="FFFFFF"/>
                </a:solidFill>
              </a:defRPr>
            </a:pPr>
            <a:r>
              <a:t>Mandi: what price will be reported?</a:t>
            </a:r>
          </a:p>
        </p:txBody>
      </p:sp>
      <p:sp>
        <p:nvSpPr>
          <p:cNvPr id="10" name="TextBox 9"/>
          <p:cNvSpPr txBox="1"/>
          <p:nvPr/>
        </p:nvSpPr>
        <p:spPr>
          <a:xfrm>
            <a:off x="749808" y="1527048"/>
            <a:ext cx="4946903" cy="2103120"/>
          </a:xfrm>
          <a:prstGeom prst="rect">
            <a:avLst/>
          </a:prstGeom>
          <a:noFill/>
        </p:spPr>
        <p:txBody>
          <a:bodyPr wrap="square" lIns="0" tIns="0" rIns="0" bIns="0">
            <a:spAutoFit/>
          </a:bodyPr>
          <a:lstStyle/>
          <a:p>
            <a:pPr>
              <a:defRPr sz="1150">
                <a:solidFill>
                  <a:srgbClr val="141923"/>
                </a:solidFill>
              </a:defRPr>
            </a:pPr>
            <a:r>
              <a:t>Forecast the modal price a mandi will report 1, 3, 7 and 14 days ahead: 36 commodities, 11,845 mandi series.</a:t>
            </a:r>
          </a:p>
          <a:p>
            <a:pPr>
              <a:spcBef>
                <a:spcPts val="500"/>
              </a:spcBef>
              <a:defRPr sz="1100">
                <a:solidFill>
                  <a:srgbClr val="555F6E"/>
                </a:solidFill>
              </a:defRPr>
            </a:pPr>
            <a:r>
              <a:t>Every forecast carries an 80% conformal interval whose test coverage is measured.</a:t>
            </a:r>
          </a:p>
          <a:p>
            <a:pPr>
              <a:spcBef>
                <a:spcPts val="500"/>
              </a:spcBef>
              <a:defRPr sz="1150">
                <a:solidFill>
                  <a:srgbClr val="141923"/>
                </a:solidFill>
              </a:defRPr>
            </a:pPr>
            <a:r>
              <a:t>Baseline: persistence ("last price"), which is hard to beat: 17–34% of price changes are exactly zero.</a:t>
            </a:r>
          </a:p>
        </p:txBody>
      </p:sp>
      <p:sp>
        <p:nvSpPr>
          <p:cNvPr id="11" name="Rounded Rectangle 10"/>
          <p:cNvSpPr/>
          <p:nvPr/>
        </p:nvSpPr>
        <p:spPr>
          <a:xfrm>
            <a:off x="6263640" y="1051560"/>
            <a:ext cx="5349240" cy="2651760"/>
          </a:xfrm>
          <a:prstGeom prst="roundRect">
            <a:avLst/>
          </a:prstGeom>
          <a:solidFill>
            <a:srgbClr val="F1F4FA"/>
          </a:solidFill>
          <a:ln w="12700">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63640" y="1051560"/>
            <a:ext cx="5349240" cy="384048"/>
          </a:xfrm>
          <a:prstGeom prst="roundRect">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106424"/>
            <a:ext cx="4983479" cy="292607"/>
          </a:xfrm>
          <a:prstGeom prst="rect">
            <a:avLst/>
          </a:prstGeom>
          <a:noFill/>
        </p:spPr>
        <p:txBody>
          <a:bodyPr wrap="square" lIns="0" tIns="0" rIns="0" bIns="0">
            <a:spAutoFit/>
          </a:bodyPr>
          <a:lstStyle/>
          <a:p>
            <a:pPr>
              <a:defRPr sz="1300" b="1">
                <a:solidFill>
                  <a:srgbClr val="FFFFFF"/>
                </a:solidFill>
              </a:defRPr>
            </a:pPr>
            <a:r>
              <a:t>Decision Support: cautious outlook cards</a:t>
            </a:r>
          </a:p>
        </p:txBody>
      </p:sp>
      <p:sp>
        <p:nvSpPr>
          <p:cNvPr id="14" name="TextBox 13"/>
          <p:cNvSpPr txBox="1"/>
          <p:nvPr/>
        </p:nvSpPr>
        <p:spPr>
          <a:xfrm>
            <a:off x="6464807" y="1527048"/>
            <a:ext cx="4946903" cy="2103120"/>
          </a:xfrm>
          <a:prstGeom prst="rect">
            <a:avLst/>
          </a:prstGeom>
          <a:noFill/>
        </p:spPr>
        <p:txBody>
          <a:bodyPr wrap="square" lIns="0" tIns="0" rIns="0" bIns="0">
            <a:spAutoFit/>
          </a:bodyPr>
          <a:lstStyle/>
          <a:p>
            <a:pPr>
              <a:defRPr sz="1150" b="1">
                <a:solidFill>
                  <a:srgbClr val="141923"/>
                </a:solidFill>
              </a:defRPr>
            </a:pPr>
            <a:r>
              <a:t>Forecasts and intervals become cards a farmer can adjust with own costs:</a:t>
            </a:r>
          </a:p>
          <a:p>
            <a:pPr>
              <a:spcBef>
                <a:spcPts val="300"/>
              </a:spcBef>
              <a:defRPr sz="1050">
                <a:solidFill>
                  <a:srgbClr val="141923"/>
                </a:solidFill>
              </a:defRPr>
            </a:pPr>
            <a:r>
              <a:t>• SELL: Even the upper interval estimate is not above the last price.</a:t>
            </a:r>
          </a:p>
          <a:p>
            <a:pPr>
              <a:spcBef>
                <a:spcPts val="300"/>
              </a:spcBef>
              <a:defRPr sz="1050">
                <a:solidFill>
                  <a:srgbClr val="141923"/>
                </a:solidFill>
              </a:defRPr>
            </a:pPr>
            <a:r>
              <a:t>• HOLD: Even the lower estimate exceeds the last price plus storage costs.</a:t>
            </a:r>
          </a:p>
          <a:p>
            <a:pPr>
              <a:spcBef>
                <a:spcPts val="300"/>
              </a:spcBef>
              <a:defRPr sz="1050">
                <a:solidFill>
                  <a:srgbClr val="141923"/>
                </a:solidFill>
              </a:defRPr>
            </a:pPr>
            <a:r>
              <a:t>• WATCH: No clear signal; the default card.</a:t>
            </a:r>
          </a:p>
          <a:p>
            <a:pPr>
              <a:spcBef>
                <a:spcPts val="300"/>
              </a:spcBef>
              <a:defRPr sz="1050">
                <a:solidFill>
                  <a:srgbClr val="141923"/>
                </a:solidFill>
              </a:defRPr>
            </a:pPr>
            <a:r>
              <a:t>• COMPARE: A nearby mandi recently reported a clearly higher price.</a:t>
            </a:r>
          </a:p>
        </p:txBody>
      </p:sp>
      <p:sp>
        <p:nvSpPr>
          <p:cNvPr id="15" name="Rounded Rectangle 14"/>
          <p:cNvSpPr/>
          <p:nvPr/>
        </p:nvSpPr>
        <p:spPr>
          <a:xfrm>
            <a:off x="548640" y="3977639"/>
            <a:ext cx="11064240" cy="1554480"/>
          </a:xfrm>
          <a:prstGeom prst="roundRect">
            <a:avLst/>
          </a:prstGeom>
          <a:solidFill>
            <a:srgbClr val="F1F4FA"/>
          </a:solidFill>
          <a:ln w="12700">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3977639"/>
            <a:ext cx="11064240" cy="347472"/>
          </a:xfrm>
          <a:prstGeom prst="roundRect">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023359"/>
            <a:ext cx="10698480" cy="256032"/>
          </a:xfrm>
          <a:prstGeom prst="rect">
            <a:avLst/>
          </a:prstGeom>
          <a:noFill/>
        </p:spPr>
        <p:txBody>
          <a:bodyPr wrap="square" lIns="0" tIns="0" rIns="0" bIns="0">
            <a:spAutoFit/>
          </a:bodyPr>
          <a:lstStyle/>
          <a:p>
            <a:pPr>
              <a:defRPr sz="1200" b="1">
                <a:solidFill>
                  <a:srgbClr val="FFFFFF"/>
                </a:solidFill>
              </a:defRPr>
            </a:pPr>
            <a:r>
              <a:t>Why do we need big data tools?</a:t>
            </a:r>
          </a:p>
        </p:txBody>
      </p:sp>
      <p:sp>
        <p:nvSpPr>
          <p:cNvPr id="18" name="TextBox 17"/>
          <p:cNvSpPr txBox="1"/>
          <p:nvPr/>
        </p:nvSpPr>
        <p:spPr>
          <a:xfrm>
            <a:off x="777240" y="4416551"/>
            <a:ext cx="10607040" cy="1042415"/>
          </a:xfrm>
          <a:prstGeom prst="rect">
            <a:avLst/>
          </a:prstGeom>
          <a:noFill/>
        </p:spPr>
        <p:txBody>
          <a:bodyPr wrap="square" lIns="0" tIns="0" rIns="0" bIns="0">
            <a:spAutoFit/>
          </a:bodyPr>
          <a:lstStyle/>
          <a:p>
            <a:pPr>
              <a:defRPr sz="1100">
                <a:solidFill>
                  <a:srgbClr val="141923"/>
                </a:solidFill>
              </a:defRPr>
            </a:pPr>
            <a:r>
              <a:t>The archive alone has 75.98 million mandi reports, and the forecast panel has 21.06 million feature rows built with per-series window functions. That does not fit single-node Pandas on a 16 GB laptop. HDFS stores the layers in replicated blocks; Spark splits the work across executor threads.</a:t>
            </a:r>
          </a:p>
        </p:txBody>
      </p:sp>
      <p:sp>
        <p:nvSpPr>
          <p:cNvPr id="19" name="TextBox 18"/>
          <p:cNvSpPr txBox="1"/>
          <p:nvPr/>
        </p:nvSpPr>
        <p:spPr>
          <a:xfrm>
            <a:off x="548640" y="5715000"/>
            <a:ext cx="11064240" cy="365760"/>
          </a:xfrm>
          <a:prstGeom prst="rect">
            <a:avLst/>
          </a:prstGeom>
          <a:noFill/>
        </p:spPr>
        <p:txBody>
          <a:bodyPr wrap="none">
            <a:spAutoFit/>
          </a:bodyPr>
          <a:lstStyle/>
          <a:p>
            <a:pPr>
              <a:defRPr sz="1200" b="1">
                <a:solidFill>
                  <a:srgbClr val="141923"/>
                </a:solidFill>
              </a:defRPr>
            </a:pPr>
            <a:r>
              <a:t>Goal: prepare the data, compare forecasting models honestly, and stream daily reports.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92240"/>
            <a:ext cx="2560320" cy="365760"/>
          </a:xfrm>
          <a:prstGeom prst="rect">
            <a:avLst/>
          </a:prstGeom>
          <a:solidFill>
            <a:srgbClr val="A30000"/>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b="1">
                <a:solidFill>
                  <a:srgbClr val="FFFFFF"/>
                </a:solidFill>
              </a:defRPr>
            </a:pPr>
            <a:r>
              <a:t>Team AG-DATA / 23AID302</a:t>
            </a:r>
          </a:p>
        </p:txBody>
      </p:sp>
      <p:sp>
        <p:nvSpPr>
          <p:cNvPr id="4" name="Rectangle 3"/>
          <p:cNvSpPr/>
          <p:nvPr/>
        </p:nvSpPr>
        <p:spPr>
          <a:xfrm>
            <a:off x="2560320" y="6492240"/>
            <a:ext cx="7802575" cy="365760"/>
          </a:xfrm>
          <a:prstGeom prst="rect">
            <a:avLst/>
          </a:prstGeom>
          <a:solidFill>
            <a:srgbClr val="EAEDF2"/>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a:solidFill>
                  <a:srgbClr val="A30000"/>
                </a:solidFill>
              </a:defRPr>
            </a:pPr>
            <a:r>
              <a:t>Agricultural Commodity Price Analysis and Decision Support</a:t>
            </a:r>
          </a:p>
        </p:txBody>
      </p:sp>
      <p:sp>
        <p:nvSpPr>
          <p:cNvPr id="5" name="Rectangle 4"/>
          <p:cNvSpPr/>
          <p:nvPr/>
        </p:nvSpPr>
        <p:spPr>
          <a:xfrm>
            <a:off x="10362895" y="6492240"/>
            <a:ext cx="1828800" cy="365760"/>
          </a:xfrm>
          <a:prstGeom prst="rect">
            <a:avLst/>
          </a:prstGeom>
          <a:solidFill>
            <a:srgbClr val="DEE2E8"/>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b="1">
                <a:solidFill>
                  <a:srgbClr val="141923"/>
                </a:solidFill>
              </a:defRPr>
            </a:pPr>
            <a:r>
              <a:t>3 / 10</a:t>
            </a:r>
          </a:p>
        </p:txBody>
      </p:sp>
      <p:sp>
        <p:nvSpPr>
          <p:cNvPr id="6" name="TextBox 5"/>
          <p:cNvSpPr txBox="1"/>
          <p:nvPr/>
        </p:nvSpPr>
        <p:spPr>
          <a:xfrm>
            <a:off x="548640" y="292608"/>
            <a:ext cx="11094415" cy="594360"/>
          </a:xfrm>
          <a:prstGeom prst="rect">
            <a:avLst/>
          </a:prstGeom>
          <a:noFill/>
        </p:spPr>
        <p:txBody>
          <a:bodyPr wrap="square" lIns="0" tIns="0" rIns="0" bIns="0">
            <a:spAutoFit/>
          </a:bodyPr>
          <a:lstStyle/>
          <a:p>
            <a:pPr>
              <a:defRPr sz="2200" b="1">
                <a:solidFill>
                  <a:srgbClr val="A30000"/>
                </a:solidFill>
              </a:defRPr>
            </a:pPr>
            <a:r>
              <a:t>2. Our Data and the 5 Vs</a:t>
            </a:r>
          </a:p>
        </p:txBody>
      </p:sp>
      <p:sp>
        <p:nvSpPr>
          <p:cNvPr id="7" name="Rounded Rectangle 6"/>
          <p:cNvSpPr/>
          <p:nvPr/>
        </p:nvSpPr>
        <p:spPr>
          <a:xfrm>
            <a:off x="548640" y="1051560"/>
            <a:ext cx="5349240" cy="4526280"/>
          </a:xfrm>
          <a:prstGeom prst="roundRect">
            <a:avLst/>
          </a:prstGeom>
          <a:solidFill>
            <a:srgbClr val="F1F4FA"/>
          </a:solidFill>
          <a:ln w="12700">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051560"/>
            <a:ext cx="5349240" cy="384048"/>
          </a:xfrm>
          <a:prstGeom prst="roundRect">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06424"/>
            <a:ext cx="4983479" cy="292607"/>
          </a:xfrm>
          <a:prstGeom prst="rect">
            <a:avLst/>
          </a:prstGeom>
          <a:noFill/>
        </p:spPr>
        <p:txBody>
          <a:bodyPr wrap="square" lIns="0" tIns="0" rIns="0" bIns="0">
            <a:spAutoFit/>
          </a:bodyPr>
          <a:lstStyle/>
          <a:p>
            <a:pPr>
              <a:defRPr sz="1300" b="1">
                <a:solidFill>
                  <a:srgbClr val="FFFFFF"/>
                </a:solidFill>
              </a:defRPr>
            </a:pPr>
            <a:r>
              <a:t>Data layers</a:t>
            </a:r>
          </a:p>
        </p:txBody>
      </p:sp>
      <p:sp>
        <p:nvSpPr>
          <p:cNvPr id="10" name="TextBox 9"/>
          <p:cNvSpPr txBox="1"/>
          <p:nvPr/>
        </p:nvSpPr>
        <p:spPr>
          <a:xfrm>
            <a:off x="749808" y="1527048"/>
            <a:ext cx="4946903" cy="3977640"/>
          </a:xfrm>
          <a:prstGeom prst="rect">
            <a:avLst/>
          </a:prstGeom>
          <a:noFill/>
        </p:spPr>
        <p:txBody>
          <a:bodyPr wrap="square" lIns="0" tIns="0" rIns="0" bIns="0">
            <a:spAutoFit/>
          </a:bodyPr>
          <a:lstStyle/>
          <a:p/>
        </p:txBody>
      </p:sp>
      <p:graphicFrame>
        <p:nvGraphicFramePr>
          <p:cNvPr id="11" name="Table 10"/>
          <p:cNvGraphicFramePr>
            <a:graphicFrameLocks noGrp="1"/>
          </p:cNvGraphicFramePr>
          <p:nvPr/>
        </p:nvGraphicFramePr>
        <p:xfrm>
          <a:off x="731520" y="1600200"/>
          <a:ext cx="4983480" cy="2011680"/>
        </p:xfrm>
        <a:graphic>
          <a:graphicData uri="http://schemas.openxmlformats.org/drawingml/2006/table">
            <a:tbl>
              <a:tblPr firstRow="1" bandRow="1">
                <a:tableStyleId>{5C22544A-7EE6-4342-B048-85BDC9FD1C3A}</a:tableStyleId>
              </a:tblPr>
              <a:tblGrid>
                <a:gridCol w="2148840"/>
                <a:gridCol w="1143000"/>
                <a:gridCol w="1691640"/>
              </a:tblGrid>
              <a:tr h="335280">
                <a:tc>
                  <a:txBody>
                    <a:bodyPr/>
                    <a:lstStyle/>
                    <a:p>
                      <a:pPr>
                        <a:defRPr sz="950" b="1">
                          <a:solidFill>
                            <a:srgbClr val="1B2A6B"/>
                          </a:solidFill>
                        </a:defRPr>
                      </a:pPr>
                      <a:r>
                        <a:t>File / Layer</a:t>
                      </a:r>
                    </a:p>
                  </a:txBody>
                  <a:tcPr anchor="ctr" marL="73152" marR="73152">
                    <a:solidFill>
                      <a:srgbClr val="E4EAF6"/>
                    </a:solidFill>
                  </a:tcPr>
                </a:tc>
                <a:tc>
                  <a:txBody>
                    <a:bodyPr/>
                    <a:lstStyle/>
                    <a:p>
                      <a:pPr>
                        <a:defRPr sz="950" b="1">
                          <a:solidFill>
                            <a:srgbClr val="1B2A6B"/>
                          </a:solidFill>
                        </a:defRPr>
                      </a:pPr>
                      <a:r>
                        <a:t>Rows</a:t>
                      </a:r>
                    </a:p>
                  </a:txBody>
                  <a:tcPr anchor="ctr" marL="73152" marR="73152">
                    <a:solidFill>
                      <a:srgbClr val="E4EAF6"/>
                    </a:solidFill>
                  </a:tcPr>
                </a:tc>
                <a:tc>
                  <a:txBody>
                    <a:bodyPr/>
                    <a:lstStyle/>
                    <a:p>
                      <a:pPr>
                        <a:defRPr sz="950" b="1">
                          <a:solidFill>
                            <a:srgbClr val="1B2A6B"/>
                          </a:solidFill>
                        </a:defRPr>
                      </a:pPr>
                      <a:r>
                        <a:t>Role</a:t>
                      </a:r>
                    </a:p>
                  </a:txBody>
                  <a:tcPr anchor="ctr" marL="73152" marR="73152">
                    <a:solidFill>
                      <a:srgbClr val="E4EAF6"/>
                    </a:solidFill>
                  </a:tcPr>
                </a:tc>
              </a:tr>
              <a:tr h="335280">
                <a:tc>
                  <a:txBody>
                    <a:bodyPr/>
                    <a:lstStyle/>
                    <a:p>
                      <a:pPr>
                        <a:defRPr sz="950">
                          <a:solidFill>
                            <a:srgbClr val="141923"/>
                          </a:solidFill>
                        </a:defRPr>
                      </a:pPr>
                      <a:r>
                        <a:t>Raw archive (Kaggle v134)</a:t>
                      </a:r>
                    </a:p>
                  </a:txBody>
                  <a:tcPr anchor="ctr" marL="73152" marR="73152">
                    <a:solidFill>
                      <a:srgbClr val="FFFFFF"/>
                    </a:solidFill>
                  </a:tcPr>
                </a:tc>
                <a:tc>
                  <a:txBody>
                    <a:bodyPr/>
                    <a:lstStyle/>
                    <a:p>
                      <a:pPr>
                        <a:defRPr sz="950">
                          <a:solidFill>
                            <a:srgbClr val="141923"/>
                          </a:solidFill>
                        </a:defRPr>
                      </a:pPr>
                      <a:r>
                        <a:t>75,984,017</a:t>
                      </a:r>
                    </a:p>
                  </a:txBody>
                  <a:tcPr anchor="ctr" marL="73152" marR="73152">
                    <a:solidFill>
                      <a:srgbClr val="FFFFFF"/>
                    </a:solidFill>
                  </a:tcPr>
                </a:tc>
                <a:tc>
                  <a:txBody>
                    <a:bodyPr/>
                    <a:lstStyle/>
                    <a:p>
                      <a:pPr>
                        <a:defRPr sz="950">
                          <a:solidFill>
                            <a:srgbClr val="141923"/>
                          </a:solidFill>
                        </a:defRPr>
                      </a:pPr>
                      <a:r>
                        <a:t>AGMARKNET 2001–2026</a:t>
                      </a:r>
                    </a:p>
                  </a:txBody>
                  <a:tcPr anchor="ctr" marL="73152" marR="73152">
                    <a:solidFill>
                      <a:srgbClr val="FFFFFF"/>
                    </a:solidFill>
                  </a:tcPr>
                </a:tc>
              </a:tr>
              <a:tr h="335280">
                <a:tc>
                  <a:txBody>
                    <a:bodyPr/>
                    <a:lstStyle/>
                    <a:p>
                      <a:pPr>
                        <a:defRPr sz="950">
                          <a:solidFill>
                            <a:srgbClr val="141923"/>
                          </a:solidFill>
                        </a:defRPr>
                      </a:pPr>
                      <a:r>
                        <a:t>Archive silver</a:t>
                      </a:r>
                    </a:p>
                  </a:txBody>
                  <a:tcPr anchor="ctr" marL="73152" marR="73152">
                    <a:solidFill>
                      <a:srgbClr val="F5F8FD"/>
                    </a:solidFill>
                  </a:tcPr>
                </a:tc>
                <a:tc>
                  <a:txBody>
                    <a:bodyPr/>
                    <a:lstStyle/>
                    <a:p>
                      <a:pPr>
                        <a:defRPr sz="950">
                          <a:solidFill>
                            <a:srgbClr val="141923"/>
                          </a:solidFill>
                        </a:defRPr>
                      </a:pPr>
                      <a:r>
                        <a:t>75,644,801</a:t>
                      </a:r>
                    </a:p>
                  </a:txBody>
                  <a:tcPr anchor="ctr" marL="73152" marR="73152">
                    <a:solidFill>
                      <a:srgbClr val="F5F8FD"/>
                    </a:solidFill>
                  </a:tcPr>
                </a:tc>
                <a:tc>
                  <a:txBody>
                    <a:bodyPr/>
                    <a:lstStyle/>
                    <a:p>
                      <a:pPr>
                        <a:defRPr sz="950">
                          <a:solidFill>
                            <a:srgbClr val="141923"/>
                          </a:solidFill>
                        </a:defRPr>
                      </a:pPr>
                      <a:r>
                        <a:t>After quality + dedup</a:t>
                      </a:r>
                    </a:p>
                  </a:txBody>
                  <a:tcPr anchor="ctr" marL="73152" marR="73152">
                    <a:solidFill>
                      <a:srgbClr val="F5F8FD"/>
                    </a:solidFill>
                  </a:tcPr>
                </a:tc>
              </a:tr>
              <a:tr h="335280">
                <a:tc>
                  <a:txBody>
                    <a:bodyPr/>
                    <a:lstStyle/>
                    <a:p>
                      <a:pPr>
                        <a:defRPr sz="950">
                          <a:solidFill>
                            <a:srgbClr val="141923"/>
                          </a:solidFill>
                        </a:defRPr>
                      </a:pPr>
                      <a:r>
                        <a:t>Official back-fill</a:t>
                      </a:r>
                    </a:p>
                  </a:txBody>
                  <a:tcPr anchor="ctr" marL="73152" marR="73152">
                    <a:solidFill>
                      <a:srgbClr val="FFFFFF"/>
                    </a:solidFill>
                  </a:tcPr>
                </a:tc>
                <a:tc>
                  <a:txBody>
                    <a:bodyPr/>
                    <a:lstStyle/>
                    <a:p>
                      <a:pPr>
                        <a:defRPr sz="950">
                          <a:solidFill>
                            <a:srgbClr val="141923"/>
                          </a:solidFill>
                        </a:defRPr>
                      </a:pPr>
                      <a:r>
                        <a:t>7,720,662</a:t>
                      </a:r>
                    </a:p>
                  </a:txBody>
                  <a:tcPr anchor="ctr" marL="73152" marR="73152">
                    <a:solidFill>
                      <a:srgbClr val="FFFFFF"/>
                    </a:solidFill>
                  </a:tcPr>
                </a:tc>
                <a:tc>
                  <a:txBody>
                    <a:bodyPr/>
                    <a:lstStyle/>
                    <a:p>
                      <a:pPr>
                        <a:defRPr sz="950">
                          <a:solidFill>
                            <a:srgbClr val="141923"/>
                          </a:solidFill>
                        </a:defRPr>
                      </a:pPr>
                      <a:r>
                        <a:t>data.gov.in, 2025-10 → 2026-10</a:t>
                      </a:r>
                    </a:p>
                  </a:txBody>
                  <a:tcPr anchor="ctr" marL="73152" marR="73152">
                    <a:solidFill>
                      <a:srgbClr val="FFFFFF"/>
                    </a:solidFill>
                  </a:tcPr>
                </a:tc>
              </a:tr>
              <a:tr h="335280">
                <a:tc>
                  <a:txBody>
                    <a:bodyPr/>
                    <a:lstStyle/>
                    <a:p>
                      <a:pPr>
                        <a:defRPr sz="950">
                          <a:solidFill>
                            <a:srgbClr val="141923"/>
                          </a:solidFill>
                        </a:defRPr>
                      </a:pPr>
                      <a:r>
                        <a:t>Silver v2</a:t>
                      </a:r>
                    </a:p>
                  </a:txBody>
                  <a:tcPr anchor="ctr" marL="73152" marR="73152">
                    <a:solidFill>
                      <a:srgbClr val="F5F8FD"/>
                    </a:solidFill>
                  </a:tcPr>
                </a:tc>
                <a:tc>
                  <a:txBody>
                    <a:bodyPr/>
                    <a:lstStyle/>
                    <a:p>
                      <a:pPr>
                        <a:defRPr sz="950">
                          <a:solidFill>
                            <a:srgbClr val="141923"/>
                          </a:solidFill>
                        </a:defRPr>
                      </a:pPr>
                      <a:r>
                        <a:t>82,114,083</a:t>
                      </a:r>
                    </a:p>
                  </a:txBody>
                  <a:tcPr anchor="ctr" marL="73152" marR="73152">
                    <a:solidFill>
                      <a:srgbClr val="F5F8FD"/>
                    </a:solidFill>
                  </a:tcPr>
                </a:tc>
                <a:tc>
                  <a:txBody>
                    <a:bodyPr/>
                    <a:lstStyle/>
                    <a:p>
                      <a:pPr>
                        <a:defRPr sz="950">
                          <a:solidFill>
                            <a:srgbClr val="141923"/>
                          </a:solidFill>
                        </a:defRPr>
                      </a:pPr>
                      <a:r>
                        <a:t>Archive + official</a:t>
                      </a:r>
                    </a:p>
                  </a:txBody>
                  <a:tcPr anchor="ctr" marL="73152" marR="73152">
                    <a:solidFill>
                      <a:srgbClr val="F5F8FD"/>
                    </a:solidFill>
                  </a:tcPr>
                </a:tc>
              </a:tr>
              <a:tr h="335280">
                <a:tc>
                  <a:txBody>
                    <a:bodyPr/>
                    <a:lstStyle/>
                    <a:p>
                      <a:pPr>
                        <a:defRPr sz="950">
                          <a:solidFill>
                            <a:srgbClr val="141923"/>
                          </a:solidFill>
                        </a:defRPr>
                      </a:pPr>
                      <a:r>
                        <a:t>Forecast panel</a:t>
                      </a:r>
                    </a:p>
                  </a:txBody>
                  <a:tcPr anchor="ctr" marL="73152" marR="73152">
                    <a:solidFill>
                      <a:srgbClr val="FFFFFF"/>
                    </a:solidFill>
                  </a:tcPr>
                </a:tc>
                <a:tc>
                  <a:txBody>
                    <a:bodyPr/>
                    <a:lstStyle/>
                    <a:p>
                      <a:pPr>
                        <a:defRPr sz="950">
                          <a:solidFill>
                            <a:srgbClr val="141923"/>
                          </a:solidFill>
                        </a:defRPr>
                      </a:pPr>
                      <a:r>
                        <a:t>21.06 M</a:t>
                      </a:r>
                    </a:p>
                  </a:txBody>
                  <a:tcPr anchor="ctr" marL="73152" marR="73152">
                    <a:solidFill>
                      <a:srgbClr val="FFFFFF"/>
                    </a:solidFill>
                  </a:tcPr>
                </a:tc>
                <a:tc>
                  <a:txBody>
                    <a:bodyPr/>
                    <a:lstStyle/>
                    <a:p>
                      <a:pPr>
                        <a:defRPr sz="950">
                          <a:solidFill>
                            <a:srgbClr val="141923"/>
                          </a:solidFill>
                        </a:defRPr>
                      </a:pPr>
                      <a:r>
                        <a:t>36 commodities, 11,845 series</a:t>
                      </a:r>
                    </a:p>
                  </a:txBody>
                  <a:tcPr anchor="ctr" marL="73152" marR="73152">
                    <a:solidFill>
                      <a:srgbClr val="FFFFFF"/>
                    </a:solidFill>
                  </a:tcPr>
                </a:tc>
              </a:tr>
            </a:tbl>
          </a:graphicData>
        </a:graphic>
      </p:graphicFrame>
      <p:sp>
        <p:nvSpPr>
          <p:cNvPr id="12" name="TextBox 11"/>
          <p:cNvSpPr txBox="1"/>
          <p:nvPr/>
        </p:nvSpPr>
        <p:spPr>
          <a:xfrm>
            <a:off x="731520" y="3749039"/>
            <a:ext cx="4983480" cy="1737360"/>
          </a:xfrm>
          <a:prstGeom prst="rect">
            <a:avLst/>
          </a:prstGeom>
          <a:noFill/>
        </p:spPr>
        <p:txBody>
          <a:bodyPr wrap="square">
            <a:spAutoFit/>
          </a:bodyPr>
          <a:lstStyle/>
          <a:p>
            <a:pPr>
              <a:defRPr sz="950">
                <a:solidFill>
                  <a:srgbClr val="555F6E"/>
                </a:solidFill>
              </a:defRPr>
            </a:pPr>
            <a:r>
              <a:t>Attributes: State, District, Market, Commodity, Variety, Grade, Arrival_Date, Min/Max/Modal Price.</a:t>
            </a:r>
          </a:p>
          <a:p>
            <a:pPr>
              <a:spcBef>
                <a:spcPts val="400"/>
              </a:spcBef>
              <a:defRPr sz="950">
                <a:solidFill>
                  <a:srgbClr val="555F6E"/>
                </a:solidFill>
              </a:defRPr>
            </a:pPr>
            <a:r>
              <a:t>Coverage finding: the archive mirror holds only 30.0% of official reports for 2025-10 → 2026-04; where both exist, 99.33% of modal prices agree.</a:t>
            </a:r>
          </a:p>
        </p:txBody>
      </p:sp>
      <p:sp>
        <p:nvSpPr>
          <p:cNvPr id="13" name="Rounded Rectangle 12"/>
          <p:cNvSpPr/>
          <p:nvPr/>
        </p:nvSpPr>
        <p:spPr>
          <a:xfrm>
            <a:off x="6263640" y="1051560"/>
            <a:ext cx="5349240" cy="4526280"/>
          </a:xfrm>
          <a:prstGeom prst="roundRect">
            <a:avLst/>
          </a:prstGeom>
          <a:solidFill>
            <a:srgbClr val="F1F4FA"/>
          </a:solidFill>
          <a:ln w="12700">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63640" y="1051560"/>
            <a:ext cx="5349240" cy="384048"/>
          </a:xfrm>
          <a:prstGeom prst="roundRect">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1106424"/>
            <a:ext cx="4983479" cy="292607"/>
          </a:xfrm>
          <a:prstGeom prst="rect">
            <a:avLst/>
          </a:prstGeom>
          <a:noFill/>
        </p:spPr>
        <p:txBody>
          <a:bodyPr wrap="square" lIns="0" tIns="0" rIns="0" bIns="0">
            <a:spAutoFit/>
          </a:bodyPr>
          <a:lstStyle/>
          <a:p>
            <a:pPr>
              <a:defRPr sz="1300" b="1">
                <a:solidFill>
                  <a:srgbClr val="FFFFFF"/>
                </a:solidFill>
              </a:defRPr>
            </a:pPr>
            <a:r>
              <a:t>5 Vs in our project</a:t>
            </a:r>
          </a:p>
        </p:txBody>
      </p:sp>
      <p:sp>
        <p:nvSpPr>
          <p:cNvPr id="16" name="TextBox 15"/>
          <p:cNvSpPr txBox="1"/>
          <p:nvPr/>
        </p:nvSpPr>
        <p:spPr>
          <a:xfrm>
            <a:off x="6464807" y="1527048"/>
            <a:ext cx="4946903" cy="3977640"/>
          </a:xfrm>
          <a:prstGeom prst="rect">
            <a:avLst/>
          </a:prstGeom>
          <a:noFill/>
        </p:spPr>
        <p:txBody>
          <a:bodyPr wrap="square" lIns="0" tIns="0" rIns="0" bIns="0">
            <a:spAutoFit/>
          </a:bodyPr>
          <a:lstStyle/>
          <a:p>
            <a:pPr>
              <a:defRPr sz="1200" b="1">
                <a:solidFill>
                  <a:srgbClr val="1B2A6B"/>
                </a:solidFill>
              </a:defRPr>
            </a:pPr>
            <a:r>
              <a:t>5 Vs         In our project                  </a:t>
            </a:r>
          </a:p>
          <a:p>
            <a:pPr>
              <a:spcBef>
                <a:spcPts val="600"/>
              </a:spcBef>
              <a:defRPr sz="1050">
                <a:solidFill>
                  <a:srgbClr val="141923"/>
                </a:solidFill>
              </a:defRPr>
            </a:pPr>
            <a:r>
              <a:t>Volume       75.98M raw archive rows; 82.1M silver v2 rows; 692 MB silver Parquet in HDFS.</a:t>
            </a:r>
          </a:p>
          <a:p>
            <a:pPr>
              <a:spcBef>
                <a:spcPts val="600"/>
              </a:spcBef>
              <a:defRPr sz="1050">
                <a:solidFill>
                  <a:srgbClr val="141923"/>
                </a:solidFill>
              </a:defRPr>
            </a:pPr>
            <a:r>
              <a:t>Velocity     Daily reports through Kafka topic agri.prices.v1 into Structured Streaming.</a:t>
            </a:r>
          </a:p>
          <a:p>
            <a:pPr>
              <a:spcBef>
                <a:spcPts val="600"/>
              </a:spcBef>
              <a:defRPr sz="1050">
                <a:solidFill>
                  <a:srgbClr val="141923"/>
                </a:solidFill>
              </a:defRPr>
            </a:pPr>
            <a:r>
              <a:t>Variety      Archive CSV files and two official data.gov.in API resources.</a:t>
            </a:r>
          </a:p>
          <a:p>
            <a:pPr>
              <a:spcBef>
                <a:spcPts val="600"/>
              </a:spcBef>
              <a:defRPr sz="1050">
                <a:solidFill>
                  <a:srgbClr val="141923"/>
                </a:solidFill>
              </a:defRPr>
            </a:pPr>
            <a:r>
              <a:t>Veracity     Quality rules, de-duplication, quarantine; 30% archive coverage found.</a:t>
            </a:r>
          </a:p>
          <a:p>
            <a:pPr>
              <a:spcBef>
                <a:spcPts val="600"/>
              </a:spcBef>
              <a:defRPr sz="1050">
                <a:solidFill>
                  <a:srgbClr val="141923"/>
                </a:solidFill>
              </a:defRPr>
            </a:pPr>
            <a:r>
              <a:t>Value        Evaluated price forecasts with intervals and cautious decision cards.</a:t>
            </a:r>
          </a:p>
        </p:txBody>
      </p:sp>
      <p:sp>
        <p:nvSpPr>
          <p:cNvPr id="17" name="TextBox 16"/>
          <p:cNvSpPr txBox="1"/>
          <p:nvPr/>
        </p:nvSpPr>
        <p:spPr>
          <a:xfrm>
            <a:off x="548640" y="5715000"/>
            <a:ext cx="11064240" cy="365760"/>
          </a:xfrm>
          <a:prstGeom prst="rect">
            <a:avLst/>
          </a:prstGeom>
          <a:noFill/>
        </p:spPr>
        <p:txBody>
          <a:bodyPr wrap="none">
            <a:spAutoFit/>
          </a:bodyPr>
          <a:lstStyle/>
          <a:p>
            <a:pPr>
              <a:defRPr sz="1100">
                <a:solidFill>
                  <a:srgbClr val="A30000"/>
                </a:solidFill>
              </a:defRPr>
            </a:pPr>
            <a:r>
              <a:t>All models are trained and tested on real data only. A v1 synthetic workload exists for scalability tests and is never used for any model.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92240"/>
            <a:ext cx="2560320" cy="365760"/>
          </a:xfrm>
          <a:prstGeom prst="rect">
            <a:avLst/>
          </a:prstGeom>
          <a:solidFill>
            <a:srgbClr val="A30000"/>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b="1">
                <a:solidFill>
                  <a:srgbClr val="FFFFFF"/>
                </a:solidFill>
              </a:defRPr>
            </a:pPr>
            <a:r>
              <a:t>Team AG-DATA / 23AID302</a:t>
            </a:r>
          </a:p>
        </p:txBody>
      </p:sp>
      <p:sp>
        <p:nvSpPr>
          <p:cNvPr id="4" name="Rectangle 3"/>
          <p:cNvSpPr/>
          <p:nvPr/>
        </p:nvSpPr>
        <p:spPr>
          <a:xfrm>
            <a:off x="2560320" y="6492240"/>
            <a:ext cx="7802575" cy="365760"/>
          </a:xfrm>
          <a:prstGeom prst="rect">
            <a:avLst/>
          </a:prstGeom>
          <a:solidFill>
            <a:srgbClr val="EAEDF2"/>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a:solidFill>
                  <a:srgbClr val="A30000"/>
                </a:solidFill>
              </a:defRPr>
            </a:pPr>
            <a:r>
              <a:t>Agricultural Commodity Price Analysis and Decision Support</a:t>
            </a:r>
          </a:p>
        </p:txBody>
      </p:sp>
      <p:sp>
        <p:nvSpPr>
          <p:cNvPr id="5" name="Rectangle 4"/>
          <p:cNvSpPr/>
          <p:nvPr/>
        </p:nvSpPr>
        <p:spPr>
          <a:xfrm>
            <a:off x="10362895" y="6492240"/>
            <a:ext cx="1828800" cy="365760"/>
          </a:xfrm>
          <a:prstGeom prst="rect">
            <a:avLst/>
          </a:prstGeom>
          <a:solidFill>
            <a:srgbClr val="DEE2E8"/>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b="1">
                <a:solidFill>
                  <a:srgbClr val="141923"/>
                </a:solidFill>
              </a:defRPr>
            </a:pPr>
            <a:r>
              <a:t>4 / 10</a:t>
            </a:r>
          </a:p>
        </p:txBody>
      </p:sp>
      <p:sp>
        <p:nvSpPr>
          <p:cNvPr id="6" name="TextBox 5"/>
          <p:cNvSpPr txBox="1"/>
          <p:nvPr/>
        </p:nvSpPr>
        <p:spPr>
          <a:xfrm>
            <a:off x="548640" y="292608"/>
            <a:ext cx="11094415" cy="594360"/>
          </a:xfrm>
          <a:prstGeom prst="rect">
            <a:avLst/>
          </a:prstGeom>
          <a:noFill/>
        </p:spPr>
        <p:txBody>
          <a:bodyPr wrap="square" lIns="0" tIns="0" rIns="0" bIns="0">
            <a:spAutoFit/>
          </a:bodyPr>
          <a:lstStyle/>
          <a:p>
            <a:pPr>
              <a:defRPr sz="2200" b="1">
                <a:solidFill>
                  <a:srgbClr val="A30000"/>
                </a:solidFill>
              </a:defRPr>
            </a:pPr>
            <a:r>
              <a:t>3. System Setup and Configuration</a:t>
            </a:r>
          </a:p>
        </p:txBody>
      </p:sp>
      <p:sp>
        <p:nvSpPr>
          <p:cNvPr id="7" name="Rounded Rectangle 6"/>
          <p:cNvSpPr/>
          <p:nvPr/>
        </p:nvSpPr>
        <p:spPr>
          <a:xfrm>
            <a:off x="548640" y="1051560"/>
            <a:ext cx="1783080" cy="960120"/>
          </a:xfrm>
          <a:prstGeom prst="roundRect">
            <a:avLst/>
          </a:prstGeom>
          <a:solidFill>
            <a:srgbClr val="F1F4FA"/>
          </a:solidFill>
          <a:ln w="19050">
            <a:solidFill>
              <a:srgbClr val="1B2A6B"/>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A30000"/>
                </a:solidFill>
              </a:defRPr>
            </a:pPr>
            <a:r>
              <a:t>Input</a:t>
            </a:r>
          </a:p>
          <a:p>
            <a:pPr algn="ctr">
              <a:defRPr sz="1000">
                <a:solidFill>
                  <a:srgbClr val="141923"/>
                </a:solidFill>
              </a:defRPr>
            </a:pPr>
            <a:r>
              <a:t>Archive CSV</a:t>
            </a:r>
            <a:br/>
            <a:r>
              <a:t>+ official API</a:t>
            </a:r>
          </a:p>
        </p:txBody>
      </p:sp>
      <p:sp>
        <p:nvSpPr>
          <p:cNvPr id="8" name="Right Arrow 7"/>
          <p:cNvSpPr/>
          <p:nvPr/>
        </p:nvSpPr>
        <p:spPr>
          <a:xfrm>
            <a:off x="2423160" y="1371600"/>
            <a:ext cx="320040" cy="320040"/>
          </a:xfrm>
          <a:prstGeom prst="rightArrow">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834640" y="1051560"/>
            <a:ext cx="1783080" cy="960120"/>
          </a:xfrm>
          <a:prstGeom prst="roundRect">
            <a:avLst/>
          </a:prstGeom>
          <a:solidFill>
            <a:srgbClr val="F1F4FA"/>
          </a:solidFill>
          <a:ln w="19050">
            <a:solidFill>
              <a:srgbClr val="1B2A6B"/>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A30000"/>
                </a:solidFill>
              </a:defRPr>
            </a:pPr>
            <a:r>
              <a:t>HDFS</a:t>
            </a:r>
          </a:p>
          <a:p>
            <a:pPr algn="ctr">
              <a:defRPr sz="1000">
                <a:solidFill>
                  <a:srgbClr val="141923"/>
                </a:solidFill>
              </a:defRPr>
            </a:pPr>
            <a:r>
              <a:t>Store files</a:t>
            </a:r>
            <a:br/>
            <a:r>
              <a:t>in blocks</a:t>
            </a:r>
          </a:p>
        </p:txBody>
      </p:sp>
      <p:sp>
        <p:nvSpPr>
          <p:cNvPr id="10" name="Right Arrow 9"/>
          <p:cNvSpPr/>
          <p:nvPr/>
        </p:nvSpPr>
        <p:spPr>
          <a:xfrm>
            <a:off x="4709159" y="1371600"/>
            <a:ext cx="320040" cy="320040"/>
          </a:xfrm>
          <a:prstGeom prst="rightArrow">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120640" y="1051560"/>
            <a:ext cx="1783080" cy="960120"/>
          </a:xfrm>
          <a:prstGeom prst="roundRect">
            <a:avLst/>
          </a:prstGeom>
          <a:solidFill>
            <a:srgbClr val="F1F4FA"/>
          </a:solidFill>
          <a:ln w="19050">
            <a:solidFill>
              <a:srgbClr val="1B2A6B"/>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A30000"/>
                </a:solidFill>
              </a:defRPr>
            </a:pPr>
            <a:r>
              <a:t>Scala</a:t>
            </a:r>
          </a:p>
          <a:p>
            <a:pPr algn="ctr">
              <a:defRPr sz="1000">
                <a:solidFill>
                  <a:srgbClr val="141923"/>
                </a:solidFill>
              </a:defRPr>
            </a:pPr>
            <a:r>
              <a:t>Read, clean</a:t>
            </a:r>
            <a:br/>
            <a:r>
              <a:t>&amp; dedup</a:t>
            </a:r>
          </a:p>
        </p:txBody>
      </p:sp>
      <p:sp>
        <p:nvSpPr>
          <p:cNvPr id="12" name="Right Arrow 11"/>
          <p:cNvSpPr/>
          <p:nvPr/>
        </p:nvSpPr>
        <p:spPr>
          <a:xfrm>
            <a:off x="6995159" y="1371600"/>
            <a:ext cx="320040" cy="320040"/>
          </a:xfrm>
          <a:prstGeom prst="rightArrow">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406640" y="1051560"/>
            <a:ext cx="1783080" cy="960120"/>
          </a:xfrm>
          <a:prstGeom prst="roundRect">
            <a:avLst/>
          </a:prstGeom>
          <a:solidFill>
            <a:srgbClr val="F1F4FA"/>
          </a:solidFill>
          <a:ln w="19050">
            <a:solidFill>
              <a:srgbClr val="1B2A6B"/>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A30000"/>
                </a:solidFill>
              </a:defRPr>
            </a:pPr>
            <a:r>
              <a:t>Spark</a:t>
            </a:r>
          </a:p>
          <a:p>
            <a:pPr algn="ctr">
              <a:defRPr sz="1000">
                <a:solidFill>
                  <a:srgbClr val="141923"/>
                </a:solidFill>
              </a:defRPr>
            </a:pPr>
            <a:r>
              <a:t>Features</a:t>
            </a:r>
            <a:br/>
            <a:r>
              <a:t>&amp; forecasts</a:t>
            </a:r>
          </a:p>
        </p:txBody>
      </p:sp>
      <p:sp>
        <p:nvSpPr>
          <p:cNvPr id="14" name="Right Arrow 13"/>
          <p:cNvSpPr/>
          <p:nvPr/>
        </p:nvSpPr>
        <p:spPr>
          <a:xfrm>
            <a:off x="9281159" y="1371600"/>
            <a:ext cx="320040" cy="320040"/>
          </a:xfrm>
          <a:prstGeom prst="rightArrow">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692640" y="1051560"/>
            <a:ext cx="1783080" cy="960120"/>
          </a:xfrm>
          <a:prstGeom prst="roundRect">
            <a:avLst/>
          </a:prstGeom>
          <a:solidFill>
            <a:srgbClr val="F1F4FA"/>
          </a:solidFill>
          <a:ln w="19050">
            <a:solidFill>
              <a:srgbClr val="1B2A6B"/>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A30000"/>
                </a:solidFill>
              </a:defRPr>
            </a:pPr>
            <a:r>
              <a:t>Results</a:t>
            </a:r>
          </a:p>
          <a:p>
            <a:pPr algn="ctr">
              <a:defRPr sz="1000">
                <a:solidFill>
                  <a:srgbClr val="141923"/>
                </a:solidFill>
              </a:defRPr>
            </a:pPr>
            <a:r>
              <a:t>Gold, API</a:t>
            </a:r>
            <a:br/>
            <a:r>
              <a:t>&amp; PWA</a:t>
            </a:r>
          </a:p>
        </p:txBody>
      </p:sp>
      <p:sp>
        <p:nvSpPr>
          <p:cNvPr id="16" name="Rounded Rectangle 15"/>
          <p:cNvSpPr/>
          <p:nvPr/>
        </p:nvSpPr>
        <p:spPr>
          <a:xfrm>
            <a:off x="548640" y="2286000"/>
            <a:ext cx="5349240" cy="2377440"/>
          </a:xfrm>
          <a:prstGeom prst="roundRect">
            <a:avLst/>
          </a:prstGeom>
          <a:solidFill>
            <a:srgbClr val="F1F4FA"/>
          </a:solidFill>
          <a:ln w="12700">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48640" y="2286000"/>
            <a:ext cx="5349240" cy="384048"/>
          </a:xfrm>
          <a:prstGeom prst="roundRect">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340864"/>
            <a:ext cx="4983479" cy="292607"/>
          </a:xfrm>
          <a:prstGeom prst="rect">
            <a:avLst/>
          </a:prstGeom>
          <a:noFill/>
        </p:spPr>
        <p:txBody>
          <a:bodyPr wrap="square" lIns="0" tIns="0" rIns="0" bIns="0">
            <a:spAutoFit/>
          </a:bodyPr>
          <a:lstStyle/>
          <a:p>
            <a:pPr>
              <a:defRPr sz="1300" b="1">
                <a:solidFill>
                  <a:srgbClr val="FFFFFF"/>
                </a:solidFill>
              </a:defRPr>
            </a:pPr>
            <a:r>
              <a:t>HDFS storage settings</a:t>
            </a:r>
          </a:p>
        </p:txBody>
      </p:sp>
      <p:sp>
        <p:nvSpPr>
          <p:cNvPr id="19" name="TextBox 18"/>
          <p:cNvSpPr txBox="1"/>
          <p:nvPr/>
        </p:nvSpPr>
        <p:spPr>
          <a:xfrm>
            <a:off x="749808" y="2761488"/>
            <a:ext cx="4946903" cy="1828800"/>
          </a:xfrm>
          <a:prstGeom prst="rect">
            <a:avLst/>
          </a:prstGeom>
          <a:noFill/>
        </p:spPr>
        <p:txBody>
          <a:bodyPr wrap="square" lIns="0" tIns="0" rIns="0" bIns="0">
            <a:spAutoFit/>
          </a:bodyPr>
          <a:lstStyle/>
          <a:p>
            <a:pPr>
              <a:defRPr sz="1150">
                <a:solidFill>
                  <a:srgbClr val="141923"/>
                </a:solidFill>
              </a:defRPr>
            </a:pPr>
            <a:r>
              <a:t>• 1 NameNode + 3 DataNodes (Docker, one host).</a:t>
            </a:r>
          </a:p>
          <a:p>
            <a:pPr>
              <a:spcBef>
                <a:spcPts val="400"/>
              </a:spcBef>
              <a:defRPr sz="1150">
                <a:solidFill>
                  <a:srgbClr val="141923"/>
                </a:solidFill>
              </a:defRPr>
            </a:pPr>
            <a:r>
              <a:t>• Block size: 128 MiB; replication: 3 copies of each block.</a:t>
            </a:r>
          </a:p>
          <a:p>
            <a:pPr>
              <a:spcBef>
                <a:spcPts val="400"/>
              </a:spcBef>
              <a:defRPr sz="1150">
                <a:solidFill>
                  <a:srgbClr val="141923"/>
                </a:solidFill>
              </a:defRPr>
            </a:pPr>
            <a:r>
              <a:t>• Silver layer: 692 MB, HEALTHY; readable with 1 DataNode down.</a:t>
            </a:r>
          </a:p>
          <a:p>
            <a:pPr>
              <a:spcBef>
                <a:spcPts val="400"/>
              </a:spcBef>
              <a:defRPr sz="1150">
                <a:solidFill>
                  <a:srgbClr val="141923"/>
                </a:solidFill>
              </a:defRPr>
            </a:pPr>
            <a:r>
              <a:t>• Clean output: Snappy Parquet, partitioned by year.</a:t>
            </a:r>
          </a:p>
        </p:txBody>
      </p:sp>
      <p:sp>
        <p:nvSpPr>
          <p:cNvPr id="20" name="Rounded Rectangle 19"/>
          <p:cNvSpPr/>
          <p:nvPr/>
        </p:nvSpPr>
        <p:spPr>
          <a:xfrm>
            <a:off x="6263640" y="2286000"/>
            <a:ext cx="5349240" cy="2377440"/>
          </a:xfrm>
          <a:prstGeom prst="roundRect">
            <a:avLst/>
          </a:prstGeom>
          <a:solidFill>
            <a:srgbClr val="F1F4FA"/>
          </a:solidFill>
          <a:ln w="12700">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63640" y="2286000"/>
            <a:ext cx="5349240" cy="384048"/>
          </a:xfrm>
          <a:prstGeom prst="roundRect">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2340864"/>
            <a:ext cx="4983479" cy="292607"/>
          </a:xfrm>
          <a:prstGeom prst="rect">
            <a:avLst/>
          </a:prstGeom>
          <a:noFill/>
        </p:spPr>
        <p:txBody>
          <a:bodyPr wrap="square" lIns="0" tIns="0" rIns="0" bIns="0">
            <a:spAutoFit/>
          </a:bodyPr>
          <a:lstStyle/>
          <a:p>
            <a:pPr>
              <a:defRPr sz="1300" b="1">
                <a:solidFill>
                  <a:srgbClr val="FFFFFF"/>
                </a:solidFill>
              </a:defRPr>
            </a:pPr>
            <a:r>
              <a:t>Spark application settings</a:t>
            </a:r>
          </a:p>
        </p:txBody>
      </p:sp>
      <p:sp>
        <p:nvSpPr>
          <p:cNvPr id="23" name="TextBox 22"/>
          <p:cNvSpPr txBox="1"/>
          <p:nvPr/>
        </p:nvSpPr>
        <p:spPr>
          <a:xfrm>
            <a:off x="6464807" y="2761488"/>
            <a:ext cx="4946903" cy="1828800"/>
          </a:xfrm>
          <a:prstGeom prst="rect">
            <a:avLst/>
          </a:prstGeom>
          <a:noFill/>
        </p:spPr>
        <p:txBody>
          <a:bodyPr wrap="square" lIns="0" tIns="0" rIns="0" bIns="0">
            <a:spAutoFit/>
          </a:bodyPr>
          <a:lstStyle/>
          <a:p>
            <a:pPr>
              <a:defRPr sz="1150">
                <a:solidFill>
                  <a:srgbClr val="141923"/>
                </a:solidFill>
              </a:defRPr>
            </a:pPr>
            <a:r>
              <a:t>• Engine: Apache Spark 4.2 in local[*] mode (10 cores).</a:t>
            </a:r>
          </a:p>
          <a:p>
            <a:pPr>
              <a:spcBef>
                <a:spcPts val="400"/>
              </a:spcBef>
              <a:defRPr sz="1150">
                <a:solidFill>
                  <a:srgbClr val="141923"/>
                </a:solidFill>
              </a:defRPr>
            </a:pPr>
            <a:r>
              <a:t>• Multi-core local CPU threads (NOT YARN worker executors).</a:t>
            </a:r>
          </a:p>
          <a:p>
            <a:pPr>
              <a:spcBef>
                <a:spcPts val="400"/>
              </a:spcBef>
              <a:defRPr sz="1150">
                <a:solidFill>
                  <a:srgbClr val="141923"/>
                </a:solidFill>
              </a:defRPr>
            </a:pPr>
            <a:r>
              <a:t>• Also benchmarked: Docker Spark cluster, 2 workers × 3 cores.</a:t>
            </a:r>
          </a:p>
          <a:p>
            <a:pPr>
              <a:spcBef>
                <a:spcPts val="400"/>
              </a:spcBef>
              <a:defRPr sz="1150">
                <a:solidFill>
                  <a:srgbClr val="141923"/>
                </a:solidFill>
              </a:defRPr>
            </a:pPr>
            <a:r>
              <a:t>• Shuffle partitions: 64 in the forecast jobs, coalesced by AQE.</a:t>
            </a:r>
          </a:p>
        </p:txBody>
      </p:sp>
      <p:sp>
        <p:nvSpPr>
          <p:cNvPr id="24" name="Rounded Rectangle 23"/>
          <p:cNvSpPr/>
          <p:nvPr/>
        </p:nvSpPr>
        <p:spPr>
          <a:xfrm>
            <a:off x="548640" y="4800600"/>
            <a:ext cx="11064240" cy="1325880"/>
          </a:xfrm>
          <a:prstGeom prst="roundRect">
            <a:avLst/>
          </a:prstGeom>
          <a:solidFill>
            <a:srgbClr val="F1F4FA"/>
          </a:solidFill>
          <a:ln w="12700">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48640" y="4800600"/>
            <a:ext cx="11064240" cy="347472"/>
          </a:xfrm>
          <a:prstGeom prst="roundRect">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846320"/>
            <a:ext cx="10698480" cy="256032"/>
          </a:xfrm>
          <a:prstGeom prst="rect">
            <a:avLst/>
          </a:prstGeom>
          <a:noFill/>
        </p:spPr>
        <p:txBody>
          <a:bodyPr wrap="square" lIns="0" tIns="0" rIns="0" bIns="0">
            <a:spAutoFit/>
          </a:bodyPr>
          <a:lstStyle/>
          <a:p>
            <a:pPr>
              <a:defRPr sz="1200" b="1">
                <a:solidFill>
                  <a:srgbClr val="FFFFFF"/>
                </a:solidFill>
              </a:defRPr>
            </a:pPr>
            <a:r>
              <a:t>Are HDFS DataNodes also running as Spark executors?</a:t>
            </a:r>
          </a:p>
        </p:txBody>
      </p:sp>
      <p:sp>
        <p:nvSpPr>
          <p:cNvPr id="27" name="TextBox 26"/>
          <p:cNvSpPr txBox="1"/>
          <p:nvPr/>
        </p:nvSpPr>
        <p:spPr>
          <a:xfrm>
            <a:off x="777240" y="5239512"/>
            <a:ext cx="10607040" cy="813815"/>
          </a:xfrm>
          <a:prstGeom prst="rect">
            <a:avLst/>
          </a:prstGeom>
          <a:noFill/>
        </p:spPr>
        <p:txBody>
          <a:bodyPr wrap="square" lIns="0" tIns="0" rIns="0" bIns="0">
            <a:spAutoFit/>
          </a:bodyPr>
          <a:lstStyle/>
          <a:p>
            <a:pPr>
              <a:defRPr sz="1100">
                <a:solidFill>
                  <a:srgbClr val="141923"/>
                </a:solidFill>
              </a:defRPr>
            </a:pPr>
            <a:r>
              <a:t>No. HDFS runs in Docker containers strictly for block storage with replication factor 3; Spark runs in local[*] mode on host CPU cores. The three DataNodes share one physical disk, so replication shows HDFS behaviour, not hardware durability.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92240"/>
            <a:ext cx="2560320" cy="365760"/>
          </a:xfrm>
          <a:prstGeom prst="rect">
            <a:avLst/>
          </a:prstGeom>
          <a:solidFill>
            <a:srgbClr val="A30000"/>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b="1">
                <a:solidFill>
                  <a:srgbClr val="FFFFFF"/>
                </a:solidFill>
              </a:defRPr>
            </a:pPr>
            <a:r>
              <a:t>Team AG-DATA / 23AID302</a:t>
            </a:r>
          </a:p>
        </p:txBody>
      </p:sp>
      <p:sp>
        <p:nvSpPr>
          <p:cNvPr id="4" name="Rectangle 3"/>
          <p:cNvSpPr/>
          <p:nvPr/>
        </p:nvSpPr>
        <p:spPr>
          <a:xfrm>
            <a:off x="2560320" y="6492240"/>
            <a:ext cx="7802575" cy="365760"/>
          </a:xfrm>
          <a:prstGeom prst="rect">
            <a:avLst/>
          </a:prstGeom>
          <a:solidFill>
            <a:srgbClr val="EAEDF2"/>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a:solidFill>
                  <a:srgbClr val="A30000"/>
                </a:solidFill>
              </a:defRPr>
            </a:pPr>
            <a:r>
              <a:t>Agricultural Commodity Price Analysis and Decision Support</a:t>
            </a:r>
          </a:p>
        </p:txBody>
      </p:sp>
      <p:sp>
        <p:nvSpPr>
          <p:cNvPr id="5" name="Rectangle 4"/>
          <p:cNvSpPr/>
          <p:nvPr/>
        </p:nvSpPr>
        <p:spPr>
          <a:xfrm>
            <a:off x="10362895" y="6492240"/>
            <a:ext cx="1828800" cy="365760"/>
          </a:xfrm>
          <a:prstGeom prst="rect">
            <a:avLst/>
          </a:prstGeom>
          <a:solidFill>
            <a:srgbClr val="DEE2E8"/>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b="1">
                <a:solidFill>
                  <a:srgbClr val="141923"/>
                </a:solidFill>
              </a:defRPr>
            </a:pPr>
            <a:r>
              <a:t>5 / 10</a:t>
            </a:r>
          </a:p>
        </p:txBody>
      </p:sp>
      <p:sp>
        <p:nvSpPr>
          <p:cNvPr id="6" name="TextBox 5"/>
          <p:cNvSpPr txBox="1"/>
          <p:nvPr/>
        </p:nvSpPr>
        <p:spPr>
          <a:xfrm>
            <a:off x="548640" y="292608"/>
            <a:ext cx="11094415" cy="594360"/>
          </a:xfrm>
          <a:prstGeom prst="rect">
            <a:avLst/>
          </a:prstGeom>
          <a:noFill/>
        </p:spPr>
        <p:txBody>
          <a:bodyPr wrap="square" lIns="0" tIns="0" rIns="0" bIns="0">
            <a:spAutoFit/>
          </a:bodyPr>
          <a:lstStyle/>
          <a:p>
            <a:pPr>
              <a:defRPr sz="2200" b="1">
                <a:solidFill>
                  <a:srgbClr val="A30000"/>
                </a:solidFill>
              </a:defRPr>
            </a:pPr>
            <a:r>
              <a:t>4. Spark Workflow and the DAG</a:t>
            </a:r>
          </a:p>
        </p:txBody>
      </p:sp>
      <p:sp>
        <p:nvSpPr>
          <p:cNvPr id="7" name="Rounded Rectangle 6"/>
          <p:cNvSpPr/>
          <p:nvPr/>
        </p:nvSpPr>
        <p:spPr>
          <a:xfrm>
            <a:off x="548640" y="1051560"/>
            <a:ext cx="5349240" cy="3474720"/>
          </a:xfrm>
          <a:prstGeom prst="roundRect">
            <a:avLst/>
          </a:prstGeom>
          <a:solidFill>
            <a:srgbClr val="F1F4FA"/>
          </a:solidFill>
          <a:ln w="12700">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051560"/>
            <a:ext cx="5349240" cy="384048"/>
          </a:xfrm>
          <a:prstGeom prst="roundRect">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06424"/>
            <a:ext cx="4983479" cy="292607"/>
          </a:xfrm>
          <a:prstGeom prst="rect">
            <a:avLst/>
          </a:prstGeom>
          <a:noFill/>
        </p:spPr>
        <p:txBody>
          <a:bodyPr wrap="square" lIns="0" tIns="0" rIns="0" bIns="0">
            <a:spAutoFit/>
          </a:bodyPr>
          <a:lstStyle/>
          <a:p>
            <a:pPr>
              <a:defRPr sz="1300" b="1">
                <a:solidFill>
                  <a:srgbClr val="FFFFFF"/>
                </a:solidFill>
              </a:defRPr>
            </a:pPr>
            <a:r>
              <a:t>Steps in Spark</a:t>
            </a:r>
          </a:p>
        </p:txBody>
      </p:sp>
      <p:sp>
        <p:nvSpPr>
          <p:cNvPr id="10" name="TextBox 9"/>
          <p:cNvSpPr txBox="1"/>
          <p:nvPr/>
        </p:nvSpPr>
        <p:spPr>
          <a:xfrm>
            <a:off x="749808" y="1527048"/>
            <a:ext cx="4946903" cy="2926079"/>
          </a:xfrm>
          <a:prstGeom prst="rect">
            <a:avLst/>
          </a:prstGeom>
          <a:noFill/>
        </p:spPr>
        <p:txBody>
          <a:bodyPr wrap="square" lIns="0" tIns="0" rIns="0" bIns="0">
            <a:spAutoFit/>
          </a:bodyPr>
          <a:lstStyle/>
          <a:p>
            <a:pPr>
              <a:defRPr sz="1100">
                <a:solidFill>
                  <a:srgbClr val="141923"/>
                </a:solidFill>
              </a:defRPr>
            </a:pPr>
            <a:r>
              <a:t>1  Read and parse CSVs with explicit StructType schemas.</a:t>
            </a:r>
          </a:p>
          <a:p>
            <a:pPr>
              <a:spcBef>
                <a:spcPts val="400"/>
              </a:spcBef>
              <a:defRPr sz="1100">
                <a:solidFill>
                  <a:srgbClr val="141923"/>
                </a:solidFill>
              </a:defRPr>
            </a:pPr>
            <a:r>
              <a:t>2  Quality rules and business-key de-duplication → silver.</a:t>
            </a:r>
          </a:p>
          <a:p>
            <a:pPr>
              <a:spcBef>
                <a:spcPts val="400"/>
              </a:spcBef>
              <a:defRPr sz="1100">
                <a:solidFill>
                  <a:srgbClr val="141923"/>
                </a:solidFill>
              </a:defRPr>
            </a:pPr>
            <a:r>
              <a:t>3  Window features per series (≤ t) and targets (&gt; t).</a:t>
            </a:r>
          </a:p>
          <a:p>
            <a:pPr>
              <a:spcBef>
                <a:spcPts val="400"/>
              </a:spcBef>
              <a:defRPr sz="1100">
                <a:solidFill>
                  <a:srgbClr val="141923"/>
                </a:solidFill>
              </a:defRPr>
            </a:pPr>
            <a:r>
              <a:t>4  Fit MLlib pipelines, choose on 2024, score the test once.</a:t>
            </a:r>
          </a:p>
          <a:p>
            <a:pPr>
              <a:spcBef>
                <a:spcPts val="800"/>
              </a:spcBef>
              <a:defRPr sz="1050">
                <a:solidFill>
                  <a:srgbClr val="A30000"/>
                </a:solidFill>
              </a:defRPr>
            </a:pPr>
            <a:r>
              <a:t>Partitions: 64 shuffle partitions (AQE coalesces); year= directory pruning.</a:t>
            </a:r>
          </a:p>
          <a:p>
            <a:pPr>
              <a:spcBef>
                <a:spcPts val="400"/>
              </a:spcBef>
              <a:defRPr sz="1050">
                <a:solidFill>
                  <a:srgbClr val="141923"/>
                </a:solidFill>
              </a:defRPr>
            </a:pPr>
            <a:r>
              <a:t>Scaling (measured): full 75.6M rows on 10 cores: W1 42.2 s, W2 65.9 s; speed-up 2.4× / 3.0× vs 1 core.</a:t>
            </a:r>
          </a:p>
        </p:txBody>
      </p:sp>
      <p:sp>
        <p:nvSpPr>
          <p:cNvPr id="11" name="Rounded Rectangle 10"/>
          <p:cNvSpPr/>
          <p:nvPr/>
        </p:nvSpPr>
        <p:spPr>
          <a:xfrm>
            <a:off x="6263640" y="1051560"/>
            <a:ext cx="5349240" cy="3474720"/>
          </a:xfrm>
          <a:prstGeom prst="roundRect">
            <a:avLst/>
          </a:prstGeom>
          <a:solidFill>
            <a:srgbClr val="F1F4FA"/>
          </a:solidFill>
          <a:ln w="12700">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63640" y="1051560"/>
            <a:ext cx="5349240" cy="384048"/>
          </a:xfrm>
          <a:prstGeom prst="roundRect">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106424"/>
            <a:ext cx="4983479" cy="292607"/>
          </a:xfrm>
          <a:prstGeom prst="rect">
            <a:avLst/>
          </a:prstGeom>
          <a:noFill/>
        </p:spPr>
        <p:txBody>
          <a:bodyPr wrap="square" lIns="0" tIns="0" rIns="0" bIns="0">
            <a:spAutoFit/>
          </a:bodyPr>
          <a:lstStyle/>
          <a:p>
            <a:pPr>
              <a:defRPr sz="1300" b="1">
                <a:solidFill>
                  <a:srgbClr val="FFFFFF"/>
                </a:solidFill>
              </a:defRPr>
            </a:pPr>
            <a:r>
              <a:t>DAG: a map of the work Spark runs</a:t>
            </a:r>
          </a:p>
        </p:txBody>
      </p:sp>
      <p:sp>
        <p:nvSpPr>
          <p:cNvPr id="14" name="TextBox 13"/>
          <p:cNvSpPr txBox="1"/>
          <p:nvPr/>
        </p:nvSpPr>
        <p:spPr>
          <a:xfrm>
            <a:off x="6464807" y="1527048"/>
            <a:ext cx="4946903" cy="2926079"/>
          </a:xfrm>
          <a:prstGeom prst="rect">
            <a:avLst/>
          </a:prstGeom>
          <a:noFill/>
        </p:spPr>
        <p:txBody>
          <a:bodyPr wrap="square" lIns="0" tIns="0" rIns="0" bIns="0">
            <a:spAutoFit/>
          </a:bodyPr>
          <a:lstStyle/>
          <a:p>
            <a:pPr>
              <a:defRPr sz="1100" b="1">
                <a:solidFill>
                  <a:srgbClr val="1B2A6B"/>
                </a:solidFill>
              </a:defRPr>
            </a:pPr>
            <a:r>
              <a:t>Execution DAG (Shuffle-Delimited Stages):</a:t>
            </a:r>
          </a:p>
        </p:txBody>
      </p:sp>
      <p:sp>
        <p:nvSpPr>
          <p:cNvPr id="15" name="Rounded Rectangle 14"/>
          <p:cNvSpPr/>
          <p:nvPr/>
        </p:nvSpPr>
        <p:spPr>
          <a:xfrm>
            <a:off x="6537960" y="1874519"/>
            <a:ext cx="1645920" cy="347472"/>
          </a:xfrm>
          <a:prstGeom prst="roundRect">
            <a:avLst/>
          </a:prstGeom>
          <a:solidFill>
            <a:srgbClr val="FFFFFF"/>
          </a:solidFill>
          <a:ln w="12700">
            <a:solidFill>
              <a:srgbClr val="1B2A6B"/>
            </a:solidFill>
          </a:ln>
        </p:spPr>
        <p:style>
          <a:lnRef idx="1">
            <a:schemeClr val="accent1"/>
          </a:lnRef>
          <a:fillRef idx="3">
            <a:schemeClr val="accent1"/>
          </a:fillRef>
          <a:effectRef idx="2">
            <a:schemeClr val="accent1"/>
          </a:effectRef>
          <a:fontRef idx="minor">
            <a:schemeClr val="lt1"/>
          </a:fontRef>
        </p:style>
        <p:txBody>
          <a:bodyPr rtlCol="0" anchor="ctr" tIns="54864"/>
          <a:lstStyle/>
          <a:p>
            <a:pPr algn="ctr">
              <a:defRPr sz="950" b="1">
                <a:solidFill>
                  <a:srgbClr val="1B2A6B"/>
                </a:solidFill>
              </a:defRPr>
            </a:pPr>
            <a:r>
              <a:t>Step 1: Parquet Read</a:t>
            </a:r>
          </a:p>
        </p:txBody>
      </p:sp>
      <p:sp>
        <p:nvSpPr>
          <p:cNvPr id="16" name="Down Arrow 15"/>
          <p:cNvSpPr/>
          <p:nvPr/>
        </p:nvSpPr>
        <p:spPr>
          <a:xfrm>
            <a:off x="7269480" y="2221991"/>
            <a:ext cx="182880" cy="73152"/>
          </a:xfrm>
          <a:prstGeom prst="downArrow">
            <a:avLst/>
          </a:prstGeom>
          <a:solidFill>
            <a:srgbClr val="A3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37960" y="2295144"/>
            <a:ext cx="1645920" cy="347472"/>
          </a:xfrm>
          <a:prstGeom prst="roundRect">
            <a:avLst/>
          </a:prstGeom>
          <a:solidFill>
            <a:srgbClr val="FFFFFF"/>
          </a:solidFill>
          <a:ln w="12700">
            <a:solidFill>
              <a:srgbClr val="1B2A6B"/>
            </a:solidFill>
          </a:ln>
        </p:spPr>
        <p:style>
          <a:lnRef idx="1">
            <a:schemeClr val="accent1"/>
          </a:lnRef>
          <a:fillRef idx="3">
            <a:schemeClr val="accent1"/>
          </a:fillRef>
          <a:effectRef idx="2">
            <a:schemeClr val="accent1"/>
          </a:effectRef>
          <a:fontRef idx="minor">
            <a:schemeClr val="lt1"/>
          </a:fontRef>
        </p:style>
        <p:txBody>
          <a:bodyPr rtlCol="0" anchor="ctr" tIns="54864"/>
          <a:lstStyle/>
          <a:p>
            <a:pPr algn="ctr">
              <a:defRPr sz="950" b="1">
                <a:solidFill>
                  <a:srgbClr val="1B2A6B"/>
                </a:solidFill>
              </a:defRPr>
            </a:pPr>
            <a:r>
              <a:t>Step 2: Harmonise &amp; Filter</a:t>
            </a:r>
          </a:p>
        </p:txBody>
      </p:sp>
      <p:sp>
        <p:nvSpPr>
          <p:cNvPr id="18" name="Down Arrow 17"/>
          <p:cNvSpPr/>
          <p:nvPr/>
        </p:nvSpPr>
        <p:spPr>
          <a:xfrm>
            <a:off x="7269480" y="2642615"/>
            <a:ext cx="182880" cy="73152"/>
          </a:xfrm>
          <a:prstGeom prst="downArrow">
            <a:avLst/>
          </a:prstGeom>
          <a:solidFill>
            <a:srgbClr val="A3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537960" y="2715768"/>
            <a:ext cx="1645920" cy="347472"/>
          </a:xfrm>
          <a:prstGeom prst="roundRect">
            <a:avLst/>
          </a:prstGeom>
          <a:solidFill>
            <a:srgbClr val="FFFFFF"/>
          </a:solidFill>
          <a:ln w="12700">
            <a:solidFill>
              <a:srgbClr val="1B2A6B"/>
            </a:solidFill>
          </a:ln>
        </p:spPr>
        <p:style>
          <a:lnRef idx="1">
            <a:schemeClr val="accent1"/>
          </a:lnRef>
          <a:fillRef idx="3">
            <a:schemeClr val="accent1"/>
          </a:fillRef>
          <a:effectRef idx="2">
            <a:schemeClr val="accent1"/>
          </a:effectRef>
          <a:fontRef idx="minor">
            <a:schemeClr val="lt1"/>
          </a:fontRef>
        </p:style>
        <p:txBody>
          <a:bodyPr rtlCol="0" anchor="ctr" tIns="54864"/>
          <a:lstStyle/>
          <a:p>
            <a:pPr algn="ctr">
              <a:defRPr sz="950" b="1">
                <a:solidFill>
                  <a:srgbClr val="1B2A6B"/>
                </a:solidFill>
              </a:defRPr>
            </a:pPr>
            <a:r>
              <a:t>Step 3: Window Shuffle</a:t>
            </a:r>
          </a:p>
        </p:txBody>
      </p:sp>
      <p:sp>
        <p:nvSpPr>
          <p:cNvPr id="20" name="Down Arrow 19"/>
          <p:cNvSpPr/>
          <p:nvPr/>
        </p:nvSpPr>
        <p:spPr>
          <a:xfrm>
            <a:off x="7269480" y="3063239"/>
            <a:ext cx="182880" cy="73152"/>
          </a:xfrm>
          <a:prstGeom prst="downArrow">
            <a:avLst/>
          </a:prstGeom>
          <a:solidFill>
            <a:srgbClr val="A3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37960" y="3136391"/>
            <a:ext cx="1645920" cy="347472"/>
          </a:xfrm>
          <a:prstGeom prst="roundRect">
            <a:avLst/>
          </a:prstGeom>
          <a:solidFill>
            <a:srgbClr val="FFFFFF"/>
          </a:solidFill>
          <a:ln w="12700">
            <a:solidFill>
              <a:srgbClr val="1B2A6B"/>
            </a:solidFill>
          </a:ln>
        </p:spPr>
        <p:style>
          <a:lnRef idx="1">
            <a:schemeClr val="accent1"/>
          </a:lnRef>
          <a:fillRef idx="3">
            <a:schemeClr val="accent1"/>
          </a:fillRef>
          <a:effectRef idx="2">
            <a:schemeClr val="accent1"/>
          </a:effectRef>
          <a:fontRef idx="minor">
            <a:schemeClr val="lt1"/>
          </a:fontRef>
        </p:style>
        <p:txBody>
          <a:bodyPr rtlCol="0" anchor="ctr" tIns="54864"/>
          <a:lstStyle/>
          <a:p>
            <a:pPr algn="ctr">
              <a:defRPr sz="950" b="1">
                <a:solidFill>
                  <a:srgbClr val="1B2A6B"/>
                </a:solidFill>
              </a:defRPr>
            </a:pPr>
            <a:r>
              <a:t>Step 4: Features &amp; Targets</a:t>
            </a:r>
          </a:p>
        </p:txBody>
      </p:sp>
      <p:sp>
        <p:nvSpPr>
          <p:cNvPr id="22" name="Down Arrow 21"/>
          <p:cNvSpPr/>
          <p:nvPr/>
        </p:nvSpPr>
        <p:spPr>
          <a:xfrm>
            <a:off x="7269480" y="3483863"/>
            <a:ext cx="182880" cy="73152"/>
          </a:xfrm>
          <a:prstGeom prst="downArrow">
            <a:avLst/>
          </a:prstGeom>
          <a:solidFill>
            <a:srgbClr val="A3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537960" y="3557015"/>
            <a:ext cx="1645920" cy="347472"/>
          </a:xfrm>
          <a:prstGeom prst="roundRect">
            <a:avLst/>
          </a:prstGeom>
          <a:solidFill>
            <a:srgbClr val="FFFFFF"/>
          </a:solidFill>
          <a:ln w="12700">
            <a:solidFill>
              <a:srgbClr val="1B2A6B"/>
            </a:solidFill>
          </a:ln>
        </p:spPr>
        <p:style>
          <a:lnRef idx="1">
            <a:schemeClr val="accent1"/>
          </a:lnRef>
          <a:fillRef idx="3">
            <a:schemeClr val="accent1"/>
          </a:fillRef>
          <a:effectRef idx="2">
            <a:schemeClr val="accent1"/>
          </a:effectRef>
          <a:fontRef idx="minor">
            <a:schemeClr val="lt1"/>
          </a:fontRef>
        </p:style>
        <p:txBody>
          <a:bodyPr rtlCol="0" anchor="ctr" tIns="54864"/>
          <a:lstStyle/>
          <a:p>
            <a:pPr algn="ctr">
              <a:defRPr sz="950" b="1">
                <a:solidFill>
                  <a:srgbClr val="1B2A6B"/>
                </a:solidFill>
              </a:defRPr>
            </a:pPr>
            <a:r>
              <a:t>Step 5: Model Fit / Score</a:t>
            </a:r>
          </a:p>
        </p:txBody>
      </p:sp>
      <p:sp>
        <p:nvSpPr>
          <p:cNvPr id="24" name="TextBox 23"/>
          <p:cNvSpPr txBox="1"/>
          <p:nvPr/>
        </p:nvSpPr>
        <p:spPr>
          <a:xfrm>
            <a:off x="8412480" y="2103120"/>
            <a:ext cx="3017520" cy="2011680"/>
          </a:xfrm>
          <a:prstGeom prst="rect">
            <a:avLst/>
          </a:prstGeom>
          <a:noFill/>
        </p:spPr>
        <p:txBody>
          <a:bodyPr wrap="square">
            <a:spAutoFit/>
          </a:bodyPr>
          <a:lstStyle/>
          <a:p>
            <a:pPr>
              <a:defRPr sz="1050">
                <a:solidFill>
                  <a:srgbClr val="555F6E"/>
                </a:solidFill>
              </a:defRPr>
            </a:pPr>
            <a:r>
              <a:t>Arrows show stage dependencies.</a:t>
            </a:r>
            <a:br/>
            <a:br/>
            <a:r>
              <a:t>Wide transformations create shuffle boundaries.</a:t>
            </a:r>
            <a:br/>
            <a:br/>
            <a:r>
              <a:t>Exact stage counts are read from the Spark UI for each run.</a:t>
            </a:r>
          </a:p>
        </p:txBody>
      </p:sp>
      <p:sp>
        <p:nvSpPr>
          <p:cNvPr id="25" name="Rounded Rectangle 24"/>
          <p:cNvSpPr/>
          <p:nvPr/>
        </p:nvSpPr>
        <p:spPr>
          <a:xfrm>
            <a:off x="548640" y="4709160"/>
            <a:ext cx="11064240" cy="1417320"/>
          </a:xfrm>
          <a:prstGeom prst="roundRect">
            <a:avLst/>
          </a:prstGeom>
          <a:solidFill>
            <a:srgbClr val="F1F4FA"/>
          </a:solidFill>
          <a:ln w="12700">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48640" y="4709160"/>
            <a:ext cx="11064240" cy="347472"/>
          </a:xfrm>
          <a:prstGeom prst="roundRect">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754880"/>
            <a:ext cx="10698480" cy="256032"/>
          </a:xfrm>
          <a:prstGeom prst="rect">
            <a:avLst/>
          </a:prstGeom>
          <a:noFill/>
        </p:spPr>
        <p:txBody>
          <a:bodyPr wrap="square" lIns="0" tIns="0" rIns="0" bIns="0">
            <a:spAutoFit/>
          </a:bodyPr>
          <a:lstStyle/>
          <a:p>
            <a:pPr>
              <a:defRPr sz="1200" b="1">
                <a:solidFill>
                  <a:srgbClr val="FFFFFF"/>
                </a:solidFill>
              </a:defRPr>
            </a:pPr>
            <a:r>
              <a:t>Where do the stages come from?</a:t>
            </a:r>
          </a:p>
        </p:txBody>
      </p:sp>
      <p:sp>
        <p:nvSpPr>
          <p:cNvPr id="28" name="TextBox 27"/>
          <p:cNvSpPr txBox="1"/>
          <p:nvPr/>
        </p:nvSpPr>
        <p:spPr>
          <a:xfrm>
            <a:off x="777240" y="5148072"/>
            <a:ext cx="10607040" cy="905256"/>
          </a:xfrm>
          <a:prstGeom prst="rect">
            <a:avLst/>
          </a:prstGeom>
          <a:noFill/>
        </p:spPr>
        <p:txBody>
          <a:bodyPr wrap="square" lIns="0" tIns="0" rIns="0" bIns="0">
            <a:spAutoFit/>
          </a:bodyPr>
          <a:lstStyle/>
          <a:p>
            <a:pPr>
              <a:defRPr sz="1100">
                <a:solidFill>
                  <a:srgbClr val="141923"/>
                </a:solidFill>
              </a:defRPr>
            </a:pPr>
            <a:r>
              <a:t>Reads, joins, and calculations create the DAG. Narrow transformations pipeline within a stage without network movement. Wide transformations (Window.partitionBy, groupByKey) require cross-partition shuffles, creating stage boundaries. Spark assigns stage numbers dynamically at runtime.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92240"/>
            <a:ext cx="2560320" cy="365760"/>
          </a:xfrm>
          <a:prstGeom prst="rect">
            <a:avLst/>
          </a:prstGeom>
          <a:solidFill>
            <a:srgbClr val="A30000"/>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b="1">
                <a:solidFill>
                  <a:srgbClr val="FFFFFF"/>
                </a:solidFill>
              </a:defRPr>
            </a:pPr>
            <a:r>
              <a:t>Team AG-DATA / 23AID302</a:t>
            </a:r>
          </a:p>
        </p:txBody>
      </p:sp>
      <p:sp>
        <p:nvSpPr>
          <p:cNvPr id="4" name="Rectangle 3"/>
          <p:cNvSpPr/>
          <p:nvPr/>
        </p:nvSpPr>
        <p:spPr>
          <a:xfrm>
            <a:off x="2560320" y="6492240"/>
            <a:ext cx="7802575" cy="365760"/>
          </a:xfrm>
          <a:prstGeom prst="rect">
            <a:avLst/>
          </a:prstGeom>
          <a:solidFill>
            <a:srgbClr val="EAEDF2"/>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a:solidFill>
                  <a:srgbClr val="A30000"/>
                </a:solidFill>
              </a:defRPr>
            </a:pPr>
            <a:r>
              <a:t>Agricultural Commodity Price Analysis and Decision Support</a:t>
            </a:r>
          </a:p>
        </p:txBody>
      </p:sp>
      <p:sp>
        <p:nvSpPr>
          <p:cNvPr id="5" name="Rectangle 4"/>
          <p:cNvSpPr/>
          <p:nvPr/>
        </p:nvSpPr>
        <p:spPr>
          <a:xfrm>
            <a:off x="10362895" y="6492240"/>
            <a:ext cx="1828800" cy="365760"/>
          </a:xfrm>
          <a:prstGeom prst="rect">
            <a:avLst/>
          </a:prstGeom>
          <a:solidFill>
            <a:srgbClr val="DEE2E8"/>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b="1">
                <a:solidFill>
                  <a:srgbClr val="141923"/>
                </a:solidFill>
              </a:defRPr>
            </a:pPr>
            <a:r>
              <a:t>6 / 10</a:t>
            </a:r>
          </a:p>
        </p:txBody>
      </p:sp>
      <p:sp>
        <p:nvSpPr>
          <p:cNvPr id="6" name="TextBox 5"/>
          <p:cNvSpPr txBox="1"/>
          <p:nvPr/>
        </p:nvSpPr>
        <p:spPr>
          <a:xfrm>
            <a:off x="548640" y="292608"/>
            <a:ext cx="11094415" cy="594360"/>
          </a:xfrm>
          <a:prstGeom prst="rect">
            <a:avLst/>
          </a:prstGeom>
          <a:noFill/>
        </p:spPr>
        <p:txBody>
          <a:bodyPr wrap="square" lIns="0" tIns="0" rIns="0" bIns="0">
            <a:spAutoFit/>
          </a:bodyPr>
          <a:lstStyle/>
          <a:p>
            <a:pPr>
              <a:defRPr sz="2200" b="1">
                <a:solidFill>
                  <a:srgbClr val="A30000"/>
                </a:solidFill>
              </a:defRPr>
            </a:pPr>
            <a:r>
              <a:t>5. Scala Code and Streaming</a:t>
            </a:r>
          </a:p>
        </p:txBody>
      </p:sp>
      <p:sp>
        <p:nvSpPr>
          <p:cNvPr id="7" name="Rounded Rectangle 6"/>
          <p:cNvSpPr/>
          <p:nvPr/>
        </p:nvSpPr>
        <p:spPr>
          <a:xfrm>
            <a:off x="548640" y="1051560"/>
            <a:ext cx="5669280" cy="3474720"/>
          </a:xfrm>
          <a:prstGeom prst="roundRect">
            <a:avLst/>
          </a:prstGeom>
          <a:solidFill>
            <a:srgbClr val="F1F4FA"/>
          </a:solidFill>
          <a:ln w="12700">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051560"/>
            <a:ext cx="5669280" cy="384048"/>
          </a:xfrm>
          <a:prstGeom prst="roundRect">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06424"/>
            <a:ext cx="5303520" cy="292607"/>
          </a:xfrm>
          <a:prstGeom prst="rect">
            <a:avLst/>
          </a:prstGeom>
          <a:noFill/>
        </p:spPr>
        <p:txBody>
          <a:bodyPr wrap="square" lIns="0" tIns="0" rIns="0" bIns="0">
            <a:spAutoFit/>
          </a:bodyPr>
          <a:lstStyle/>
          <a:p>
            <a:pPr>
              <a:defRPr sz="1300" b="1">
                <a:solidFill>
                  <a:srgbClr val="FFFFFF"/>
                </a:solidFill>
              </a:defRPr>
            </a:pPr>
            <a:r>
              <a:t>Scala DataFrame API: source excerpt</a:t>
            </a:r>
          </a:p>
        </p:txBody>
      </p:sp>
      <p:sp>
        <p:nvSpPr>
          <p:cNvPr id="10" name="TextBox 9"/>
          <p:cNvSpPr txBox="1"/>
          <p:nvPr/>
        </p:nvSpPr>
        <p:spPr>
          <a:xfrm>
            <a:off x="749808" y="1527048"/>
            <a:ext cx="5266944" cy="2926079"/>
          </a:xfrm>
          <a:prstGeom prst="rect">
            <a:avLst/>
          </a:prstGeom>
          <a:noFill/>
        </p:spPr>
        <p:txBody>
          <a:bodyPr wrap="square" lIns="0" tIns="0" rIns="0" bIns="0">
            <a:spAutoFit/>
          </a:bodyPr>
          <a:lstStyle/>
          <a:p>
            <a:pPr>
              <a:defRPr sz="950" b="1">
                <a:solidFill>
                  <a:srgbClr val="142D5F"/>
                </a:solidFill>
              </a:defRPr>
            </a:pPr>
            <a:r>
              <a:t>// 1. Non-fatal date parsing (Readers.scala)</a:t>
            </a:r>
            <a:br/>
            <a:r>
              <a:t>expr("try_to_date(trim(Arrival_Date), 'yyyy-MM-dd')")</a:t>
            </a:r>
            <a:br/>
            <a:br/>
            <a:r>
              <a:t>// 2. Business-key de-duplication (Deduplicate.scala)</a:t>
            </a:r>
            <a:br/>
            <a:r>
              <a:t>val w = Window.partitionBy(DataQuality.businessKey.map(col): _*)</a:t>
            </a:r>
            <a:br/>
            <a:r>
              <a:t>  .orderBy(/* deterministic quality order */)</a:t>
            </a:r>
            <a:br/>
            <a:r>
              <a:t>df.withColumn("_rn", row_number().over(w))</a:t>
            </a:r>
            <a:br/>
            <a:br/>
            <a:r>
              <a:t>// 3. Leakage-safe features (forecast/Features.scala)</a:t>
            </a:r>
            <a:br/>
            <a:r>
              <a:t>def days(lo: Long, hi: Long) = byEntity.rangeBetween(lo, hi)</a:t>
            </a:r>
            <a:br/>
            <a:r>
              <a:t>.withColumn("mean30", avg(lp).over(days(-29, 0)))  // ends at t</a:t>
            </a:r>
          </a:p>
        </p:txBody>
      </p:sp>
      <p:sp>
        <p:nvSpPr>
          <p:cNvPr id="11" name="Rounded Rectangle 10"/>
          <p:cNvSpPr/>
          <p:nvPr/>
        </p:nvSpPr>
        <p:spPr>
          <a:xfrm>
            <a:off x="6400800" y="1051560"/>
            <a:ext cx="5212080" cy="3474720"/>
          </a:xfrm>
          <a:prstGeom prst="roundRect">
            <a:avLst/>
          </a:prstGeom>
          <a:solidFill>
            <a:srgbClr val="F1F4FA"/>
          </a:solidFill>
          <a:ln w="12700">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0" y="1051560"/>
            <a:ext cx="5212080" cy="384048"/>
          </a:xfrm>
          <a:prstGeom prst="roundRect">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106424"/>
            <a:ext cx="4846320" cy="292607"/>
          </a:xfrm>
          <a:prstGeom prst="rect">
            <a:avLst/>
          </a:prstGeom>
          <a:noFill/>
        </p:spPr>
        <p:txBody>
          <a:bodyPr wrap="square" lIns="0" tIns="0" rIns="0" bIns="0">
            <a:spAutoFit/>
          </a:bodyPr>
          <a:lstStyle/>
          <a:p>
            <a:pPr>
              <a:defRPr sz="1300" b="1">
                <a:solidFill>
                  <a:srgbClr val="FFFFFF"/>
                </a:solidFill>
              </a:defRPr>
            </a:pPr>
            <a:r>
              <a:t>What the code does</a:t>
            </a:r>
          </a:p>
        </p:txBody>
      </p:sp>
      <p:sp>
        <p:nvSpPr>
          <p:cNvPr id="14" name="TextBox 13"/>
          <p:cNvSpPr txBox="1"/>
          <p:nvPr/>
        </p:nvSpPr>
        <p:spPr>
          <a:xfrm>
            <a:off x="6601968" y="1527048"/>
            <a:ext cx="4809744" cy="2926079"/>
          </a:xfrm>
          <a:prstGeom prst="rect">
            <a:avLst/>
          </a:prstGeom>
          <a:noFill/>
        </p:spPr>
        <p:txBody>
          <a:bodyPr wrap="square" lIns="0" tIns="0" rIns="0" bIns="0">
            <a:spAutoFit/>
          </a:bodyPr>
          <a:lstStyle/>
          <a:p>
            <a:pPr>
              <a:defRPr sz="1150">
                <a:solidFill>
                  <a:srgbClr val="141923"/>
                </a:solidFill>
              </a:defRPr>
            </a:pPr>
            <a:r>
              <a:t>• Read CSV with fixed column types and explicit StructType schemas.</a:t>
            </a:r>
          </a:p>
          <a:p>
            <a:pPr>
              <a:spcBef>
                <a:spcPts val="600"/>
              </a:spcBef>
              <a:defRPr sz="1150">
                <a:solidFill>
                  <a:srgbClr val="141923"/>
                </a:solidFill>
              </a:defRPr>
            </a:pPr>
            <a:r>
              <a:t>• Non-fatal date parsing: a malformed date becomes null, not a crash.</a:t>
            </a:r>
          </a:p>
          <a:p>
            <a:pPr>
              <a:spcBef>
                <a:spcPts val="600"/>
              </a:spcBef>
              <a:defRPr sz="1150">
                <a:solidFill>
                  <a:srgbClr val="141923"/>
                </a:solidFill>
              </a:defRPr>
            </a:pPr>
            <a:r>
              <a:t>• Deterministic row_number() keeps one reproducible row per business key.</a:t>
            </a:r>
          </a:p>
          <a:p>
            <a:pPr>
              <a:spcBef>
                <a:spcPts val="600"/>
              </a:spcBef>
              <a:defRPr sz="1150">
                <a:solidFill>
                  <a:srgbClr val="141923"/>
                </a:solidFill>
              </a:defRPr>
            </a:pPr>
            <a:r>
              <a:t>• Feature windows end at the current report; targets start after it; a perturbation test enforces this.</a:t>
            </a:r>
          </a:p>
          <a:p>
            <a:pPr>
              <a:spcBef>
                <a:spcPts val="600"/>
              </a:spcBef>
              <a:defRPr sz="1150">
                <a:solidFill>
                  <a:srgbClr val="141923"/>
                </a:solidFill>
              </a:defRPr>
            </a:pPr>
            <a:r>
              <a:t>• Batch and streaming share one canonicalisation function.</a:t>
            </a:r>
          </a:p>
        </p:txBody>
      </p:sp>
      <p:sp>
        <p:nvSpPr>
          <p:cNvPr id="15" name="Rounded Rectangle 14"/>
          <p:cNvSpPr/>
          <p:nvPr/>
        </p:nvSpPr>
        <p:spPr>
          <a:xfrm>
            <a:off x="548640" y="4709160"/>
            <a:ext cx="11064240" cy="1417320"/>
          </a:xfrm>
          <a:prstGeom prst="roundRect">
            <a:avLst/>
          </a:prstGeom>
          <a:solidFill>
            <a:srgbClr val="F1F4FA"/>
          </a:solidFill>
          <a:ln w="12700">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4709160"/>
            <a:ext cx="11064240" cy="347472"/>
          </a:xfrm>
          <a:prstGeom prst="roundRect">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754880"/>
            <a:ext cx="10698480" cy="256032"/>
          </a:xfrm>
          <a:prstGeom prst="rect">
            <a:avLst/>
          </a:prstGeom>
          <a:noFill/>
        </p:spPr>
        <p:txBody>
          <a:bodyPr wrap="square" lIns="0" tIns="0" rIns="0" bIns="0">
            <a:spAutoFit/>
          </a:bodyPr>
          <a:lstStyle/>
          <a:p>
            <a:pPr>
              <a:defRPr sz="1200" b="1">
                <a:solidFill>
                  <a:srgbClr val="FFFFFF"/>
                </a:solidFill>
              </a:defRPr>
            </a:pPr>
            <a:r>
              <a:t>How do we use Structured Streaming?</a:t>
            </a:r>
          </a:p>
        </p:txBody>
      </p:sp>
      <p:sp>
        <p:nvSpPr>
          <p:cNvPr id="18" name="TextBox 17"/>
          <p:cNvSpPr txBox="1"/>
          <p:nvPr/>
        </p:nvSpPr>
        <p:spPr>
          <a:xfrm>
            <a:off x="777240" y="5148072"/>
            <a:ext cx="10607040" cy="905256"/>
          </a:xfrm>
          <a:prstGeom prst="rect">
            <a:avLst/>
          </a:prstGeom>
          <a:noFill/>
        </p:spPr>
        <p:txBody>
          <a:bodyPr wrap="square" lIns="0" tIns="0" rIns="0" bIns="0">
            <a:spAutoFit/>
          </a:bodyPr>
          <a:lstStyle/>
          <a:p>
            <a:pPr>
              <a:defRPr sz="1100">
                <a:solidFill>
                  <a:srgbClr val="141923"/>
                </a:solidFill>
              </a:defRPr>
            </a:pPr>
            <a:r>
              <a:t>Reports go to Kafka topic agri.prices.v1 (6 partitions). PriceEventStream writes bronze (raw + offsets), quarantines invalid messages before a 10-day watermark, drops re-sends by event_id, and writes silver and alerts. Checkpointed offsets give effectively-once output per offset range (end-to-end exactly-once is not claimed).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92240"/>
            <a:ext cx="2560320" cy="365760"/>
          </a:xfrm>
          <a:prstGeom prst="rect">
            <a:avLst/>
          </a:prstGeom>
          <a:solidFill>
            <a:srgbClr val="A30000"/>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b="1">
                <a:solidFill>
                  <a:srgbClr val="FFFFFF"/>
                </a:solidFill>
              </a:defRPr>
            </a:pPr>
            <a:r>
              <a:t>Team AG-DATA / 23AID302</a:t>
            </a:r>
          </a:p>
        </p:txBody>
      </p:sp>
      <p:sp>
        <p:nvSpPr>
          <p:cNvPr id="4" name="Rectangle 3"/>
          <p:cNvSpPr/>
          <p:nvPr/>
        </p:nvSpPr>
        <p:spPr>
          <a:xfrm>
            <a:off x="2560320" y="6492240"/>
            <a:ext cx="7802575" cy="365760"/>
          </a:xfrm>
          <a:prstGeom prst="rect">
            <a:avLst/>
          </a:prstGeom>
          <a:solidFill>
            <a:srgbClr val="EAEDF2"/>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a:solidFill>
                  <a:srgbClr val="A30000"/>
                </a:solidFill>
              </a:defRPr>
            </a:pPr>
            <a:r>
              <a:t>Agricultural Commodity Price Analysis and Decision Support</a:t>
            </a:r>
          </a:p>
        </p:txBody>
      </p:sp>
      <p:sp>
        <p:nvSpPr>
          <p:cNvPr id="5" name="Rectangle 4"/>
          <p:cNvSpPr/>
          <p:nvPr/>
        </p:nvSpPr>
        <p:spPr>
          <a:xfrm>
            <a:off x="10362895" y="6492240"/>
            <a:ext cx="1828800" cy="365760"/>
          </a:xfrm>
          <a:prstGeom prst="rect">
            <a:avLst/>
          </a:prstGeom>
          <a:solidFill>
            <a:srgbClr val="DEE2E8"/>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b="1">
                <a:solidFill>
                  <a:srgbClr val="141923"/>
                </a:solidFill>
              </a:defRPr>
            </a:pPr>
            <a:r>
              <a:t>7 / 10</a:t>
            </a:r>
          </a:p>
        </p:txBody>
      </p:sp>
      <p:sp>
        <p:nvSpPr>
          <p:cNvPr id="6" name="TextBox 5"/>
          <p:cNvSpPr txBox="1"/>
          <p:nvPr/>
        </p:nvSpPr>
        <p:spPr>
          <a:xfrm>
            <a:off x="548640" y="292608"/>
            <a:ext cx="11094415" cy="594360"/>
          </a:xfrm>
          <a:prstGeom prst="rect">
            <a:avLst/>
          </a:prstGeom>
          <a:noFill/>
        </p:spPr>
        <p:txBody>
          <a:bodyPr wrap="square" lIns="0" tIns="0" rIns="0" bIns="0">
            <a:spAutoFit/>
          </a:bodyPr>
          <a:lstStyle/>
          <a:p>
            <a:pPr>
              <a:defRPr sz="2200" b="1">
                <a:solidFill>
                  <a:srgbClr val="A30000"/>
                </a:solidFill>
              </a:defRPr>
            </a:pPr>
            <a:r>
              <a:t>6. How We Train and Test the Models</a:t>
            </a:r>
          </a:p>
        </p:txBody>
      </p:sp>
      <p:sp>
        <p:nvSpPr>
          <p:cNvPr id="7" name="Rounded Rectangle 6"/>
          <p:cNvSpPr/>
          <p:nvPr/>
        </p:nvSpPr>
        <p:spPr>
          <a:xfrm>
            <a:off x="548640" y="1051560"/>
            <a:ext cx="5349240" cy="3474720"/>
          </a:xfrm>
          <a:prstGeom prst="roundRect">
            <a:avLst/>
          </a:prstGeom>
          <a:solidFill>
            <a:srgbClr val="F1F4FA"/>
          </a:solidFill>
          <a:ln w="12700">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051560"/>
            <a:ext cx="5349240" cy="384048"/>
          </a:xfrm>
          <a:prstGeom prst="roundRect">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06424"/>
            <a:ext cx="4983479" cy="292607"/>
          </a:xfrm>
          <a:prstGeom prst="rect">
            <a:avLst/>
          </a:prstGeom>
          <a:noFill/>
        </p:spPr>
        <p:txBody>
          <a:bodyPr wrap="square" lIns="0" tIns="0" rIns="0" bIns="0">
            <a:spAutoFit/>
          </a:bodyPr>
          <a:lstStyle/>
          <a:p>
            <a:pPr>
              <a:defRPr sz="1300" b="1">
                <a:solidFill>
                  <a:srgbClr val="FFFFFF"/>
                </a:solidFill>
              </a:defRPr>
            </a:pPr>
            <a:r>
              <a:t>Baselines and models</a:t>
            </a:r>
          </a:p>
        </p:txBody>
      </p:sp>
      <p:sp>
        <p:nvSpPr>
          <p:cNvPr id="10" name="TextBox 9"/>
          <p:cNvSpPr txBox="1"/>
          <p:nvPr/>
        </p:nvSpPr>
        <p:spPr>
          <a:xfrm>
            <a:off x="749808" y="1527048"/>
            <a:ext cx="4946903" cy="2926079"/>
          </a:xfrm>
          <a:prstGeom prst="rect">
            <a:avLst/>
          </a:prstGeom>
          <a:noFill/>
        </p:spPr>
        <p:txBody>
          <a:bodyPr wrap="square" lIns="0" tIns="0" rIns="0" bIns="0">
            <a:spAutoFit/>
          </a:bodyPr>
          <a:lstStyle/>
          <a:p>
            <a:pPr>
              <a:defRPr sz="1150" b="1">
                <a:solidFill>
                  <a:srgbClr val="A30000"/>
                </a:solidFill>
              </a:defRPr>
            </a:pPr>
            <a:r>
              <a:t>1  Baselines</a:t>
            </a:r>
          </a:p>
          <a:p>
            <a:pPr>
              <a:spcBef>
                <a:spcPts val="300"/>
              </a:spcBef>
              <a:defRPr sz="1050">
                <a:solidFill>
                  <a:srgbClr val="141923"/>
                </a:solidFill>
              </a:defRPr>
            </a:pPr>
            <a:r>
              <a:t>• Persistence (last report), moving averages, seasonal naive.</a:t>
            </a:r>
            <a:br/>
            <a:r>
              <a:t>• Target: log return to a report strictly after the origin.</a:t>
            </a:r>
            <a:br/>
            <a:r>
              <a:t>• Horizons: next report, 3, 7 and 14 days.</a:t>
            </a:r>
          </a:p>
          <a:p>
            <a:pPr>
              <a:spcBef>
                <a:spcPts val="800"/>
              </a:spcBef>
              <a:defRPr sz="1150" b="1">
                <a:solidFill>
                  <a:srgbClr val="1B2A6B"/>
                </a:solidFill>
              </a:defRPr>
            </a:pPr>
            <a:r>
              <a:t>2  Spark MLlib pipelines</a:t>
            </a:r>
          </a:p>
          <a:p>
            <a:pPr>
              <a:spcBef>
                <a:spcPts val="300"/>
              </a:spcBef>
              <a:defRPr sz="1050">
                <a:solidFill>
                  <a:srgbClr val="141923"/>
                </a:solidFill>
              </a:defRPr>
            </a:pPr>
            <a:r>
              <a:t>• Linear regression, random forest, gradient-boosted trees.</a:t>
            </a:r>
            <a:br/>
            <a:r>
              <a:t>• One global model per horizon, fitted on training rows only.</a:t>
            </a:r>
            <a:br/>
            <a:r>
              <a:t>• 80% split-conformal intervals calibrated on 2024.</a:t>
            </a:r>
          </a:p>
          <a:p>
            <a:pPr>
              <a:spcBef>
                <a:spcPts val="600"/>
              </a:spcBef>
              <a:defRPr sz="1000" b="1">
                <a:solidFill>
                  <a:srgbClr val="008232"/>
                </a:solidFill>
              </a:defRPr>
            </a:pPr>
            <a:r>
              <a:t>Selected: GBT, absolute loss (next, 3 d); random forest, 60 trees, depth 10 (7, 14 d).</a:t>
            </a:r>
          </a:p>
        </p:txBody>
      </p:sp>
      <p:sp>
        <p:nvSpPr>
          <p:cNvPr id="11" name="Rounded Rectangle 10"/>
          <p:cNvSpPr/>
          <p:nvPr/>
        </p:nvSpPr>
        <p:spPr>
          <a:xfrm>
            <a:off x="6263640" y="1051560"/>
            <a:ext cx="5349240" cy="3474720"/>
          </a:xfrm>
          <a:prstGeom prst="roundRect">
            <a:avLst/>
          </a:prstGeom>
          <a:solidFill>
            <a:srgbClr val="F1F4FA"/>
          </a:solidFill>
          <a:ln w="12700">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63640" y="1051560"/>
            <a:ext cx="5349240" cy="384048"/>
          </a:xfrm>
          <a:prstGeom prst="roundRect">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106424"/>
            <a:ext cx="4983479" cy="292607"/>
          </a:xfrm>
          <a:prstGeom prst="rect">
            <a:avLst/>
          </a:prstGeom>
          <a:noFill/>
        </p:spPr>
        <p:txBody>
          <a:bodyPr wrap="square" lIns="0" tIns="0" rIns="0" bIns="0">
            <a:spAutoFit/>
          </a:bodyPr>
          <a:lstStyle/>
          <a:p>
            <a:pPr>
              <a:defRPr sz="1300" b="1">
                <a:solidFill>
                  <a:srgbClr val="FFFFFF"/>
                </a:solidFill>
              </a:defRPr>
            </a:pPr>
            <a:r>
              <a:t>Strict temporal split &amp; tuning</a:t>
            </a:r>
          </a:p>
        </p:txBody>
      </p:sp>
      <p:sp>
        <p:nvSpPr>
          <p:cNvPr id="14" name="TextBox 13"/>
          <p:cNvSpPr txBox="1"/>
          <p:nvPr/>
        </p:nvSpPr>
        <p:spPr>
          <a:xfrm>
            <a:off x="6464807" y="1527048"/>
            <a:ext cx="4946903" cy="2926079"/>
          </a:xfrm>
          <a:prstGeom prst="rect">
            <a:avLst/>
          </a:prstGeom>
          <a:noFill/>
        </p:spPr>
        <p:txBody>
          <a:bodyPr wrap="square" lIns="0" tIns="0" rIns="0" bIns="0">
            <a:spAutoFit/>
          </a:bodyPr>
          <a:lstStyle/>
          <a:p>
            <a:pPr>
              <a:defRPr sz="1150" b="1">
                <a:solidFill>
                  <a:srgbClr val="1B2A6B"/>
                </a:solidFill>
              </a:defRPr>
            </a:pPr>
            <a:r>
              <a:t>Chronological split (purged on target dates):</a:t>
            </a:r>
          </a:p>
          <a:p>
            <a:pPr>
              <a:spcBef>
                <a:spcPts val="400"/>
              </a:spcBef>
              <a:defRPr sz="1050">
                <a:solidFill>
                  <a:srgbClr val="141923"/>
                </a:solidFill>
              </a:defRPr>
            </a:pPr>
            <a:r>
              <a:t>• Train: origins 2016-01-01 .. 2023-12-31.</a:t>
            </a:r>
            <a:br/>
            <a:r>
              <a:t>• Validation: 2024, model choice and conformal calibration.</a:t>
            </a:r>
            <a:br/>
            <a:r>
              <a:t>• Test: 2025-01-01 .. 2026-04-20, scored once.</a:t>
            </a:r>
          </a:p>
          <a:p>
            <a:pPr>
              <a:spcBef>
                <a:spcPts val="600"/>
              </a:spcBef>
              <a:defRPr sz="1100" b="1">
                <a:solidFill>
                  <a:srgbClr val="1B2A6B"/>
                </a:solidFill>
              </a:defRPr>
            </a:pPr>
            <a:r>
              <a:t>Then, frozen models (no refitting):</a:t>
            </a:r>
          </a:p>
          <a:p>
            <a:pPr>
              <a:spcBef>
                <a:spcPts val="300"/>
              </a:spcBef>
              <a:defRPr sz="1050">
                <a:solidFill>
                  <a:srgbClr val="141923"/>
                </a:solidFill>
              </a:defRPr>
            </a:pPr>
            <a:r>
              <a:t>• Same test period on complete official data.</a:t>
            </a:r>
            <a:br/>
            <a:r>
              <a:t>• Prospective 2026-04-22 → 2026-10-22: data that did not exist in the archive.</a:t>
            </a:r>
          </a:p>
        </p:txBody>
      </p:sp>
      <p:sp>
        <p:nvSpPr>
          <p:cNvPr id="15" name="Rounded Rectangle 14"/>
          <p:cNvSpPr/>
          <p:nvPr/>
        </p:nvSpPr>
        <p:spPr>
          <a:xfrm>
            <a:off x="548640" y="4709160"/>
            <a:ext cx="11064240" cy="1417320"/>
          </a:xfrm>
          <a:prstGeom prst="roundRect">
            <a:avLst/>
          </a:prstGeom>
          <a:solidFill>
            <a:srgbClr val="F1F4FA"/>
          </a:solidFill>
          <a:ln w="12700">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4709160"/>
            <a:ext cx="11064240" cy="347472"/>
          </a:xfrm>
          <a:prstGeom prst="roundRect">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754880"/>
            <a:ext cx="10698480" cy="256032"/>
          </a:xfrm>
          <a:prstGeom prst="rect">
            <a:avLst/>
          </a:prstGeom>
          <a:noFill/>
        </p:spPr>
        <p:txBody>
          <a:bodyPr wrap="square" lIns="0" tIns="0" rIns="0" bIns="0">
            <a:spAutoFit/>
          </a:bodyPr>
          <a:lstStyle/>
          <a:p>
            <a:pPr>
              <a:defRPr sz="1200" b="1">
                <a:solidFill>
                  <a:srgbClr val="FFFFFF"/>
                </a:solidFill>
              </a:defRPr>
            </a:pPr>
            <a:r>
              <a:t>Why keep test data aside chronologically?</a:t>
            </a:r>
          </a:p>
        </p:txBody>
      </p:sp>
      <p:sp>
        <p:nvSpPr>
          <p:cNvPr id="18" name="TextBox 17"/>
          <p:cNvSpPr txBox="1"/>
          <p:nvPr/>
        </p:nvSpPr>
        <p:spPr>
          <a:xfrm>
            <a:off x="777240" y="5148072"/>
            <a:ext cx="10607040" cy="905256"/>
          </a:xfrm>
          <a:prstGeom prst="rect">
            <a:avLst/>
          </a:prstGeom>
          <a:noFill/>
        </p:spPr>
        <p:txBody>
          <a:bodyPr wrap="square" lIns="0" tIns="0" rIns="0" bIns="0">
            <a:spAutoFit/>
          </a:bodyPr>
          <a:lstStyle/>
          <a:p>
            <a:pPr>
              <a:defRPr sz="1100">
                <a:solidFill>
                  <a:srgbClr val="141923"/>
                </a:solidFill>
              </a:defRPr>
            </a:pPr>
            <a:r>
              <a:t>Random k-fold cross-validation lets future market information leak into training. Splitting chronologically and scoring the test once tests the models on genuinely later periods, as in deployment; the prospective check then uses months that did not exist when the models were trained.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92240"/>
            <a:ext cx="2560320" cy="365760"/>
          </a:xfrm>
          <a:prstGeom prst="rect">
            <a:avLst/>
          </a:prstGeom>
          <a:solidFill>
            <a:srgbClr val="A30000"/>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b="1">
                <a:solidFill>
                  <a:srgbClr val="FFFFFF"/>
                </a:solidFill>
              </a:defRPr>
            </a:pPr>
            <a:r>
              <a:t>Team AG-DATA / 23AID302</a:t>
            </a:r>
          </a:p>
        </p:txBody>
      </p:sp>
      <p:sp>
        <p:nvSpPr>
          <p:cNvPr id="4" name="Rectangle 3"/>
          <p:cNvSpPr/>
          <p:nvPr/>
        </p:nvSpPr>
        <p:spPr>
          <a:xfrm>
            <a:off x="2560320" y="6492240"/>
            <a:ext cx="7802575" cy="365760"/>
          </a:xfrm>
          <a:prstGeom prst="rect">
            <a:avLst/>
          </a:prstGeom>
          <a:solidFill>
            <a:srgbClr val="EAEDF2"/>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a:solidFill>
                  <a:srgbClr val="A30000"/>
                </a:solidFill>
              </a:defRPr>
            </a:pPr>
            <a:r>
              <a:t>Agricultural Commodity Price Analysis and Decision Support</a:t>
            </a:r>
          </a:p>
        </p:txBody>
      </p:sp>
      <p:sp>
        <p:nvSpPr>
          <p:cNvPr id="5" name="Rectangle 4"/>
          <p:cNvSpPr/>
          <p:nvPr/>
        </p:nvSpPr>
        <p:spPr>
          <a:xfrm>
            <a:off x="10362895" y="6492240"/>
            <a:ext cx="1828800" cy="365760"/>
          </a:xfrm>
          <a:prstGeom prst="rect">
            <a:avLst/>
          </a:prstGeom>
          <a:solidFill>
            <a:srgbClr val="DEE2E8"/>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b="1">
                <a:solidFill>
                  <a:srgbClr val="141923"/>
                </a:solidFill>
              </a:defRPr>
            </a:pPr>
            <a:r>
              <a:t>8 / 10</a:t>
            </a:r>
          </a:p>
        </p:txBody>
      </p:sp>
      <p:sp>
        <p:nvSpPr>
          <p:cNvPr id="6" name="TextBox 5"/>
          <p:cNvSpPr txBox="1"/>
          <p:nvPr/>
        </p:nvSpPr>
        <p:spPr>
          <a:xfrm>
            <a:off x="548640" y="292608"/>
            <a:ext cx="11094415" cy="594360"/>
          </a:xfrm>
          <a:prstGeom prst="rect">
            <a:avLst/>
          </a:prstGeom>
          <a:noFill/>
        </p:spPr>
        <p:txBody>
          <a:bodyPr wrap="square" lIns="0" tIns="0" rIns="0" bIns="0">
            <a:spAutoFit/>
          </a:bodyPr>
          <a:lstStyle/>
          <a:p>
            <a:pPr>
              <a:defRPr sz="2200" b="1">
                <a:solidFill>
                  <a:srgbClr val="A30000"/>
                </a:solidFill>
              </a:defRPr>
            </a:pPr>
            <a:r>
              <a:t>7. Results</a:t>
            </a:r>
          </a:p>
        </p:txBody>
      </p:sp>
      <p:sp>
        <p:nvSpPr>
          <p:cNvPr id="7" name="Rounded Rectangle 6"/>
          <p:cNvSpPr/>
          <p:nvPr/>
        </p:nvSpPr>
        <p:spPr>
          <a:xfrm>
            <a:off x="548640" y="1051560"/>
            <a:ext cx="11064240" cy="2423160"/>
          </a:xfrm>
          <a:prstGeom prst="roundRect">
            <a:avLst/>
          </a:prstGeom>
          <a:solidFill>
            <a:srgbClr val="F1F4FA"/>
          </a:solidFill>
          <a:ln w="12700">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051560"/>
            <a:ext cx="11064240" cy="384048"/>
          </a:xfrm>
          <a:prstGeom prst="roundRect">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06424"/>
            <a:ext cx="10698480" cy="292607"/>
          </a:xfrm>
          <a:prstGeom prst="rect">
            <a:avLst/>
          </a:prstGeom>
          <a:noFill/>
        </p:spPr>
        <p:txBody>
          <a:bodyPr wrap="square" lIns="0" tIns="0" rIns="0" bIns="0">
            <a:spAutoFit/>
          </a:bodyPr>
          <a:lstStyle/>
          <a:p>
            <a:pPr>
              <a:defRPr sz="1300" b="1">
                <a:solidFill>
                  <a:srgbClr val="FFFFFF"/>
                </a:solidFill>
              </a:defRPr>
            </a:pPr>
            <a:r>
              <a:t>Forecasting — test 2025-01-01 .. 2026-04-20 (relative MAE vs persistence; lower is better)</a:t>
            </a:r>
          </a:p>
        </p:txBody>
      </p:sp>
      <p:sp>
        <p:nvSpPr>
          <p:cNvPr id="10" name="TextBox 9"/>
          <p:cNvSpPr txBox="1"/>
          <p:nvPr/>
        </p:nvSpPr>
        <p:spPr>
          <a:xfrm>
            <a:off x="749808" y="1527048"/>
            <a:ext cx="10661904" cy="1874519"/>
          </a:xfrm>
          <a:prstGeom prst="rect">
            <a:avLst/>
          </a:prstGeom>
          <a:noFill/>
        </p:spPr>
        <p:txBody>
          <a:bodyPr wrap="square" lIns="0" tIns="0" rIns="0" bIns="0">
            <a:spAutoFit/>
          </a:bodyPr>
          <a:lstStyle/>
          <a:p/>
        </p:txBody>
      </p:sp>
      <p:graphicFrame>
        <p:nvGraphicFramePr>
          <p:cNvPr id="11" name="Table 10"/>
          <p:cNvGraphicFramePr>
            <a:graphicFrameLocks noGrp="1"/>
          </p:cNvGraphicFramePr>
          <p:nvPr/>
        </p:nvGraphicFramePr>
        <p:xfrm>
          <a:off x="731520" y="1600200"/>
          <a:ext cx="10698480" cy="1691640"/>
        </p:xfrm>
        <a:graphic>
          <a:graphicData uri="http://schemas.openxmlformats.org/drawingml/2006/table">
            <a:tbl>
              <a:tblPr firstRow="1" bandRow="1">
                <a:tableStyleId>{5C22544A-7EE6-4342-B048-85BDC9FD1C3A}</a:tableStyleId>
              </a:tblPr>
              <a:tblGrid>
                <a:gridCol w="4297680"/>
                <a:gridCol w="1280160"/>
                <a:gridCol w="1280160"/>
                <a:gridCol w="1280160"/>
                <a:gridCol w="1280160"/>
                <a:gridCol w="1280160"/>
              </a:tblGrid>
              <a:tr h="338328">
                <a:tc>
                  <a:txBody>
                    <a:bodyPr/>
                    <a:lstStyle/>
                    <a:p>
                      <a:pPr algn="l">
                        <a:defRPr sz="1050" b="1">
                          <a:solidFill>
                            <a:srgbClr val="1B2A6B"/>
                          </a:solidFill>
                        </a:defRPr>
                      </a:pPr>
                      <a:r>
                        <a:t>Horizon (selected model)</a:t>
                      </a:r>
                    </a:p>
                  </a:txBody>
                  <a:tcPr anchor="ctr" marL="91440" marR="91440">
                    <a:solidFill>
                      <a:srgbClr val="E4EAF6"/>
                    </a:solidFill>
                  </a:tcPr>
                </a:tc>
                <a:tc>
                  <a:txBody>
                    <a:bodyPr/>
                    <a:lstStyle/>
                    <a:p>
                      <a:pPr algn="r">
                        <a:defRPr sz="1050" b="1">
                          <a:solidFill>
                            <a:srgbClr val="1B2A6B"/>
                          </a:solidFill>
                        </a:defRPr>
                      </a:pPr>
                      <a:r>
                        <a:t>Persist. MAE ₹/q</a:t>
                      </a:r>
                    </a:p>
                  </a:txBody>
                  <a:tcPr anchor="ctr" marL="91440" marR="91440">
                    <a:solidFill>
                      <a:srgbClr val="E4EAF6"/>
                    </a:solidFill>
                  </a:tcPr>
                </a:tc>
                <a:tc>
                  <a:txBody>
                    <a:bodyPr/>
                    <a:lstStyle/>
                    <a:p>
                      <a:pPr algn="r">
                        <a:defRPr sz="1050" b="1">
                          <a:solidFill>
                            <a:srgbClr val="1B2A6B"/>
                          </a:solidFill>
                        </a:defRPr>
                      </a:pPr>
                      <a:r>
                        <a:t>Model MAE ₹/q</a:t>
                      </a:r>
                    </a:p>
                  </a:txBody>
                  <a:tcPr anchor="ctr" marL="91440" marR="91440">
                    <a:solidFill>
                      <a:srgbClr val="E4EAF6"/>
                    </a:solidFill>
                  </a:tcPr>
                </a:tc>
                <a:tc>
                  <a:txBody>
                    <a:bodyPr/>
                    <a:lstStyle/>
                    <a:p>
                      <a:pPr algn="r">
                        <a:defRPr sz="1050" b="1">
                          <a:solidFill>
                            <a:srgbClr val="1B2A6B"/>
                          </a:solidFill>
                        </a:defRPr>
                      </a:pPr>
                      <a:r>
                        <a:t>Rel. MAE</a:t>
                      </a:r>
                    </a:p>
                  </a:txBody>
                  <a:tcPr anchor="ctr" marL="91440" marR="91440">
                    <a:solidFill>
                      <a:srgbClr val="E4EAF6"/>
                    </a:solidFill>
                  </a:tcPr>
                </a:tc>
                <a:tc>
                  <a:txBody>
                    <a:bodyPr/>
                    <a:lstStyle/>
                    <a:p>
                      <a:pPr algn="r">
                        <a:defRPr sz="1050" b="1">
                          <a:solidFill>
                            <a:srgbClr val="1B2A6B"/>
                          </a:solidFill>
                        </a:defRPr>
                      </a:pPr>
                      <a:r>
                        <a:t>80% cover.</a:t>
                      </a:r>
                    </a:p>
                  </a:txBody>
                  <a:tcPr anchor="ctr" marL="91440" marR="91440">
                    <a:solidFill>
                      <a:srgbClr val="E4EAF6"/>
                    </a:solidFill>
                  </a:tcPr>
                </a:tc>
                <a:tc>
                  <a:txBody>
                    <a:bodyPr/>
                    <a:lstStyle/>
                    <a:p>
                      <a:pPr algn="r">
                        <a:defRPr sz="1050" b="1">
                          <a:solidFill>
                            <a:srgbClr val="1B2A6B"/>
                          </a:solidFill>
                        </a:defRPr>
                      </a:pPr>
                      <a:r>
                        <a:t>Frozen, 2026-04→10</a:t>
                      </a:r>
                    </a:p>
                  </a:txBody>
                  <a:tcPr anchor="ctr" marL="91440" marR="91440">
                    <a:solidFill>
                      <a:srgbClr val="E4EAF6"/>
                    </a:solidFill>
                  </a:tcPr>
                </a:tc>
              </a:tr>
              <a:tr h="338328">
                <a:tc>
                  <a:txBody>
                    <a:bodyPr/>
                    <a:lstStyle/>
                    <a:p>
                      <a:pPr algn="l">
                        <a:defRPr sz="1050">
                          <a:solidFill>
                            <a:srgbClr val="141923"/>
                          </a:solidFill>
                        </a:defRPr>
                      </a:pPr>
                      <a:r>
                        <a:t>Next report (GBT, abs. loss)</a:t>
                      </a:r>
                    </a:p>
                  </a:txBody>
                  <a:tcPr anchor="ctr" marL="91440" marR="91440">
                    <a:solidFill>
                      <a:srgbClr val="FFFFFF"/>
                    </a:solidFill>
                  </a:tcPr>
                </a:tc>
                <a:tc>
                  <a:txBody>
                    <a:bodyPr/>
                    <a:lstStyle/>
                    <a:p>
                      <a:pPr algn="r">
                        <a:defRPr sz="1050">
                          <a:solidFill>
                            <a:srgbClr val="141923"/>
                          </a:solidFill>
                        </a:defRPr>
                      </a:pPr>
                      <a:r>
                        <a:t>189.0</a:t>
                      </a:r>
                    </a:p>
                  </a:txBody>
                  <a:tcPr anchor="ctr" marL="91440" marR="91440">
                    <a:solidFill>
                      <a:srgbClr val="FFFFFF"/>
                    </a:solidFill>
                  </a:tcPr>
                </a:tc>
                <a:tc>
                  <a:txBody>
                    <a:bodyPr/>
                    <a:lstStyle/>
                    <a:p>
                      <a:pPr algn="r">
                        <a:defRPr sz="1050">
                          <a:solidFill>
                            <a:srgbClr val="141923"/>
                          </a:solidFill>
                        </a:defRPr>
                      </a:pPr>
                      <a:r>
                        <a:t>183.5</a:t>
                      </a:r>
                    </a:p>
                  </a:txBody>
                  <a:tcPr anchor="ctr" marL="91440" marR="91440">
                    <a:solidFill>
                      <a:srgbClr val="FFFFFF"/>
                    </a:solidFill>
                  </a:tcPr>
                </a:tc>
                <a:tc>
                  <a:txBody>
                    <a:bodyPr/>
                    <a:lstStyle/>
                    <a:p>
                      <a:pPr algn="r">
                        <a:defRPr sz="1050">
                          <a:solidFill>
                            <a:srgbClr val="141923"/>
                          </a:solidFill>
                        </a:defRPr>
                      </a:pPr>
                      <a:r>
                        <a:t>0.971</a:t>
                      </a:r>
                    </a:p>
                  </a:txBody>
                  <a:tcPr anchor="ctr" marL="91440" marR="91440">
                    <a:solidFill>
                      <a:srgbClr val="FFFFFF"/>
                    </a:solidFill>
                  </a:tcPr>
                </a:tc>
                <a:tc>
                  <a:txBody>
                    <a:bodyPr/>
                    <a:lstStyle/>
                    <a:p>
                      <a:pPr algn="r">
                        <a:defRPr sz="1050">
                          <a:solidFill>
                            <a:srgbClr val="141923"/>
                          </a:solidFill>
                        </a:defRPr>
                      </a:pPr>
                      <a:r>
                        <a:t>78.6%</a:t>
                      </a:r>
                    </a:p>
                  </a:txBody>
                  <a:tcPr anchor="ctr" marL="91440" marR="91440">
                    <a:solidFill>
                      <a:srgbClr val="FFFFFF"/>
                    </a:solidFill>
                  </a:tcPr>
                </a:tc>
                <a:tc>
                  <a:txBody>
                    <a:bodyPr/>
                    <a:lstStyle/>
                    <a:p>
                      <a:pPr algn="r">
                        <a:defRPr sz="1050">
                          <a:solidFill>
                            <a:srgbClr val="141923"/>
                          </a:solidFill>
                        </a:defRPr>
                      </a:pPr>
                      <a:r>
                        <a:t>0.963</a:t>
                      </a:r>
                    </a:p>
                  </a:txBody>
                  <a:tcPr anchor="ctr" marL="91440" marR="91440">
                    <a:solidFill>
                      <a:srgbClr val="FFFFFF"/>
                    </a:solidFill>
                  </a:tcPr>
                </a:tc>
              </a:tr>
              <a:tr h="338328">
                <a:tc>
                  <a:txBody>
                    <a:bodyPr/>
                    <a:lstStyle/>
                    <a:p>
                      <a:pPr algn="l">
                        <a:defRPr sz="1050">
                          <a:solidFill>
                            <a:srgbClr val="141923"/>
                          </a:solidFill>
                        </a:defRPr>
                      </a:pPr>
                      <a:r>
                        <a:t>3 days (GBT, abs. loss)</a:t>
                      </a:r>
                    </a:p>
                  </a:txBody>
                  <a:tcPr anchor="ctr" marL="91440" marR="91440">
                    <a:solidFill>
                      <a:srgbClr val="F5F8FD"/>
                    </a:solidFill>
                  </a:tcPr>
                </a:tc>
                <a:tc>
                  <a:txBody>
                    <a:bodyPr/>
                    <a:lstStyle/>
                    <a:p>
                      <a:pPr algn="r">
                        <a:defRPr sz="1050">
                          <a:solidFill>
                            <a:srgbClr val="141923"/>
                          </a:solidFill>
                        </a:defRPr>
                      </a:pPr>
                      <a:r>
                        <a:t>242.6</a:t>
                      </a:r>
                    </a:p>
                  </a:txBody>
                  <a:tcPr anchor="ctr" marL="91440" marR="91440">
                    <a:solidFill>
                      <a:srgbClr val="F5F8FD"/>
                    </a:solidFill>
                  </a:tcPr>
                </a:tc>
                <a:tc>
                  <a:txBody>
                    <a:bodyPr/>
                    <a:lstStyle/>
                    <a:p>
                      <a:pPr algn="r">
                        <a:defRPr sz="1050">
                          <a:solidFill>
                            <a:srgbClr val="141923"/>
                          </a:solidFill>
                        </a:defRPr>
                      </a:pPr>
                      <a:r>
                        <a:t>231.1</a:t>
                      </a:r>
                    </a:p>
                  </a:txBody>
                  <a:tcPr anchor="ctr" marL="91440" marR="91440">
                    <a:solidFill>
                      <a:srgbClr val="F5F8FD"/>
                    </a:solidFill>
                  </a:tcPr>
                </a:tc>
                <a:tc>
                  <a:txBody>
                    <a:bodyPr/>
                    <a:lstStyle/>
                    <a:p>
                      <a:pPr algn="r">
                        <a:defRPr sz="1050">
                          <a:solidFill>
                            <a:srgbClr val="141923"/>
                          </a:solidFill>
                        </a:defRPr>
                      </a:pPr>
                      <a:r>
                        <a:t>0.953</a:t>
                      </a:r>
                    </a:p>
                  </a:txBody>
                  <a:tcPr anchor="ctr" marL="91440" marR="91440">
                    <a:solidFill>
                      <a:srgbClr val="F5F8FD"/>
                    </a:solidFill>
                  </a:tcPr>
                </a:tc>
                <a:tc>
                  <a:txBody>
                    <a:bodyPr/>
                    <a:lstStyle/>
                    <a:p>
                      <a:pPr algn="r">
                        <a:defRPr sz="1050">
                          <a:solidFill>
                            <a:srgbClr val="141923"/>
                          </a:solidFill>
                        </a:defRPr>
                      </a:pPr>
                      <a:r>
                        <a:t>79.4%</a:t>
                      </a:r>
                    </a:p>
                  </a:txBody>
                  <a:tcPr anchor="ctr" marL="91440" marR="91440">
                    <a:solidFill>
                      <a:srgbClr val="F5F8FD"/>
                    </a:solidFill>
                  </a:tcPr>
                </a:tc>
                <a:tc>
                  <a:txBody>
                    <a:bodyPr/>
                    <a:lstStyle/>
                    <a:p>
                      <a:pPr algn="r">
                        <a:defRPr sz="1050">
                          <a:solidFill>
                            <a:srgbClr val="141923"/>
                          </a:solidFill>
                        </a:defRPr>
                      </a:pPr>
                      <a:r>
                        <a:t>0.955</a:t>
                      </a:r>
                    </a:p>
                  </a:txBody>
                  <a:tcPr anchor="ctr" marL="91440" marR="91440">
                    <a:solidFill>
                      <a:srgbClr val="F5F8FD"/>
                    </a:solidFill>
                  </a:tcPr>
                </a:tc>
              </a:tr>
              <a:tr h="338328">
                <a:tc>
                  <a:txBody>
                    <a:bodyPr/>
                    <a:lstStyle/>
                    <a:p>
                      <a:pPr algn="l">
                        <a:defRPr sz="1050">
                          <a:solidFill>
                            <a:srgbClr val="141923"/>
                          </a:solidFill>
                        </a:defRPr>
                      </a:pPr>
                      <a:r>
                        <a:t>7 days (random forest)</a:t>
                      </a:r>
                    </a:p>
                  </a:txBody>
                  <a:tcPr anchor="ctr" marL="91440" marR="91440">
                    <a:solidFill>
                      <a:srgbClr val="FFFFFF"/>
                    </a:solidFill>
                  </a:tcPr>
                </a:tc>
                <a:tc>
                  <a:txBody>
                    <a:bodyPr/>
                    <a:lstStyle/>
                    <a:p>
                      <a:pPr algn="r">
                        <a:defRPr sz="1050">
                          <a:solidFill>
                            <a:srgbClr val="141923"/>
                          </a:solidFill>
                        </a:defRPr>
                      </a:pPr>
                      <a:r>
                        <a:t>308.8</a:t>
                      </a:r>
                    </a:p>
                  </a:txBody>
                  <a:tcPr anchor="ctr" marL="91440" marR="91440">
                    <a:solidFill>
                      <a:srgbClr val="FFFFFF"/>
                    </a:solidFill>
                  </a:tcPr>
                </a:tc>
                <a:tc>
                  <a:txBody>
                    <a:bodyPr/>
                    <a:lstStyle/>
                    <a:p>
                      <a:pPr algn="r">
                        <a:defRPr sz="1050">
                          <a:solidFill>
                            <a:srgbClr val="141923"/>
                          </a:solidFill>
                        </a:defRPr>
                      </a:pPr>
                      <a:r>
                        <a:t>289.7</a:t>
                      </a:r>
                    </a:p>
                  </a:txBody>
                  <a:tcPr anchor="ctr" marL="91440" marR="91440">
                    <a:solidFill>
                      <a:srgbClr val="FFFFFF"/>
                    </a:solidFill>
                  </a:tcPr>
                </a:tc>
                <a:tc>
                  <a:txBody>
                    <a:bodyPr/>
                    <a:lstStyle/>
                    <a:p>
                      <a:pPr algn="r">
                        <a:defRPr sz="1050">
                          <a:solidFill>
                            <a:srgbClr val="141923"/>
                          </a:solidFill>
                        </a:defRPr>
                      </a:pPr>
                      <a:r>
                        <a:t>0.938</a:t>
                      </a:r>
                    </a:p>
                  </a:txBody>
                  <a:tcPr anchor="ctr" marL="91440" marR="91440">
                    <a:solidFill>
                      <a:srgbClr val="FFFFFF"/>
                    </a:solidFill>
                  </a:tcPr>
                </a:tc>
                <a:tc>
                  <a:txBody>
                    <a:bodyPr/>
                    <a:lstStyle/>
                    <a:p>
                      <a:pPr algn="r">
                        <a:defRPr sz="1050">
                          <a:solidFill>
                            <a:srgbClr val="141923"/>
                          </a:solidFill>
                        </a:defRPr>
                      </a:pPr>
                      <a:r>
                        <a:t>80.0%</a:t>
                      </a:r>
                    </a:p>
                  </a:txBody>
                  <a:tcPr anchor="ctr" marL="91440" marR="91440">
                    <a:solidFill>
                      <a:srgbClr val="FFFFFF"/>
                    </a:solidFill>
                  </a:tcPr>
                </a:tc>
                <a:tc>
                  <a:txBody>
                    <a:bodyPr/>
                    <a:lstStyle/>
                    <a:p>
                      <a:pPr algn="r">
                        <a:defRPr sz="1050">
                          <a:solidFill>
                            <a:srgbClr val="141923"/>
                          </a:solidFill>
                        </a:defRPr>
                      </a:pPr>
                      <a:r>
                        <a:t>0.958</a:t>
                      </a:r>
                    </a:p>
                  </a:txBody>
                  <a:tcPr anchor="ctr" marL="91440" marR="91440">
                    <a:solidFill>
                      <a:srgbClr val="FFFFFF"/>
                    </a:solidFill>
                  </a:tcPr>
                </a:tc>
              </a:tr>
              <a:tr h="338328">
                <a:tc>
                  <a:txBody>
                    <a:bodyPr/>
                    <a:lstStyle/>
                    <a:p>
                      <a:pPr algn="l">
                        <a:defRPr sz="1050">
                          <a:solidFill>
                            <a:srgbClr val="141923"/>
                          </a:solidFill>
                        </a:defRPr>
                      </a:pPr>
                      <a:r>
                        <a:t>14 days (random forest)</a:t>
                      </a:r>
                    </a:p>
                  </a:txBody>
                  <a:tcPr anchor="ctr" marL="91440" marR="91440">
                    <a:solidFill>
                      <a:srgbClr val="F5F8FD"/>
                    </a:solidFill>
                  </a:tcPr>
                </a:tc>
                <a:tc>
                  <a:txBody>
                    <a:bodyPr/>
                    <a:lstStyle/>
                    <a:p>
                      <a:pPr algn="r">
                        <a:defRPr sz="1050">
                          <a:solidFill>
                            <a:srgbClr val="141923"/>
                          </a:solidFill>
                        </a:defRPr>
                      </a:pPr>
                      <a:r>
                        <a:t>397.0</a:t>
                      </a:r>
                    </a:p>
                  </a:txBody>
                  <a:tcPr anchor="ctr" marL="91440" marR="91440">
                    <a:solidFill>
                      <a:srgbClr val="F5F8FD"/>
                    </a:solidFill>
                  </a:tcPr>
                </a:tc>
                <a:tc>
                  <a:txBody>
                    <a:bodyPr/>
                    <a:lstStyle/>
                    <a:p>
                      <a:pPr algn="r">
                        <a:defRPr sz="1050">
                          <a:solidFill>
                            <a:srgbClr val="141923"/>
                          </a:solidFill>
                        </a:defRPr>
                      </a:pPr>
                      <a:r>
                        <a:t>366.4</a:t>
                      </a:r>
                    </a:p>
                  </a:txBody>
                  <a:tcPr anchor="ctr" marL="91440" marR="91440">
                    <a:solidFill>
                      <a:srgbClr val="F5F8FD"/>
                    </a:solidFill>
                  </a:tcPr>
                </a:tc>
                <a:tc>
                  <a:txBody>
                    <a:bodyPr/>
                    <a:lstStyle/>
                    <a:p>
                      <a:pPr algn="r">
                        <a:defRPr sz="1050">
                          <a:solidFill>
                            <a:srgbClr val="141923"/>
                          </a:solidFill>
                        </a:defRPr>
                      </a:pPr>
                      <a:r>
                        <a:t>0.923</a:t>
                      </a:r>
                    </a:p>
                  </a:txBody>
                  <a:tcPr anchor="ctr" marL="91440" marR="91440">
                    <a:solidFill>
                      <a:srgbClr val="F5F8FD"/>
                    </a:solidFill>
                  </a:tcPr>
                </a:tc>
                <a:tc>
                  <a:txBody>
                    <a:bodyPr/>
                    <a:lstStyle/>
                    <a:p>
                      <a:pPr algn="r">
                        <a:defRPr sz="1050">
                          <a:solidFill>
                            <a:srgbClr val="141923"/>
                          </a:solidFill>
                        </a:defRPr>
                      </a:pPr>
                      <a:r>
                        <a:t>80.5%</a:t>
                      </a:r>
                    </a:p>
                  </a:txBody>
                  <a:tcPr anchor="ctr" marL="91440" marR="91440">
                    <a:solidFill>
                      <a:srgbClr val="F5F8FD"/>
                    </a:solidFill>
                  </a:tcPr>
                </a:tc>
                <a:tc>
                  <a:txBody>
                    <a:bodyPr/>
                    <a:lstStyle/>
                    <a:p>
                      <a:pPr algn="r">
                        <a:defRPr sz="1050">
                          <a:solidFill>
                            <a:srgbClr val="141923"/>
                          </a:solidFill>
                        </a:defRPr>
                      </a:pPr>
                      <a:r>
                        <a:t>0.952</a:t>
                      </a:r>
                    </a:p>
                  </a:txBody>
                  <a:tcPr anchor="ctr" marL="91440" marR="91440">
                    <a:solidFill>
                      <a:srgbClr val="F5F8FD"/>
                    </a:solidFill>
                  </a:tcPr>
                </a:tc>
              </a:tr>
            </a:tbl>
          </a:graphicData>
        </a:graphic>
      </p:graphicFrame>
      <p:sp>
        <p:nvSpPr>
          <p:cNvPr id="12" name="Rounded Rectangle 11"/>
          <p:cNvSpPr/>
          <p:nvPr/>
        </p:nvSpPr>
        <p:spPr>
          <a:xfrm>
            <a:off x="548640" y="3657600"/>
            <a:ext cx="5349240" cy="2606040"/>
          </a:xfrm>
          <a:prstGeom prst="roundRect">
            <a:avLst/>
          </a:prstGeom>
          <a:solidFill>
            <a:srgbClr val="F1F4FA"/>
          </a:solidFill>
          <a:ln w="12700">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3657600"/>
            <a:ext cx="5349240" cy="384048"/>
          </a:xfrm>
          <a:prstGeom prst="roundRect">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712463"/>
            <a:ext cx="4983479" cy="292607"/>
          </a:xfrm>
          <a:prstGeom prst="rect">
            <a:avLst/>
          </a:prstGeom>
          <a:noFill/>
        </p:spPr>
        <p:txBody>
          <a:bodyPr wrap="square" lIns="0" tIns="0" rIns="0" bIns="0">
            <a:spAutoFit/>
          </a:bodyPr>
          <a:lstStyle/>
          <a:p>
            <a:pPr>
              <a:defRPr sz="1300" b="1">
                <a:solidFill>
                  <a:srgbClr val="FFFFFF"/>
                </a:solidFill>
              </a:defRPr>
            </a:pPr>
            <a:r>
              <a:t>What the results mean</a:t>
            </a:r>
          </a:p>
        </p:txBody>
      </p:sp>
      <p:sp>
        <p:nvSpPr>
          <p:cNvPr id="15" name="TextBox 14"/>
          <p:cNvSpPr txBox="1"/>
          <p:nvPr/>
        </p:nvSpPr>
        <p:spPr>
          <a:xfrm>
            <a:off x="749808" y="4133087"/>
            <a:ext cx="4946903" cy="2057400"/>
          </a:xfrm>
          <a:prstGeom prst="rect">
            <a:avLst/>
          </a:prstGeom>
          <a:noFill/>
        </p:spPr>
        <p:txBody>
          <a:bodyPr wrap="square" lIns="0" tIns="0" rIns="0" bIns="0">
            <a:spAutoFit/>
          </a:bodyPr>
          <a:lstStyle/>
          <a:p>
            <a:pPr>
              <a:defRPr sz="1100" b="1">
                <a:solidFill>
                  <a:srgbClr val="008232"/>
                </a:solidFill>
              </a:defRPr>
            </a:pPr>
            <a:r>
              <a:t>• 3–8% lower error than persistence; Diebold–Mariano p ≤ 1.3e-22 at every horizon.</a:t>
            </a:r>
          </a:p>
          <a:p>
            <a:pPr>
              <a:spcBef>
                <a:spcPts val="400"/>
              </a:spcBef>
              <a:defRPr sz="1050">
                <a:solidFill>
                  <a:srgbClr val="141923"/>
                </a:solidFill>
              </a:defRPr>
            </a:pPr>
            <a:r>
              <a:t>• Better than persistence on 58.5–76.4% of series; 80% intervals cover 78.6–80.5%.</a:t>
            </a:r>
          </a:p>
          <a:p>
            <a:pPr>
              <a:spcBef>
                <a:spcPts val="400"/>
              </a:spcBef>
              <a:defRPr sz="1050">
                <a:solidFill>
                  <a:srgbClr val="141923"/>
                </a:solidFill>
              </a:defRPr>
            </a:pPr>
            <a:r>
              <a:t>• Cards (7 d): WATCH 98.5% of days; HOLD 0.5% (hit 80.0%); SELL 1.0% (hit 67.8%).</a:t>
            </a:r>
          </a:p>
          <a:p>
            <a:pPr>
              <a:spcBef>
                <a:spcPts val="400"/>
              </a:spcBef>
              <a:defRPr sz="1050" b="1">
                <a:solidFill>
                  <a:srgbClr val="1B2A6B"/>
                </a:solidFill>
              </a:defRPr>
            </a:pPr>
            <a:r>
              <a:t>• Anomaly flags (injected corruptions only): PR-AUC 0.704 vs 0.352 legacy IQR. No real-anomaly accuracy is claimed.</a:t>
            </a:r>
          </a:p>
        </p:txBody>
      </p:sp>
      <p:sp>
        <p:nvSpPr>
          <p:cNvPr id="16" name="Rounded Rectangle 15"/>
          <p:cNvSpPr/>
          <p:nvPr/>
        </p:nvSpPr>
        <p:spPr>
          <a:xfrm>
            <a:off x="6263640" y="3657600"/>
            <a:ext cx="5349240" cy="2606040"/>
          </a:xfrm>
          <a:prstGeom prst="roundRect">
            <a:avLst/>
          </a:prstGeom>
          <a:solidFill>
            <a:srgbClr val="F1F4FA"/>
          </a:solidFill>
          <a:ln w="12700">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3657600"/>
            <a:ext cx="5349240" cy="384048"/>
          </a:xfrm>
          <a:prstGeom prst="roundRect">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712463"/>
            <a:ext cx="4983479" cy="292607"/>
          </a:xfrm>
          <a:prstGeom prst="rect">
            <a:avLst/>
          </a:prstGeom>
          <a:noFill/>
        </p:spPr>
        <p:txBody>
          <a:bodyPr wrap="square" lIns="0" tIns="0" rIns="0" bIns="0">
            <a:spAutoFit/>
          </a:bodyPr>
          <a:lstStyle/>
          <a:p>
            <a:pPr>
              <a:defRPr sz="1300" b="1">
                <a:solidFill>
                  <a:srgbClr val="FFFFFF"/>
                </a:solidFill>
              </a:defRPr>
            </a:pPr>
            <a:r>
              <a:t>Streaming and storage results</a:t>
            </a:r>
          </a:p>
        </p:txBody>
      </p:sp>
      <p:sp>
        <p:nvSpPr>
          <p:cNvPr id="19" name="TextBox 18"/>
          <p:cNvSpPr txBox="1"/>
          <p:nvPr/>
        </p:nvSpPr>
        <p:spPr>
          <a:xfrm>
            <a:off x="6464807" y="4133087"/>
            <a:ext cx="4946903" cy="2057400"/>
          </a:xfrm>
          <a:prstGeom prst="rect">
            <a:avLst/>
          </a:prstGeom>
          <a:noFill/>
        </p:spPr>
        <p:txBody>
          <a:bodyPr wrap="square" lIns="0" tIns="0" rIns="0" bIns="0">
            <a:spAutoFit/>
          </a:bodyPr>
          <a:lstStyle/>
          <a:p>
            <a:pPr>
              <a:defRPr sz="1200" b="1">
                <a:solidFill>
                  <a:srgbClr val="A30000"/>
                </a:solidFill>
              </a:defRPr>
            </a:pPr>
            <a:r>
              <a:t>Replay: 21,524 Kafka messages.</a:t>
            </a:r>
          </a:p>
          <a:p>
            <a:pPr>
              <a:spcBef>
                <a:spcPts val="500"/>
              </a:spcBef>
              <a:defRPr sz="1050">
                <a:solidFill>
                  <a:srgbClr val="141923"/>
                </a:solidFill>
              </a:defRPr>
            </a:pPr>
            <a:r>
              <a:t>• 20,000 to silver + 1,317 duplicates removed + 207 quarantined; 0 missing.</a:t>
            </a:r>
          </a:p>
          <a:p>
            <a:pPr>
              <a:spcBef>
                <a:spcPts val="400"/>
              </a:spcBef>
              <a:defRPr sz="1050">
                <a:solidFill>
                  <a:srgbClr val="141923"/>
                </a:solidFill>
              </a:defRPr>
            </a:pPr>
            <a:r>
              <a:t>• Batch/stream parity: 0 mismatches. Producer→sink latency p50: 1.69 s.</a:t>
            </a:r>
          </a:p>
          <a:p>
            <a:pPr>
              <a:spcBef>
                <a:spcPts val="400"/>
              </a:spcBef>
              <a:defRPr sz="1050">
                <a:solidFill>
                  <a:srgbClr val="141923"/>
                </a:solidFill>
              </a:defRPr>
            </a:pPr>
            <a:r>
              <a:t>• Live pull 2026-10-23: 4/4 records through Kafka to silver.</a:t>
            </a:r>
          </a:p>
          <a:p>
            <a:pPr>
              <a:spcBef>
                <a:spcPts val="400"/>
              </a:spcBef>
              <a:defRPr sz="1050">
                <a:solidFill>
                  <a:srgbClr val="555F6E"/>
                </a:solidFill>
              </a:defRPr>
            </a:pPr>
            <a:r>
              <a:t>• HDFS: 692 MB silver, replication 3, HEALTHY; readable with 1 DataNode down.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92240"/>
            <a:ext cx="2560320" cy="365760"/>
          </a:xfrm>
          <a:prstGeom prst="rect">
            <a:avLst/>
          </a:prstGeom>
          <a:solidFill>
            <a:srgbClr val="A30000"/>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b="1">
                <a:solidFill>
                  <a:srgbClr val="FFFFFF"/>
                </a:solidFill>
              </a:defRPr>
            </a:pPr>
            <a:r>
              <a:t>Team AG-DATA / 23AID302</a:t>
            </a:r>
          </a:p>
        </p:txBody>
      </p:sp>
      <p:sp>
        <p:nvSpPr>
          <p:cNvPr id="4" name="Rectangle 3"/>
          <p:cNvSpPr/>
          <p:nvPr/>
        </p:nvSpPr>
        <p:spPr>
          <a:xfrm>
            <a:off x="2560320" y="6492240"/>
            <a:ext cx="7802575" cy="365760"/>
          </a:xfrm>
          <a:prstGeom prst="rect">
            <a:avLst/>
          </a:prstGeom>
          <a:solidFill>
            <a:srgbClr val="EAEDF2"/>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a:solidFill>
                  <a:srgbClr val="A30000"/>
                </a:solidFill>
              </a:defRPr>
            </a:pPr>
            <a:r>
              <a:t>Agricultural Commodity Price Analysis and Decision Support</a:t>
            </a:r>
          </a:p>
        </p:txBody>
      </p:sp>
      <p:sp>
        <p:nvSpPr>
          <p:cNvPr id="5" name="Rectangle 4"/>
          <p:cNvSpPr/>
          <p:nvPr/>
        </p:nvSpPr>
        <p:spPr>
          <a:xfrm>
            <a:off x="10362895" y="6492240"/>
            <a:ext cx="1828800" cy="365760"/>
          </a:xfrm>
          <a:prstGeom prst="rect">
            <a:avLst/>
          </a:prstGeom>
          <a:solidFill>
            <a:srgbClr val="DEE2E8"/>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b="1">
                <a:solidFill>
                  <a:srgbClr val="141923"/>
                </a:solidFill>
              </a:defRPr>
            </a:pPr>
            <a:r>
              <a:t>9 / 10</a:t>
            </a:r>
          </a:p>
        </p:txBody>
      </p:sp>
      <p:sp>
        <p:nvSpPr>
          <p:cNvPr id="6" name="TextBox 5"/>
          <p:cNvSpPr txBox="1"/>
          <p:nvPr/>
        </p:nvSpPr>
        <p:spPr>
          <a:xfrm>
            <a:off x="548640" y="292608"/>
            <a:ext cx="11094415" cy="594360"/>
          </a:xfrm>
          <a:prstGeom prst="rect">
            <a:avLst/>
          </a:prstGeom>
          <a:noFill/>
        </p:spPr>
        <p:txBody>
          <a:bodyPr wrap="square" lIns="0" tIns="0" rIns="0" bIns="0">
            <a:spAutoFit/>
          </a:bodyPr>
          <a:lstStyle/>
          <a:p>
            <a:pPr>
              <a:defRPr sz="2200" b="1">
                <a:solidFill>
                  <a:srgbClr val="A30000"/>
                </a:solidFill>
              </a:defRPr>
            </a:pPr>
            <a:r>
              <a:t>8. Challenges, Limits and Next Steps</a:t>
            </a:r>
          </a:p>
        </p:txBody>
      </p:sp>
      <p:sp>
        <p:nvSpPr>
          <p:cNvPr id="7" name="Rounded Rectangle 6"/>
          <p:cNvSpPr/>
          <p:nvPr/>
        </p:nvSpPr>
        <p:spPr>
          <a:xfrm>
            <a:off x="548640" y="1051560"/>
            <a:ext cx="5349240" cy="2926080"/>
          </a:xfrm>
          <a:prstGeom prst="roundRect">
            <a:avLst/>
          </a:prstGeom>
          <a:solidFill>
            <a:srgbClr val="F1F4FA"/>
          </a:solidFill>
          <a:ln w="12700">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051560"/>
            <a:ext cx="5349240" cy="384048"/>
          </a:xfrm>
          <a:prstGeom prst="roundRect">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06424"/>
            <a:ext cx="4983479" cy="292607"/>
          </a:xfrm>
          <a:prstGeom prst="rect">
            <a:avLst/>
          </a:prstGeom>
          <a:noFill/>
        </p:spPr>
        <p:txBody>
          <a:bodyPr wrap="square" lIns="0" tIns="0" rIns="0" bIns="0">
            <a:spAutoFit/>
          </a:bodyPr>
          <a:lstStyle/>
          <a:p>
            <a:pPr>
              <a:defRPr sz="1300" b="1">
                <a:solidFill>
                  <a:srgbClr val="FFFFFF"/>
                </a:solidFill>
              </a:defRPr>
            </a:pPr>
            <a:r>
              <a:t>Challenges we handled</a:t>
            </a:r>
          </a:p>
        </p:txBody>
      </p:sp>
      <p:sp>
        <p:nvSpPr>
          <p:cNvPr id="10" name="TextBox 9"/>
          <p:cNvSpPr txBox="1"/>
          <p:nvPr/>
        </p:nvSpPr>
        <p:spPr>
          <a:xfrm>
            <a:off x="749808" y="1527048"/>
            <a:ext cx="4946903" cy="2377440"/>
          </a:xfrm>
          <a:prstGeom prst="rect">
            <a:avLst/>
          </a:prstGeom>
          <a:noFill/>
        </p:spPr>
        <p:txBody>
          <a:bodyPr wrap="square" lIns="0" tIns="0" rIns="0" bIns="0">
            <a:spAutoFit/>
          </a:bodyPr>
          <a:lstStyle/>
          <a:p>
            <a:pPr>
              <a:defRPr sz="1100">
                <a:solidFill>
                  <a:srgbClr val="141923"/>
                </a:solidFill>
              </a:defRPr>
            </a:pPr>
            <a:r>
              <a:t>• JDK 21 reflection blocked Spark; solved via JVM --add-opens flags.</a:t>
            </a:r>
          </a:p>
          <a:p>
            <a:pPr>
              <a:spcBef>
                <a:spcPts val="400"/>
              </a:spcBef>
              <a:defRPr sz="1100">
                <a:solidFill>
                  <a:srgbClr val="141923"/>
                </a:solidFill>
              </a:defRPr>
            </a:pPr>
            <a:r>
              <a:t>• Malformed dates handled by try_to_date instead of failing jobs.</a:t>
            </a:r>
          </a:p>
          <a:p>
            <a:pPr>
              <a:spcBef>
                <a:spcPts val="400"/>
              </a:spcBef>
              <a:defRPr sz="1100">
                <a:solidFill>
                  <a:srgbClr val="141923"/>
                </a:solidFill>
              </a:defRPr>
            </a:pPr>
            <a:r>
              <a:t>• Persistence is hard to beat (17–34% zero changes): absolute-loss GBT was needed.</a:t>
            </a:r>
          </a:p>
          <a:p>
            <a:pPr>
              <a:spcBef>
                <a:spcPts val="400"/>
              </a:spcBef>
              <a:defRPr sz="1100">
                <a:solidFill>
                  <a:srgbClr val="141923"/>
                </a:solidFill>
              </a:defRPr>
            </a:pPr>
            <a:r>
              <a:t>• The archive mirror missed 70% of recent reports; we back-filled official data.</a:t>
            </a:r>
          </a:p>
        </p:txBody>
      </p:sp>
      <p:sp>
        <p:nvSpPr>
          <p:cNvPr id="11" name="Rounded Rectangle 10"/>
          <p:cNvSpPr/>
          <p:nvPr/>
        </p:nvSpPr>
        <p:spPr>
          <a:xfrm>
            <a:off x="6263640" y="1051560"/>
            <a:ext cx="5349240" cy="2926080"/>
          </a:xfrm>
          <a:prstGeom prst="roundRect">
            <a:avLst/>
          </a:prstGeom>
          <a:solidFill>
            <a:srgbClr val="F1F4FA"/>
          </a:solidFill>
          <a:ln w="12700">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63640" y="1051560"/>
            <a:ext cx="5349240" cy="384048"/>
          </a:xfrm>
          <a:prstGeom prst="roundRect">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106424"/>
            <a:ext cx="4983479" cy="292607"/>
          </a:xfrm>
          <a:prstGeom prst="rect">
            <a:avLst/>
          </a:prstGeom>
          <a:noFill/>
        </p:spPr>
        <p:txBody>
          <a:bodyPr wrap="square" lIns="0" tIns="0" rIns="0" bIns="0">
            <a:spAutoFit/>
          </a:bodyPr>
          <a:lstStyle/>
          <a:p>
            <a:pPr>
              <a:defRPr sz="1300" b="1">
                <a:solidFill>
                  <a:srgbClr val="FFFFFF"/>
                </a:solidFill>
              </a:defRPr>
            </a:pPr>
            <a:r>
              <a:t>Limits and next steps</a:t>
            </a:r>
          </a:p>
        </p:txBody>
      </p:sp>
      <p:sp>
        <p:nvSpPr>
          <p:cNvPr id="14" name="TextBox 13"/>
          <p:cNvSpPr txBox="1"/>
          <p:nvPr/>
        </p:nvSpPr>
        <p:spPr>
          <a:xfrm>
            <a:off x="6464807" y="1527048"/>
            <a:ext cx="4946903" cy="2377440"/>
          </a:xfrm>
          <a:prstGeom prst="rect">
            <a:avLst/>
          </a:prstGeom>
          <a:noFill/>
        </p:spPr>
        <p:txBody>
          <a:bodyPr wrap="square" lIns="0" tIns="0" rIns="0" bIns="0">
            <a:spAutoFit/>
          </a:bodyPr>
          <a:lstStyle/>
          <a:p>
            <a:pPr>
              <a:defRPr sz="1100">
                <a:solidFill>
                  <a:srgbClr val="141923"/>
                </a:solidFill>
              </a:defRPr>
            </a:pPr>
            <a:r>
              <a:t>• Local Spark (local[*]) and a one-host Docker cluster, not multi-node YARN.</a:t>
            </a:r>
          </a:p>
          <a:p>
            <a:pPr>
              <a:spcBef>
                <a:spcPts val="400"/>
              </a:spcBef>
              <a:defRPr sz="1100">
                <a:solidFill>
                  <a:srgbClr val="141923"/>
                </a:solidFill>
              </a:defRPr>
            </a:pPr>
            <a:r>
              <a:t>• HDFS replicas share one disk; single NameNode (no HA).</a:t>
            </a:r>
          </a:p>
          <a:p>
            <a:pPr>
              <a:spcBef>
                <a:spcPts val="400"/>
              </a:spcBef>
              <a:defRPr sz="1100">
                <a:solidFill>
                  <a:srgbClr val="141923"/>
                </a:solidFill>
              </a:defRPr>
            </a:pPr>
            <a:r>
              <a:t>• Gains over persistence are modest; per-series smoothing matches us at 1–3 days.</a:t>
            </a:r>
          </a:p>
          <a:p>
            <a:pPr>
              <a:spcBef>
                <a:spcPts val="400"/>
              </a:spcBef>
              <a:defRPr sz="1100">
                <a:solidFill>
                  <a:srgbClr val="141923"/>
                </a:solidFill>
              </a:defRPr>
            </a:pPr>
            <a:r>
              <a:t>• No public deployment yet; decision-card hit rates are not farm profits.</a:t>
            </a:r>
          </a:p>
        </p:txBody>
      </p:sp>
      <p:sp>
        <p:nvSpPr>
          <p:cNvPr id="15" name="Rounded Rectangle 14"/>
          <p:cNvSpPr/>
          <p:nvPr/>
        </p:nvSpPr>
        <p:spPr>
          <a:xfrm>
            <a:off x="548640" y="4160520"/>
            <a:ext cx="11064240" cy="1325880"/>
          </a:xfrm>
          <a:prstGeom prst="roundRect">
            <a:avLst/>
          </a:prstGeom>
          <a:solidFill>
            <a:srgbClr val="F1F4FA"/>
          </a:solidFill>
          <a:ln w="12700">
            <a:solidFill>
              <a:srgbClr val="D2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4160520"/>
            <a:ext cx="11064240" cy="347472"/>
          </a:xfrm>
          <a:prstGeom prst="roundRect">
            <a:avLst/>
          </a:prstGeom>
          <a:solidFill>
            <a:srgbClr val="1B2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206240"/>
            <a:ext cx="10698480" cy="256032"/>
          </a:xfrm>
          <a:prstGeom prst="rect">
            <a:avLst/>
          </a:prstGeom>
          <a:noFill/>
        </p:spPr>
        <p:txBody>
          <a:bodyPr wrap="square" lIns="0" tIns="0" rIns="0" bIns="0">
            <a:spAutoFit/>
          </a:bodyPr>
          <a:lstStyle/>
          <a:p>
            <a:pPr>
              <a:defRPr sz="1200" b="1">
                <a:solidFill>
                  <a:srgbClr val="FFFFFF"/>
                </a:solidFill>
              </a:defRPr>
            </a:pPr>
            <a:r>
              <a:t>What changed since v1, and why?</a:t>
            </a:r>
          </a:p>
        </p:txBody>
      </p:sp>
      <p:sp>
        <p:nvSpPr>
          <p:cNvPr id="18" name="TextBox 17"/>
          <p:cNvSpPr txBox="1"/>
          <p:nvPr/>
        </p:nvSpPr>
        <p:spPr>
          <a:xfrm>
            <a:off x="777240" y="4599431"/>
            <a:ext cx="10607040" cy="813815"/>
          </a:xfrm>
          <a:prstGeom prst="rect">
            <a:avLst/>
          </a:prstGeom>
          <a:noFill/>
        </p:spPr>
        <p:txBody>
          <a:bodyPr wrap="square" lIns="0" tIns="0" rIns="0" bIns="0">
            <a:spAutoFit/>
          </a:bodyPr>
          <a:lstStyle/>
          <a:p>
            <a:pPr>
              <a:defRPr sz="1100">
                <a:solidFill>
                  <a:srgbClr val="141923"/>
                </a:solidFill>
              </a:defRPr>
            </a:pPr>
            <a:r>
              <a:t>v1 reported an anomaly classifier with very high accuracy and Kafka throughput/latency figures. No code or log produces them, the v1 labels were functions of the features, and its bounds were fitted on test years, so they are withdrawn (docs/AUDIT_PRIOR_RESULTS.md). The project now leads with an honestly evaluated forecasting benchmark.</a:t>
            </a:r>
          </a:p>
        </p:txBody>
      </p:sp>
      <p:sp>
        <p:nvSpPr>
          <p:cNvPr id="19" name="TextBox 18"/>
          <p:cNvSpPr txBox="1"/>
          <p:nvPr/>
        </p:nvSpPr>
        <p:spPr>
          <a:xfrm>
            <a:off x="548640" y="5623560"/>
            <a:ext cx="11064240" cy="365760"/>
          </a:xfrm>
          <a:prstGeom prst="rect">
            <a:avLst/>
          </a:prstGeom>
          <a:noFill/>
        </p:spPr>
        <p:txBody>
          <a:bodyPr wrap="none">
            <a:spAutoFit/>
          </a:bodyPr>
          <a:lstStyle/>
          <a:p>
            <a:pPr>
              <a:defRPr sz="1150" b="1">
                <a:solidFill>
                  <a:srgbClr val="141923"/>
                </a:solidFill>
              </a:defRPr>
            </a:pPr>
            <a:r>
              <a:t>Conclusion: 3–8% lower error than persistence at all horizons, calibrated 80% intervals, gains that hold on six unseen months.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92240"/>
            <a:ext cx="2560320" cy="365760"/>
          </a:xfrm>
          <a:prstGeom prst="rect">
            <a:avLst/>
          </a:prstGeom>
          <a:solidFill>
            <a:srgbClr val="A30000"/>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b="1">
                <a:solidFill>
                  <a:srgbClr val="FFFFFF"/>
                </a:solidFill>
              </a:defRPr>
            </a:pPr>
            <a:r>
              <a:t>Team AG-DATA / 23AID302</a:t>
            </a:r>
          </a:p>
        </p:txBody>
      </p:sp>
      <p:sp>
        <p:nvSpPr>
          <p:cNvPr id="4" name="Rectangle 3"/>
          <p:cNvSpPr/>
          <p:nvPr/>
        </p:nvSpPr>
        <p:spPr>
          <a:xfrm>
            <a:off x="2560320" y="6492240"/>
            <a:ext cx="7802575" cy="365760"/>
          </a:xfrm>
          <a:prstGeom prst="rect">
            <a:avLst/>
          </a:prstGeom>
          <a:solidFill>
            <a:srgbClr val="EAEDF2"/>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a:solidFill>
                  <a:srgbClr val="A30000"/>
                </a:solidFill>
              </a:defRPr>
            </a:pPr>
            <a:r>
              <a:t>Agricultural Commodity Price Analysis and Decision Support</a:t>
            </a:r>
          </a:p>
        </p:txBody>
      </p:sp>
      <p:sp>
        <p:nvSpPr>
          <p:cNvPr id="5" name="Rectangle 4"/>
          <p:cNvSpPr/>
          <p:nvPr/>
        </p:nvSpPr>
        <p:spPr>
          <a:xfrm>
            <a:off x="10362895" y="6492240"/>
            <a:ext cx="1828800" cy="365760"/>
          </a:xfrm>
          <a:prstGeom prst="rect">
            <a:avLst/>
          </a:prstGeom>
          <a:solidFill>
            <a:srgbClr val="DEE2E8"/>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050" b="1">
                <a:solidFill>
                  <a:srgbClr val="141923"/>
                </a:solidFill>
              </a:defRPr>
            </a:pPr>
            <a:r>
              <a:t>10 / 10</a:t>
            </a:r>
          </a:p>
        </p:txBody>
      </p:sp>
      <p:sp>
        <p:nvSpPr>
          <p:cNvPr id="6" name="TextBox 5"/>
          <p:cNvSpPr txBox="1"/>
          <p:nvPr/>
        </p:nvSpPr>
        <p:spPr>
          <a:xfrm>
            <a:off x="548640" y="292608"/>
            <a:ext cx="11094415" cy="594360"/>
          </a:xfrm>
          <a:prstGeom prst="rect">
            <a:avLst/>
          </a:prstGeom>
          <a:noFill/>
        </p:spPr>
        <p:txBody>
          <a:bodyPr wrap="square" lIns="0" tIns="0" rIns="0" bIns="0">
            <a:spAutoFit/>
          </a:bodyPr>
          <a:lstStyle/>
          <a:p>
            <a:pPr>
              <a:defRPr sz="2200" b="1">
                <a:solidFill>
                  <a:srgbClr val="A30000"/>
                </a:solidFill>
              </a:defRPr>
            </a:pPr>
            <a:r>
              <a:t>9. References</a:t>
            </a:r>
          </a:p>
        </p:txBody>
      </p:sp>
      <p:sp>
        <p:nvSpPr>
          <p:cNvPr id="7" name="TextBox 6"/>
          <p:cNvSpPr txBox="1"/>
          <p:nvPr/>
        </p:nvSpPr>
        <p:spPr>
          <a:xfrm>
            <a:off x="731520" y="1051560"/>
            <a:ext cx="10728655" cy="2926080"/>
          </a:xfrm>
          <a:prstGeom prst="rect">
            <a:avLst/>
          </a:prstGeom>
          <a:noFill/>
        </p:spPr>
        <p:txBody>
          <a:bodyPr wrap="square">
            <a:spAutoFit/>
          </a:bodyPr>
          <a:lstStyle/>
          <a:p>
            <a:pPr>
              <a:defRPr sz="1200" b="1">
                <a:solidFill>
                  <a:srgbClr val="1B2A6B"/>
                </a:solidFill>
              </a:defRPr>
            </a:pPr>
            <a:r>
              <a:t>1  Apache Spark: DataFrames, machine learning and Structured Streaming.</a:t>
            </a:r>
          </a:p>
          <a:p>
            <a:pPr>
              <a:defRPr sz="1100">
                <a:solidFill>
                  <a:srgbClr val="A30000"/>
                </a:solidFill>
              </a:defRPr>
            </a:pPr>
            <a:r>
              <a:t>    https://spark.apache.org/docs/4.2.0/</a:t>
            </a:r>
          </a:p>
          <a:p>
            <a:pPr>
              <a:spcBef>
                <a:spcPts val="800"/>
              </a:spcBef>
              <a:defRPr sz="1200" b="1">
                <a:solidFill>
                  <a:srgbClr val="1B2A6B"/>
                </a:solidFill>
              </a:defRPr>
            </a:pPr>
            <a:r>
              <a:t>2  Apache Hadoop: HDFS distributed storage architecture.</a:t>
            </a:r>
          </a:p>
          <a:p>
            <a:pPr>
              <a:defRPr sz="1100">
                <a:solidFill>
                  <a:srgbClr val="A30000"/>
                </a:solidFill>
              </a:defRPr>
            </a:pPr>
            <a:r>
              <a:t>    https://hadoop.apache.org/docs/r3.3.6/</a:t>
            </a:r>
          </a:p>
          <a:p>
            <a:pPr>
              <a:spcBef>
                <a:spcPts val="800"/>
              </a:spcBef>
              <a:defRPr sz="1200" b="1">
                <a:solidFill>
                  <a:srgbClr val="1B2A6B"/>
                </a:solidFill>
              </a:defRPr>
            </a:pPr>
            <a:r>
              <a:t>3  Agmarknet: Indian agricultural market daily price portals (2001–2026).</a:t>
            </a:r>
          </a:p>
          <a:p>
            <a:pPr>
              <a:defRPr sz="1100">
                <a:solidFill>
                  <a:srgbClr val="A30000"/>
                </a:solidFill>
              </a:defRPr>
            </a:pPr>
            <a:r>
              <a:t>    https://agmarknet.gov.in/</a:t>
            </a:r>
          </a:p>
          <a:p>
            <a:pPr>
              <a:spcBef>
                <a:spcPts val="800"/>
              </a:spcBef>
              <a:defRPr sz="1200" b="1">
                <a:solidFill>
                  <a:srgbClr val="1B2A6B"/>
                </a:solidFill>
              </a:defRPr>
            </a:pPr>
            <a:r>
              <a:t>4  Chambers, B., &amp; Zaharia, M. (2018). Spark: The Definitive Guide. O'Reilly Media.</a:t>
            </a:r>
          </a:p>
          <a:p>
            <a:pPr>
              <a:defRPr sz="1100">
                <a:solidFill>
                  <a:srgbClr val="A30000"/>
                </a:solidFill>
              </a:defRPr>
            </a:pPr>
            <a:r>
              <a:t>    https://www.oreilly.com/library/view/spark-the-definitive/9781491912201/</a:t>
            </a:r>
          </a:p>
        </p:txBody>
      </p:sp>
      <p:sp>
        <p:nvSpPr>
          <p:cNvPr id="8" name="TextBox 7"/>
          <p:cNvSpPr txBox="1"/>
          <p:nvPr/>
        </p:nvSpPr>
        <p:spPr>
          <a:xfrm>
            <a:off x="731520" y="4114800"/>
            <a:ext cx="10728655" cy="548640"/>
          </a:xfrm>
          <a:prstGeom prst="rect">
            <a:avLst/>
          </a:prstGeom>
          <a:noFill/>
        </p:spPr>
        <p:txBody>
          <a:bodyPr wrap="none">
            <a:spAutoFit/>
          </a:bodyPr>
          <a:lstStyle/>
          <a:p>
            <a:pPr>
              <a:defRPr sz="1200" b="1">
                <a:solidFill>
                  <a:srgbClr val="141923"/>
                </a:solidFill>
              </a:defRPr>
            </a:pPr>
            <a:r>
              <a:t>Project evidence: GitHub repository https://github.com/kaushalrog/AG-DATA; every figure with its source in docs/VERIFIED_METRICS.md.</a:t>
            </a:r>
          </a:p>
        </p:txBody>
      </p:sp>
      <p:sp>
        <p:nvSpPr>
          <p:cNvPr id="9" name="TextBox 8"/>
          <p:cNvSpPr txBox="1"/>
          <p:nvPr/>
        </p:nvSpPr>
        <p:spPr>
          <a:xfrm>
            <a:off x="731520" y="4892040"/>
            <a:ext cx="10728655" cy="1097280"/>
          </a:xfrm>
          <a:prstGeom prst="rect">
            <a:avLst/>
          </a:prstGeom>
          <a:noFill/>
        </p:spPr>
        <p:txBody>
          <a:bodyPr wrap="none">
            <a:spAutoFit/>
          </a:bodyPr>
          <a:lstStyle/>
          <a:p>
            <a:pPr algn="ctr">
              <a:defRPr sz="3600" b="1">
                <a:solidFill>
                  <a:srgbClr val="A30000"/>
                </a:solidFill>
              </a:defRPr>
            </a:pPr>
            <a: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