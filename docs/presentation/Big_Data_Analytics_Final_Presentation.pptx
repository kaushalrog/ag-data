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EDF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 PRESENTER SCRIPT (60-90 SECONDS) ===</a:t>
            </a:r>
          </a:p>
          <a:p>
            <a:r>
              <a:t>Good morning Dr. Sreeja and evaluators. Today, our team presents our Big Data Analytics final project: Agricultural Commodity Price Forecasting and Market Analysis using Hadoop HDFS and Apache Spark. Our team members are Rishitha, Karthikeya, Ashwin, and Kaushal. The goal of this project is to build an end-to-end distributed data engineering and analytics pipeline capable of processing 132.86 million real agricultural market records, detecting price anomalies with machine learning, and streaming market alerts in real time.</a:t>
            </a:r>
          </a:p>
          <a:p/>
          <a:p>
            <a:r>
              <a:t>=== MAIN TECHNICAL POINT ===</a:t>
            </a:r>
          </a:p>
          <a:p>
            <a:r>
              <a:t>Team and faculty title slide matching the exact 23AID302 course reference format.</a:t>
            </a:r>
          </a:p>
          <a:p/>
          <a:p>
            <a:r>
              <a:t>=== LIKELY FACULTY QUESTION ===</a:t>
            </a:r>
          </a:p>
          <a:p>
            <a:r>
              <a:t>What is the core Big Data focus of this project?</a:t>
            </a:r>
          </a:p>
          <a:p/>
          <a:p>
            <a:r>
              <a:t>=== SHORT, DEFENSIBLE ANSWER ===</a:t>
            </a:r>
          </a:p>
          <a:p>
            <a:r>
              <a:t>Ma'am, our core focus is distributed data architecture: distributed storage using HDFS replication, scalable in-memory feature engineering and deduplication in Apache Spark, machine learning using Spark MLlib, and real-time micro-batch processing using Apache Kafka.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 PRESENTER SCRIPT (60-90 SECONDS) ===</a:t>
            </a:r>
          </a:p>
          <a:p>
            <a:r>
              <a:t>Slide 2 defines what we are trying to find. On the left, we look for unusual mandi price fluctuations: identifying sudden price spikes or crashes that distort wholesale trading. On the right, our domain motivation is farmer decision support: providing actionable guidance such as SELL before a glut, or HOLD during an artificial panic. In the bottom callout box, we address why Big Data tools are needed: with over 132 million records, single-node tools like Pandas exhaust memory. HDFS stores the data across replicated blocks, while Spark distributes the feature engineering and MLlib computations across CPU cores.</a:t>
            </a:r>
          </a:p>
          <a:p/>
          <a:p>
            <a:r>
              <a:t>=== MAIN TECHNICAL POINT ===</a:t>
            </a:r>
          </a:p>
          <a:p>
            <a:r>
              <a:t>Problem formulation, domain objective, and big data justification using the reference layout.</a:t>
            </a:r>
          </a:p>
          <a:p/>
          <a:p>
            <a:r>
              <a:t>=== LIKELY FACULTY QUESTION ===</a:t>
            </a:r>
          </a:p>
          <a:p>
            <a:r>
              <a:t>Why can't this be done in a standard SQL database or Pandas?</a:t>
            </a:r>
          </a:p>
          <a:p/>
          <a:p>
            <a:r>
              <a:t>=== SHORT, DEFENSIBLE ANSWER ===</a:t>
            </a:r>
          </a:p>
          <a:p>
            <a:r>
              <a:t>Ma'am, executing 7-day rolling window aggregations and composite deduplication across 132 million records causes single-node systems to run out of memory. Spark provides Catalyst query optimization, off-heap Tungsten execution, and partition-level parallelism that can scale to hundreds of millions of records.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 PRESENTER SCRIPT (60-90 SECONDS) ===</a:t>
            </a:r>
          </a:p>
          <a:p>
            <a:r>
              <a:t>Slide 3 presents our datasets and the 5 Vs of Big Data. On the left, we detail the data stored in HDFS: Daily Market Prices has 75.98 million rows, and India Mandi has 56.88 million rows, giving 132.86 million raw records. Quality filtering isolates 93.41 million clean canonical records for feature engineering. On the right, the 5 Vs map directly to our project: Volume is 10.9 GB raw CSV scaled to ~18 GB; Velocity is streaming micro-batches via Kafka; Variety spans 351 CSV files with differing date schemas; Veracity filters 535,000 duplicate records; and Value delivers actionable price anomaly warnings. As highlighted at the bottom, all ML models were trained and tested strictly on genuine real data.</a:t>
            </a:r>
          </a:p>
          <a:p/>
          <a:p>
            <a:r>
              <a:t>=== MAIN TECHNICAL POINT ===</a:t>
            </a:r>
          </a:p>
          <a:p>
            <a:r>
              <a:t>Dataset provenance, table breakdown, and the 5 Vs structured like Reference Slide 3.</a:t>
            </a:r>
          </a:p>
          <a:p/>
          <a:p>
            <a:r>
              <a:t>=== LIKELY FACULTY QUESTION ===</a:t>
            </a:r>
          </a:p>
          <a:p>
            <a:r>
              <a:t>Why is there a difference between the 132.8M raw rows and the 93.4M canonical rows?</a:t>
            </a:r>
          </a:p>
          <a:p/>
          <a:p>
            <a:r>
              <a:t>=== SHORT, DEFENSIBLE ANSWER ===</a:t>
            </a:r>
          </a:p>
          <a:p>
            <a:r>
              <a:t>Ma'am, 132.8 million is the total raw rows ingested from disk. When we remove 535,261 duplicate transactions and filter out records with zero prices or negative spreads (Max &lt; Min), 93.41 million verified, clean canonical records remain in HDFS for feature engineering.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 PRESENTER SCRIPT (60-90 SECONDS) ===</a:t>
            </a:r>
          </a:p>
          <a:p>
            <a:r>
              <a:t>Slide 4 details our System Setup and Configuration. Across the top is our end-to-end pipeline: raw CSV inputs pass to HDFS for block storage, Scala readers clean and deduplicate data, Spark computes rolling window features and MLlib models, and results feed the live dashboard. On the middle left, HDFS runs 1 NameNode and 3 DataNodes in Docker with 128 MB blocks and replication factor 3. On the middle right, Spark executes in local[*] mode using local multi-core threads. The bottom callout box directly answers a frequent viva question: our HDFS DataNodes store the data blocks, but they are not Spark compute executors.</a:t>
            </a:r>
          </a:p>
          <a:p/>
          <a:p>
            <a:r>
              <a:t>=== MAIN TECHNICAL POINT ===</a:t>
            </a:r>
          </a:p>
          <a:p>
            <a:r>
              <a:t>Architecture flow diagram, storage settings, Spark settings, and callout box matching Reference Slide 4.</a:t>
            </a:r>
          </a:p>
          <a:p/>
          <a:p>
            <a:r>
              <a:t>=== LIKELY FACULTY QUESTION ===</a:t>
            </a:r>
          </a:p>
          <a:p>
            <a:r>
              <a:t>Why didn't your team deploy a multi-node YARN compute cluster?</a:t>
            </a:r>
          </a:p>
          <a:p/>
          <a:p>
            <a:r>
              <a:t>=== SHORT, DEFENSIBLE ANSWER ===</a:t>
            </a:r>
          </a:p>
          <a:p>
            <a:r>
              <a:t>Ma'am, we wanted to be academically transparent. Running multi-container HDFS on Docker provides genuine distributed block storage, replication, and failover. Executing Spark in `local[*]` mode efficiently leverages multi-core CPU parallelism without claiming unverified multi-node physical rack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 PRESENTER SCRIPT (60-90 SECONDS) ===</a:t>
            </a:r>
          </a:p>
          <a:p>
            <a:r>
              <a:t>Slide 5 covers Spark Workflow and DAG execution. On the left, we walk through our execution steps: reading explicit schemas, map-side composite deduplication, 7-day rolling window calculations, and MLlib model training. We partition across 200 shuffle partitions and leverage year directory pruning. On the right, the DAG diagram shows how Spark schedules tasks: narrow transformations pipeline in memory, while wide transformations like Window.partitionBy trigger shuffles that divide the DAG into distinct stages. In our feature engineering run, Spark completed across 13 stages. In the bottom box, we explain that stage boundaries are determined by shuffle dependencies, not hardcoded in code.</a:t>
            </a:r>
          </a:p>
          <a:p/>
          <a:p>
            <a:r>
              <a:t>=== MAIN TECHNICAL POINT ===</a:t>
            </a:r>
          </a:p>
          <a:p>
            <a:r>
              <a:t>Spark workflow, DAG stage breakdown, partitions, cache, and callout question matching Reference Slide 5.</a:t>
            </a:r>
          </a:p>
          <a:p/>
          <a:p>
            <a:r>
              <a:t>=== LIKELY FACULTY QUESTION ===</a:t>
            </a:r>
          </a:p>
          <a:p>
            <a:r>
              <a:t>What is the difference between a transformation and an action in Spark?</a:t>
            </a:r>
          </a:p>
          <a:p/>
          <a:p>
            <a:r>
              <a:t>=== SHORT, DEFENSIBLE ANSWER ===</a:t>
            </a:r>
          </a:p>
          <a:p>
            <a:r>
              <a:t>Ma'am, transformations like `filter()` and `withColumn()` are lazily evaluated—they only record operations in the DAG. No computation happens until an action like `count()`, `collect()`, or `write.parquet()` is called, which triggers Catalyst optimization and launches the DAG across stages.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 PRESENTER SCRIPT (60-90 SECONDS) ===</a:t>
            </a:r>
          </a:p>
          <a:p>
            <a:r>
              <a:t>Slide 6 presents our Scala implementation and streaming architecture. On the left are actual production excerpts from our codebase: snippet 1 uses coalesce with try_to_date across both date formats, preventing corrupt rows from terminating long-running batch jobs; snippet 2 performs map-side business key deduplication over a 7-column composite key; and snippet 3 shows stateful streaming using flatMapGroupsWithState. On the right, we summarize the concrete benefits. The bottom box explains our Kafka streaming: we replay 15,000 real market events, consume them in Spark Structured Streaming, update stateful rolling windows, and write prediction checkpoints directly into HDFS.</a:t>
            </a:r>
          </a:p>
          <a:p/>
          <a:p>
            <a:r>
              <a:t>=== MAIN TECHNICAL POINT ===</a:t>
            </a:r>
          </a:p>
          <a:p>
            <a:r>
              <a:t>Code excerpts, architectural purpose, and Structured Streaming callout box matching Reference Slide 6.</a:t>
            </a:r>
          </a:p>
          <a:p/>
          <a:p>
            <a:r>
              <a:t>=== LIKELY FACULTY QUESTION ===</a:t>
            </a:r>
          </a:p>
          <a:p>
            <a:r>
              <a:t>Why use flatMapGroupsWithState instead of standard windowing in streaming?</a:t>
            </a:r>
          </a:p>
          <a:p/>
          <a:p>
            <a:r>
              <a:t>=== SHORT, DEFENSIBLE ANSWER ===</a:t>
            </a:r>
          </a:p>
          <a:p>
            <a:r>
              <a:t>Ma'am, standard streaming windowing requires micro-batch tumbling or sliding event-time windows with watermarking. In our application, mandi arrival events arrive irregularly per market; `flatMapGroupsWithState` allows us to maintain a custom, stateful 7-observation rolling buffer per `MarketEntity` across arbitrarily spaced arrivals.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 PRESENTER SCRIPT (60-90 SECONDS) ===</a:t>
            </a:r>
          </a:p>
          <a:p>
            <a:r>
              <a:t>Slide 7 explains our model training and testing methodology. On the left, we clearly distinguish our two models: Task A is Next-Day Anomaly Forecasting, which predicts tomorrow's price spike; Task B is Real-Time Transaction Screening, which evaluates current transactions in Kafka. Both utilize Spark MLlib Random Forest with 100 trees. On the right, we highlight our strict temporal split: training on pre-2024 data, tuning on 2024 validation data, and testing on untouched 2025+ records. The bottom callout box emphasizes zero data leakage: random splits leak future trends into past training, but chronological splitting accurately simulates real-world production.</a:t>
            </a:r>
          </a:p>
          <a:p/>
          <a:p>
            <a:r>
              <a:t>=== MAIN TECHNICAL POINT ===</a:t>
            </a:r>
          </a:p>
          <a:p>
            <a:r>
              <a:t>Model definitions, temporal split strategy, and data leakage callout box matching Reference Slide 7.</a:t>
            </a:r>
          </a:p>
          <a:p/>
          <a:p>
            <a:r>
              <a:t>=== LIKELY FACULTY QUESTION ===</a:t>
            </a:r>
          </a:p>
          <a:p>
            <a:r>
              <a:t>Why does Task B achieve 95.66% accuracy while Task A achieves 85% accuracy?</a:t>
            </a:r>
          </a:p>
          <a:p/>
          <a:p>
            <a:r>
              <a:t>=== SHORT, DEFENSIBLE ANSWER ===</a:t>
            </a:r>
          </a:p>
          <a:p>
            <a:r>
              <a:t>Ma'am, Task A is predictive forecasting: predicting tomorrow's market outcome given only today's data, which carries inherent market uncertainty. Task B is real-time anomaly classification: evaluating whether the current transaction is anomalous given contemporaneous price spreads. Task B is designed for real-time Kafka transaction screening, whereas Task A is a predictive forecasting problem.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 PRESENTER SCRIPT (60-90 SECONDS) ===</a:t>
            </a:r>
          </a:p>
          <a:p>
            <a:r>
              <a:t>Slide 8 presents our verified empirical results. The top table compares all models against the trivial All-Normal baseline. Our Task 2 production screening model achieves 95.66% accuracy, 86.55% precision, 85.47% recall, and an 86.01% F1-score with a 2.46% false alarm rate. On the bottom left, we explain what this means: 86.55% precision ensures alerts are actionable, and a 2.46% FPR prevents false panic. On the bottom right, our 15,000-record Kafka replay demonstrates pipeline throughput of 1,200 events per second with sub-800ms micro-batch latency, validating our distributed streaming infrastructure.</a:t>
            </a:r>
          </a:p>
          <a:p/>
          <a:p>
            <a:r>
              <a:t>=== MAIN TECHNICAL POINT ===</a:t>
            </a:r>
          </a:p>
          <a:p>
            <a:r>
              <a:t>Model evaluation table, confusion matrix interpretation, and streaming replay validation matching Reference Slide 8.</a:t>
            </a:r>
          </a:p>
          <a:p/>
          <a:p>
            <a:r>
              <a:t>=== LIKELY FACULTY QUESTION ===</a:t>
            </a:r>
          </a:p>
          <a:p>
            <a:r>
              <a:t>How do you know the model didn't just memorize the majority class?</a:t>
            </a:r>
          </a:p>
          <a:p/>
          <a:p>
            <a:r>
              <a:t>=== SHORT, DEFENSIBLE ANSWER ===</a:t>
            </a:r>
          </a:p>
          <a:p>
            <a:r>
              <a:t>Ma'am, an 'All-Normal' model predicting zero anomalies gets 84.35% accuracy, but 0% recall and 0% precision. Our tuned model achieves 86.55% precision, 85.47% recall, and an ROC-AUC of 94.82%. Both precision and recall exceed 85%, proving the model genuinely identifies anomalies.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 PRESENTER SCRIPT (60-90 SECONDS) ===</a:t>
            </a:r>
          </a:p>
          <a:p>
            <a:r>
              <a:t>Slide 9 covers the engineering challenges we overcame, honest project limitations, and next steps. On the left, we resolved JDK 21 reflection issues using `--add-opens`, date crashes using `coalesce`, shuffle OOM using composite deduplication, and recursive lineage using Parquet checkpoints. On the right, we honestly acknowledge our constraints: local[*] Spark execution, historical replay streaming, and future farmer advisory dispatch. The callout box highlights our deduplication fix, which saved the pipeline from JVM heap exhaustion. In conclusion, we have built and verified a complete distributed Big Data analytics pipeline.</a:t>
            </a:r>
          </a:p>
          <a:p/>
          <a:p>
            <a:r>
              <a:t>=== MAIN TECHNICAL POINT ===</a:t>
            </a:r>
          </a:p>
          <a:p>
            <a:r>
              <a:t>Engineering challenges, honest limitations, deduplication callout box, and conclusion matching Reference Slide 9.</a:t>
            </a:r>
          </a:p>
          <a:p/>
          <a:p>
            <a:r>
              <a:t>=== LIKELY FACULTY QUESTION ===</a:t>
            </a:r>
          </a:p>
          <a:p>
            <a:r>
              <a:t>What was the single most difficult engineering obstacle your team encountered?</a:t>
            </a:r>
          </a:p>
          <a:p/>
          <a:p>
            <a:r>
              <a:t>=== SHORT, DEFENSIBLE ANSWER ===</a:t>
            </a:r>
          </a:p>
          <a:p>
            <a:r>
              <a:t>Ma'am, deduplicating 132.9 million rows. A naive `distinct()` hashes all columns, causing severe shuffle skew and driver OOM. Partitioning over a 7-column composite business key enabled map-side partial reduction, allowing the job to finish in 4.2 minutes without memory spills.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 PRESENTER SCRIPT (60-90 SECONDS) ===</a:t>
            </a:r>
          </a:p>
          <a:p>
            <a:r>
              <a:t>Finally, Slide 10 provides our authoritative technical references and project deliverables. Our repository is public at `https://github.com/kaushalrog/AG-DATA`. It contains complete Scala pipelines, Docker configurations, Kafka streaming scripts, and our Streamlit dashboard. Our work is grounded in authoritative literature from Apache Spark, Apache Hadoop, and the Ministry of Agriculture. This concludes our presentation, and our team is now ready for your questions. Thank you, Dr. Sreeja.</a:t>
            </a:r>
          </a:p>
          <a:p/>
          <a:p>
            <a:r>
              <a:t>=== MAIN TECHNICAL POINT ===</a:t>
            </a:r>
          </a:p>
          <a:p>
            <a:r>
              <a:t>References, project repository link, and final slide matching Reference Slide 10.</a:t>
            </a:r>
          </a:p>
          <a:p/>
          <a:p>
            <a:r>
              <a:t>=== LIKELY FACULTY QUESTION ===</a:t>
            </a:r>
          </a:p>
          <a:p>
            <a:r>
              <a:t>Where can we verify the raw execution logs and metrics?</a:t>
            </a:r>
          </a:p>
          <a:p/>
          <a:p>
            <a:r>
              <a:t>=== SHORT, DEFENSIBLE ANSWER ===</a:t>
            </a:r>
          </a:p>
          <a:p>
            <a:r>
              <a:t>Ma'am, in our GitHub repository under `results/` and `docs/VIVA_EVIDENCE.md`, where all execution logs, checksums, confusion matrices, and audit runs are documented.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2560320" cy="365760"/>
          </a:xfrm>
          <a:prstGeom prst="rect">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FFFFFF"/>
                </a:solidFill>
              </a:defRPr>
            </a:pPr>
            <a:r>
              <a:t>Team AG-DATA / 23AID302</a:t>
            </a:r>
          </a:p>
        </p:txBody>
      </p:sp>
      <p:sp>
        <p:nvSpPr>
          <p:cNvPr id="4" name="Rectangle 3"/>
          <p:cNvSpPr/>
          <p:nvPr/>
        </p:nvSpPr>
        <p:spPr>
          <a:xfrm>
            <a:off x="2560320" y="6492240"/>
            <a:ext cx="7802575"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a:solidFill>
                  <a:srgbClr val="A30000"/>
                </a:solidFill>
              </a:defRPr>
            </a:pPr>
            <a:r>
              <a:t>Agricultural Commodity Price Analysis and Decision Support</a:t>
            </a:r>
          </a:p>
        </p:txBody>
      </p:sp>
      <p:sp>
        <p:nvSpPr>
          <p:cNvPr id="5" name="Rectangle 4"/>
          <p:cNvSpPr/>
          <p:nvPr/>
        </p:nvSpPr>
        <p:spPr>
          <a:xfrm>
            <a:off x="10362895" y="6492240"/>
            <a:ext cx="1828800" cy="365760"/>
          </a:xfrm>
          <a:prstGeom prst="rect">
            <a:avLst/>
          </a:prstGeom>
          <a:solidFill>
            <a:srgbClr val="DEE2E8"/>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141923"/>
                </a:solidFill>
              </a:defRPr>
            </a:pPr>
            <a:r>
              <a:t>1 / 10</a:t>
            </a:r>
          </a:p>
        </p:txBody>
      </p:sp>
      <p:sp>
        <p:nvSpPr>
          <p:cNvPr id="6" name="Rounded Rectangle 5"/>
          <p:cNvSpPr/>
          <p:nvPr/>
        </p:nvSpPr>
        <p:spPr>
          <a:xfrm>
            <a:off x="548640" y="502920"/>
            <a:ext cx="11094720" cy="1387475"/>
          </a:xfrm>
          <a:prstGeom prst="roundRect">
            <a:avLst/>
          </a:prstGeom>
          <a:solidFill>
            <a:srgbClr val="ECF0F6"/>
          </a:solidFill>
          <a:ln w="15240">
            <a:solidFill>
              <a:srgbClr val="D7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0080"/>
            <a:ext cx="10728655" cy="906780"/>
          </a:xfrm>
          <a:prstGeom prst="rect">
            <a:avLst/>
          </a:prstGeom>
          <a:noFill/>
        </p:spPr>
        <p:txBody>
          <a:bodyPr wrap="square">
            <a:spAutoFit/>
          </a:bodyPr>
          <a:lstStyle/>
          <a:p>
            <a:pPr algn="ctr">
              <a:defRPr sz="2600" b="1">
                <a:solidFill>
                  <a:srgbClr val="A30000"/>
                </a:solidFill>
              </a:defRPr>
            </a:pPr>
            <a:r>
              <a:rPr sz="2400"/>
              <a:t>Agricultural Commodity Price Forecasting and Market Analysis</a:t>
            </a:r>
            <a:endParaRPr sz="2400"/>
          </a:p>
          <a:p>
            <a:pPr algn="ctr">
              <a:spcBef>
                <a:spcPts val="600"/>
              </a:spcBef>
              <a:defRPr sz="1600">
                <a:solidFill>
                  <a:srgbClr val="A30000"/>
                </a:solidFill>
              </a:defRPr>
            </a:pPr>
            <a:r>
              <a:rPr sz="2400"/>
              <a:t>Using Hadoop HDFS, Apache Spark, MLlib, and Apache Kafka</a:t>
            </a:r>
            <a:endParaRPr sz="2400"/>
          </a:p>
        </p:txBody>
      </p:sp>
      <p:sp>
        <p:nvSpPr>
          <p:cNvPr id="8" name="TextBox 7"/>
          <p:cNvSpPr txBox="1"/>
          <p:nvPr/>
        </p:nvSpPr>
        <p:spPr>
          <a:xfrm>
            <a:off x="4748378" y="2179955"/>
            <a:ext cx="2694940" cy="352425"/>
          </a:xfrm>
          <a:prstGeom prst="rect">
            <a:avLst/>
          </a:prstGeom>
          <a:noFill/>
        </p:spPr>
        <p:txBody>
          <a:bodyPr wrap="none">
            <a:spAutoFit/>
          </a:bodyPr>
          <a:lstStyle/>
          <a:p>
            <a:pPr algn="ctr">
              <a:defRPr sz="1700" b="1">
                <a:solidFill>
                  <a:srgbClr val="141923"/>
                </a:solidFill>
              </a:defRPr>
            </a:pPr>
            <a:r>
              <a:t>Final Review — Team </a:t>
            </a:r>
            <a:r>
              <a:rPr lang="en-US"/>
              <a:t>14</a:t>
            </a:r>
            <a:endParaRPr lang="en-US"/>
          </a:p>
        </p:txBody>
      </p:sp>
      <p:graphicFrame>
        <p:nvGraphicFramePr>
          <p:cNvPr id="9" name="Table 8"/>
          <p:cNvGraphicFramePr>
            <a:graphicFrameLocks noGrp="1"/>
          </p:cNvGraphicFramePr>
          <p:nvPr/>
        </p:nvGraphicFramePr>
        <p:xfrm>
          <a:off x="3749039" y="2880360"/>
          <a:ext cx="4690872" cy="1920240"/>
        </p:xfrm>
        <a:graphic>
          <a:graphicData uri="http://schemas.openxmlformats.org/drawingml/2006/table">
            <a:tbl>
              <a:tblPr firstRow="1" bandRow="1">
                <a:tableStyleId>{5C22544A-7EE6-4342-B048-85BDC9FD1C3A}</a:tableStyleId>
              </a:tblPr>
              <a:tblGrid>
                <a:gridCol w="2340864"/>
                <a:gridCol w="2350008"/>
              </a:tblGrid>
              <a:tr h="384048">
                <a:tc>
                  <a:txBody>
                    <a:bodyPr/>
                    <a:lstStyle/>
                    <a:p>
                      <a:pPr>
                        <a:defRPr sz="1200" b="1">
                          <a:solidFill>
                            <a:srgbClr val="141923"/>
                          </a:solidFill>
                        </a:defRPr>
                      </a:pPr>
                      <a:r>
                        <a:rPr sz="1600"/>
                        <a:t>Name</a:t>
                      </a:r>
                      <a:endParaRPr sz="1600"/>
                    </a:p>
                  </a:txBody>
                  <a:tcPr marL="137160" marR="137160" anchor="ctr">
                    <a:solidFill>
                      <a:srgbClr val="E6EBF5"/>
                    </a:solidFill>
                  </a:tcPr>
                </a:tc>
                <a:tc>
                  <a:txBody>
                    <a:bodyPr/>
                    <a:lstStyle/>
                    <a:p>
                      <a:pPr>
                        <a:defRPr sz="1200" b="1">
                          <a:solidFill>
                            <a:srgbClr val="141923"/>
                          </a:solidFill>
                        </a:defRPr>
                      </a:pPr>
                      <a:r>
                        <a:rPr sz="1600"/>
                        <a:t>Register no.</a:t>
                      </a:r>
                      <a:endParaRPr sz="1600"/>
                    </a:p>
                  </a:txBody>
                  <a:tcPr marL="137160" marR="137160" anchor="ctr">
                    <a:solidFill>
                      <a:srgbClr val="E6EBF5"/>
                    </a:solidFill>
                  </a:tcPr>
                </a:tc>
              </a:tr>
              <a:tr h="384048">
                <a:tc>
                  <a:txBody>
                    <a:bodyPr/>
                    <a:lstStyle/>
                    <a:p>
                      <a:pPr>
                        <a:defRPr sz="1200">
                          <a:solidFill>
                            <a:srgbClr val="141923"/>
                          </a:solidFill>
                        </a:defRPr>
                      </a:pPr>
                      <a:r>
                        <a:rPr sz="1600"/>
                        <a:t>C Rishitha</a:t>
                      </a:r>
                      <a:endParaRPr sz="1600"/>
                    </a:p>
                  </a:txBody>
                  <a:tcPr marL="137160" marR="137160" anchor="ctr">
                    <a:solidFill>
                      <a:srgbClr val="FFFFFF"/>
                    </a:solidFill>
                  </a:tcPr>
                </a:tc>
                <a:tc>
                  <a:txBody>
                    <a:bodyPr/>
                    <a:lstStyle/>
                    <a:p>
                      <a:pPr>
                        <a:defRPr sz="1200">
                          <a:solidFill>
                            <a:srgbClr val="141923"/>
                          </a:solidFill>
                        </a:defRPr>
                      </a:pPr>
                      <a:r>
                        <a:rPr sz="1600"/>
                        <a:t>CB.AI.U4AID24109</a:t>
                      </a:r>
                      <a:endParaRPr sz="1600"/>
                    </a:p>
                  </a:txBody>
                  <a:tcPr marL="137160" marR="137160" anchor="ctr">
                    <a:solidFill>
                      <a:srgbClr val="FFFFFF"/>
                    </a:solidFill>
                  </a:tcPr>
                </a:tc>
              </a:tr>
              <a:tr h="384048">
                <a:tc>
                  <a:txBody>
                    <a:bodyPr/>
                    <a:lstStyle/>
                    <a:p>
                      <a:pPr>
                        <a:defRPr sz="1200">
                          <a:solidFill>
                            <a:srgbClr val="141923"/>
                          </a:solidFill>
                        </a:defRPr>
                      </a:pPr>
                      <a:r>
                        <a:rPr sz="1600"/>
                        <a:t>Karthikeya Y</a:t>
                      </a:r>
                      <a:endParaRPr sz="1600"/>
                    </a:p>
                  </a:txBody>
                  <a:tcPr marL="137160" marR="137160" anchor="ctr">
                    <a:solidFill>
                      <a:srgbClr val="F5F8FD"/>
                    </a:solidFill>
                  </a:tcPr>
                </a:tc>
                <a:tc>
                  <a:txBody>
                    <a:bodyPr/>
                    <a:lstStyle/>
                    <a:p>
                      <a:pPr>
                        <a:defRPr sz="1200">
                          <a:solidFill>
                            <a:srgbClr val="141923"/>
                          </a:solidFill>
                        </a:defRPr>
                      </a:pPr>
                      <a:r>
                        <a:rPr sz="1600"/>
                        <a:t>CB.AI.U4AID24163</a:t>
                      </a:r>
                      <a:endParaRPr sz="1600"/>
                    </a:p>
                  </a:txBody>
                  <a:tcPr marL="137160" marR="137160" anchor="ctr">
                    <a:solidFill>
                      <a:srgbClr val="F5F8FD"/>
                    </a:solidFill>
                  </a:tcPr>
                </a:tc>
              </a:tr>
              <a:tr h="384048">
                <a:tc>
                  <a:txBody>
                    <a:bodyPr/>
                    <a:lstStyle/>
                    <a:p>
                      <a:pPr>
                        <a:defRPr sz="1200">
                          <a:solidFill>
                            <a:srgbClr val="141923"/>
                          </a:solidFill>
                        </a:defRPr>
                      </a:pPr>
                      <a:r>
                        <a:rPr sz="1600"/>
                        <a:t>Ashwin Tyagi</a:t>
                      </a:r>
                      <a:endParaRPr sz="1600"/>
                    </a:p>
                  </a:txBody>
                  <a:tcPr marL="137160" marR="137160" anchor="ctr">
                    <a:solidFill>
                      <a:srgbClr val="FFFFFF"/>
                    </a:solidFill>
                  </a:tcPr>
                </a:tc>
                <a:tc>
                  <a:txBody>
                    <a:bodyPr/>
                    <a:lstStyle/>
                    <a:p>
                      <a:pPr>
                        <a:defRPr sz="1200">
                          <a:solidFill>
                            <a:srgbClr val="141923"/>
                          </a:solidFill>
                        </a:defRPr>
                      </a:pPr>
                      <a:r>
                        <a:rPr sz="1600"/>
                        <a:t>CB.AI.U4AID24167</a:t>
                      </a:r>
                      <a:endParaRPr sz="1600"/>
                    </a:p>
                  </a:txBody>
                  <a:tcPr marL="137160" marR="137160" anchor="ctr">
                    <a:solidFill>
                      <a:srgbClr val="FFFFFF"/>
                    </a:solidFill>
                  </a:tcPr>
                </a:tc>
              </a:tr>
              <a:tr h="384048">
                <a:tc>
                  <a:txBody>
                    <a:bodyPr/>
                    <a:lstStyle/>
                    <a:p>
                      <a:pPr>
                        <a:defRPr sz="1200">
                          <a:solidFill>
                            <a:srgbClr val="141923"/>
                          </a:solidFill>
                        </a:defRPr>
                      </a:pPr>
                      <a:r>
                        <a:rPr sz="1600"/>
                        <a:t>Kaushal S</a:t>
                      </a:r>
                      <a:endParaRPr sz="1600"/>
                    </a:p>
                  </a:txBody>
                  <a:tcPr marL="137160" marR="137160" anchor="ctr">
                    <a:solidFill>
                      <a:srgbClr val="F5F8FD"/>
                    </a:solidFill>
                  </a:tcPr>
                </a:tc>
                <a:tc>
                  <a:txBody>
                    <a:bodyPr/>
                    <a:lstStyle/>
                    <a:p>
                      <a:pPr>
                        <a:defRPr sz="1200">
                          <a:solidFill>
                            <a:srgbClr val="141923"/>
                          </a:solidFill>
                        </a:defRPr>
                      </a:pPr>
                      <a:r>
                        <a:rPr sz="1600"/>
                        <a:t>CB.AI.U4AID24168</a:t>
                      </a:r>
                      <a:endParaRPr sz="1600"/>
                    </a:p>
                  </a:txBody>
                  <a:tcPr marL="137160" marR="137160" anchor="ctr">
                    <a:solidFill>
                      <a:srgbClr val="F5F8FD"/>
                    </a:solidFill>
                  </a:tcPr>
                </a:tc>
              </a:tr>
            </a:tbl>
          </a:graphicData>
        </a:graphic>
      </p:graphicFrame>
      <p:sp>
        <p:nvSpPr>
          <p:cNvPr id="10" name="TextBox 9"/>
          <p:cNvSpPr txBox="1"/>
          <p:nvPr/>
        </p:nvSpPr>
        <p:spPr>
          <a:xfrm>
            <a:off x="731520" y="4983480"/>
            <a:ext cx="10728655" cy="919480"/>
          </a:xfrm>
          <a:prstGeom prst="rect">
            <a:avLst/>
          </a:prstGeom>
          <a:noFill/>
        </p:spPr>
        <p:txBody>
          <a:bodyPr wrap="square">
            <a:spAutoFit/>
          </a:bodyPr>
          <a:lstStyle/>
          <a:p>
            <a:pPr algn="ctr">
              <a:defRPr sz="1400" b="1">
                <a:solidFill>
                  <a:srgbClr val="141923"/>
                </a:solidFill>
              </a:defRPr>
            </a:pPr>
            <a:r>
              <a:rPr sz="1600"/>
              <a:t>23AID302 — Big Data Analytics</a:t>
            </a:r>
            <a:endParaRPr sz="1600"/>
          </a:p>
          <a:p>
            <a:pPr algn="ctr">
              <a:spcBef>
                <a:spcPts val="300"/>
              </a:spcBef>
              <a:defRPr sz="1200">
                <a:solidFill>
                  <a:srgbClr val="555F6E"/>
                </a:solidFill>
              </a:defRPr>
            </a:pPr>
            <a:r>
              <a:rPr sz="1600"/>
              <a:t>Department of Artificial Intelligence and Data Science  ·  Amrita Vishwa Vidyapeetham</a:t>
            </a:r>
            <a:endParaRPr sz="1600"/>
          </a:p>
          <a:p>
            <a:pPr algn="ctr">
              <a:spcBef>
                <a:spcPts val="400"/>
              </a:spcBef>
              <a:defRPr sz="1300" b="1">
                <a:solidFill>
                  <a:srgbClr val="A30000"/>
                </a:solidFill>
              </a:defRPr>
            </a:pPr>
            <a:r>
              <a:rPr sz="1600"/>
              <a:t>Faculty Guide: Dr. Sreeja</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2560320" cy="365760"/>
          </a:xfrm>
          <a:prstGeom prst="rect">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FFFFFF"/>
                </a:solidFill>
              </a:defRPr>
            </a:pPr>
            <a:r>
              <a:t>Team AG-DATA / 23AID302</a:t>
            </a:r>
          </a:p>
        </p:txBody>
      </p:sp>
      <p:sp>
        <p:nvSpPr>
          <p:cNvPr id="4" name="Rectangle 3"/>
          <p:cNvSpPr/>
          <p:nvPr/>
        </p:nvSpPr>
        <p:spPr>
          <a:xfrm>
            <a:off x="2560320" y="6492240"/>
            <a:ext cx="7802575"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a:solidFill>
                  <a:srgbClr val="A30000"/>
                </a:solidFill>
              </a:defRPr>
            </a:pPr>
            <a:r>
              <a:t>Agricultural Commodity Price Analysis and Decision Support</a:t>
            </a:r>
          </a:p>
        </p:txBody>
      </p:sp>
      <p:sp>
        <p:nvSpPr>
          <p:cNvPr id="5" name="Rectangle 4"/>
          <p:cNvSpPr/>
          <p:nvPr/>
        </p:nvSpPr>
        <p:spPr>
          <a:xfrm>
            <a:off x="10362895" y="6492240"/>
            <a:ext cx="1828800" cy="365760"/>
          </a:xfrm>
          <a:prstGeom prst="rect">
            <a:avLst/>
          </a:prstGeom>
          <a:solidFill>
            <a:srgbClr val="DEE2E8"/>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141923"/>
                </a:solidFill>
              </a:defRPr>
            </a:pPr>
            <a:r>
              <a:t>2 / 10</a:t>
            </a:r>
          </a:p>
        </p:txBody>
      </p:sp>
      <p:sp>
        <p:nvSpPr>
          <p:cNvPr id="6" name="TextBox 5"/>
          <p:cNvSpPr txBox="1"/>
          <p:nvPr/>
        </p:nvSpPr>
        <p:spPr>
          <a:xfrm>
            <a:off x="548640" y="292608"/>
            <a:ext cx="11094415" cy="594360"/>
          </a:xfrm>
          <a:prstGeom prst="rect">
            <a:avLst/>
          </a:prstGeom>
          <a:noFill/>
        </p:spPr>
        <p:txBody>
          <a:bodyPr wrap="square" lIns="0" tIns="0" rIns="0" bIns="0">
            <a:spAutoFit/>
          </a:bodyPr>
          <a:lstStyle/>
          <a:p>
            <a:pPr>
              <a:defRPr sz="2200" b="1">
                <a:solidFill>
                  <a:srgbClr val="A30000"/>
                </a:solidFill>
              </a:defRPr>
            </a:pPr>
            <a:r>
              <a:t>1. What Are We Trying to Find?</a:t>
            </a:r>
          </a:p>
        </p:txBody>
      </p:sp>
      <p:sp>
        <p:nvSpPr>
          <p:cNvPr id="7" name="Rounded Rectangle 6"/>
          <p:cNvSpPr/>
          <p:nvPr/>
        </p:nvSpPr>
        <p:spPr>
          <a:xfrm>
            <a:off x="548640" y="1051560"/>
            <a:ext cx="5349240" cy="265176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05156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106424"/>
            <a:ext cx="4983479" cy="292607"/>
          </a:xfrm>
          <a:prstGeom prst="rect">
            <a:avLst/>
          </a:prstGeom>
          <a:noFill/>
        </p:spPr>
        <p:txBody>
          <a:bodyPr wrap="square" lIns="0" tIns="0" rIns="0" bIns="0">
            <a:spAutoFit/>
          </a:bodyPr>
          <a:lstStyle/>
          <a:p>
            <a:pPr>
              <a:defRPr sz="1300" b="1">
                <a:solidFill>
                  <a:srgbClr val="FFFFFF"/>
                </a:solidFill>
              </a:defRPr>
            </a:pPr>
            <a:r>
              <a:t>Mandi: unusual price fluctuations</a:t>
            </a:r>
          </a:p>
        </p:txBody>
      </p:sp>
      <p:sp>
        <p:nvSpPr>
          <p:cNvPr id="10" name="TextBox 9"/>
          <p:cNvSpPr txBox="1"/>
          <p:nvPr/>
        </p:nvSpPr>
        <p:spPr>
          <a:xfrm>
            <a:off x="749808" y="1527048"/>
            <a:ext cx="4946903" cy="1420495"/>
          </a:xfrm>
          <a:prstGeom prst="rect">
            <a:avLst/>
          </a:prstGeom>
          <a:noFill/>
        </p:spPr>
        <p:txBody>
          <a:bodyPr wrap="square" lIns="0" tIns="0" rIns="0" bIns="0">
            <a:spAutoFit/>
          </a:bodyPr>
          <a:lstStyle/>
          <a:p>
            <a:pPr>
              <a:defRPr sz="1150">
                <a:solidFill>
                  <a:srgbClr val="141923"/>
                </a:solidFill>
              </a:defRPr>
            </a:pPr>
            <a:r>
              <a:rPr sz="1400"/>
              <a:t>Find daily market transactions that exhibit abnormal price surges or crashes across 3,000+ Indian mandis.</a:t>
            </a:r>
            <a:endParaRPr sz="1400"/>
          </a:p>
          <a:p>
            <a:pPr>
              <a:spcBef>
                <a:spcPts val="500"/>
              </a:spcBef>
              <a:defRPr sz="1100">
                <a:solidFill>
                  <a:srgbClr val="555F6E"/>
                </a:solidFill>
              </a:defRPr>
            </a:pPr>
            <a:r>
              <a:rPr sz="1400"/>
              <a:t>Seasonal harvest gluts trigger sharp 40%+ price collapses, leading to severe distress selling by smallholder farmers.</a:t>
            </a:r>
            <a:endParaRPr sz="1400"/>
          </a:p>
          <a:p>
            <a:pPr>
              <a:spcBef>
                <a:spcPts val="500"/>
              </a:spcBef>
              <a:defRPr sz="1150">
                <a:solidFill>
                  <a:srgbClr val="141923"/>
                </a:solidFill>
              </a:defRPr>
            </a:pPr>
            <a:r>
              <a:rPr sz="1400"/>
              <a:t>Use 7-day rolling window statistics, price spreads, and z-scores to give each transaction an anomaly risk label.</a:t>
            </a:r>
            <a:endParaRPr sz="1400"/>
          </a:p>
        </p:txBody>
      </p:sp>
      <p:sp>
        <p:nvSpPr>
          <p:cNvPr id="11" name="Rounded Rectangle 10"/>
          <p:cNvSpPr/>
          <p:nvPr/>
        </p:nvSpPr>
        <p:spPr>
          <a:xfrm>
            <a:off x="6263640" y="1051560"/>
            <a:ext cx="5349240" cy="265176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63640" y="105156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106424"/>
            <a:ext cx="4983479" cy="292607"/>
          </a:xfrm>
          <a:prstGeom prst="rect">
            <a:avLst/>
          </a:prstGeom>
          <a:noFill/>
        </p:spPr>
        <p:txBody>
          <a:bodyPr wrap="square" lIns="0" tIns="0" rIns="0" bIns="0">
            <a:spAutoFit/>
          </a:bodyPr>
          <a:lstStyle/>
          <a:p>
            <a:pPr>
              <a:defRPr sz="1300" b="1">
                <a:solidFill>
                  <a:srgbClr val="FFFFFF"/>
                </a:solidFill>
              </a:defRPr>
            </a:pPr>
            <a:r>
              <a:t>Decision Support: farmer selling advisories</a:t>
            </a:r>
          </a:p>
        </p:txBody>
      </p:sp>
      <p:sp>
        <p:nvSpPr>
          <p:cNvPr id="14" name="TextBox 13"/>
          <p:cNvSpPr txBox="1"/>
          <p:nvPr/>
        </p:nvSpPr>
        <p:spPr>
          <a:xfrm>
            <a:off x="6464807" y="1527048"/>
            <a:ext cx="4946903" cy="2153920"/>
          </a:xfrm>
          <a:prstGeom prst="rect">
            <a:avLst/>
          </a:prstGeom>
          <a:noFill/>
        </p:spPr>
        <p:txBody>
          <a:bodyPr wrap="square" lIns="0" tIns="0" rIns="0" bIns="0">
            <a:spAutoFit/>
          </a:bodyPr>
          <a:lstStyle/>
          <a:p>
            <a:pPr>
              <a:defRPr sz="1150" b="1">
                <a:solidFill>
                  <a:srgbClr val="141923"/>
                </a:solidFill>
              </a:defRPr>
            </a:pPr>
            <a:r>
              <a:rPr sz="1300"/>
              <a:t>Translate price anomaly signals into practical domain recommendations:</a:t>
            </a:r>
            <a:endParaRPr sz="1300"/>
          </a:p>
          <a:p>
            <a:pPr>
              <a:spcBef>
                <a:spcPts val="300"/>
              </a:spcBef>
              <a:defRPr sz="1050">
                <a:solidFill>
                  <a:srgbClr val="141923"/>
                </a:solidFill>
              </a:defRPr>
            </a:pPr>
            <a:r>
              <a:rPr sz="1300"/>
              <a:t>• SELL: Recommend selling before an unpredicted post-spike glut collapses prices.</a:t>
            </a:r>
            <a:endParaRPr sz="1300"/>
          </a:p>
          <a:p>
            <a:pPr>
              <a:spcBef>
                <a:spcPts val="300"/>
              </a:spcBef>
              <a:defRPr sz="1050">
                <a:solidFill>
                  <a:srgbClr val="141923"/>
                </a:solidFill>
              </a:defRPr>
            </a:pPr>
            <a:r>
              <a:rPr sz="1300"/>
              <a:t>• HOLD: Advise holding inventory during temporary panic dips when prices recover.</a:t>
            </a:r>
            <a:endParaRPr sz="1300"/>
          </a:p>
          <a:p>
            <a:pPr>
              <a:spcBef>
                <a:spcPts val="300"/>
              </a:spcBef>
              <a:defRPr sz="1050">
                <a:solidFill>
                  <a:srgbClr val="141923"/>
                </a:solidFill>
              </a:defRPr>
            </a:pPr>
            <a:r>
              <a:rPr sz="1300"/>
              <a:t>• WATCH: High volatility alert; monitor market closely before dispatching produce.</a:t>
            </a:r>
            <a:endParaRPr sz="1300"/>
          </a:p>
          <a:p>
            <a:pPr>
              <a:spcBef>
                <a:spcPts val="300"/>
              </a:spcBef>
              <a:defRPr sz="1050">
                <a:solidFill>
                  <a:srgbClr val="141923"/>
                </a:solidFill>
              </a:defRPr>
            </a:pPr>
            <a:r>
              <a:rPr sz="1300"/>
              <a:t>• BUY: Buyer/procurement advisory to acquire inventory before seasonal price surges.</a:t>
            </a:r>
            <a:endParaRPr sz="1300"/>
          </a:p>
        </p:txBody>
      </p:sp>
      <p:sp>
        <p:nvSpPr>
          <p:cNvPr id="15" name="Rounded Rectangle 14"/>
          <p:cNvSpPr/>
          <p:nvPr/>
        </p:nvSpPr>
        <p:spPr>
          <a:xfrm>
            <a:off x="548640" y="3977639"/>
            <a:ext cx="11064240" cy="155448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977639"/>
            <a:ext cx="11064240" cy="347472"/>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23359"/>
            <a:ext cx="10698480" cy="256032"/>
          </a:xfrm>
          <a:prstGeom prst="rect">
            <a:avLst/>
          </a:prstGeom>
          <a:noFill/>
        </p:spPr>
        <p:txBody>
          <a:bodyPr wrap="square" lIns="0" tIns="0" rIns="0" bIns="0">
            <a:spAutoFit/>
          </a:bodyPr>
          <a:lstStyle/>
          <a:p>
            <a:pPr>
              <a:defRPr sz="1200" b="1">
                <a:solidFill>
                  <a:srgbClr val="FFFFFF"/>
                </a:solidFill>
              </a:defRPr>
            </a:pPr>
            <a:r>
              <a:t>Why do we need big data tools?</a:t>
            </a:r>
          </a:p>
        </p:txBody>
      </p:sp>
      <p:sp>
        <p:nvSpPr>
          <p:cNvPr id="18" name="TextBox 17"/>
          <p:cNvSpPr txBox="1"/>
          <p:nvPr/>
        </p:nvSpPr>
        <p:spPr>
          <a:xfrm>
            <a:off x="777240" y="4416551"/>
            <a:ext cx="10607040" cy="645795"/>
          </a:xfrm>
          <a:prstGeom prst="rect">
            <a:avLst/>
          </a:prstGeom>
          <a:noFill/>
        </p:spPr>
        <p:txBody>
          <a:bodyPr wrap="square" lIns="0" tIns="0" rIns="0" bIns="0">
            <a:spAutoFit/>
          </a:bodyPr>
          <a:lstStyle/>
          <a:p>
            <a:pPr>
              <a:defRPr sz="1100">
                <a:solidFill>
                  <a:srgbClr val="141923"/>
                </a:solidFill>
              </a:defRPr>
            </a:pPr>
            <a:r>
              <a:rPr sz="1400"/>
              <a:t>The agricultural files contain over 132.8 million market transactions (10.9 GB raw CSV). Single-node tools like Pandas crash with OutOfMemoryError when computing rolling windows across years of data. HDFS stores large files in replicated blocks; Spark splits data processing across executor threads.</a:t>
            </a:r>
            <a:endParaRPr sz="1400"/>
          </a:p>
        </p:txBody>
      </p:sp>
      <p:sp>
        <p:nvSpPr>
          <p:cNvPr id="19" name="TextBox 18"/>
          <p:cNvSpPr txBox="1"/>
          <p:nvPr/>
        </p:nvSpPr>
        <p:spPr>
          <a:xfrm>
            <a:off x="548640" y="5715000"/>
            <a:ext cx="7440930" cy="337185"/>
          </a:xfrm>
          <a:prstGeom prst="rect">
            <a:avLst/>
          </a:prstGeom>
          <a:noFill/>
        </p:spPr>
        <p:txBody>
          <a:bodyPr wrap="none">
            <a:spAutoFit/>
          </a:bodyPr>
          <a:lstStyle/>
          <a:p>
            <a:pPr>
              <a:defRPr sz="1200" b="1">
                <a:solidFill>
                  <a:srgbClr val="141923"/>
                </a:solidFill>
              </a:defRPr>
            </a:pPr>
            <a:r>
              <a:rPr sz="1600"/>
              <a:t>Goal: prepare the data, compare models, and stream real-time price alerts.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2560320" cy="365760"/>
          </a:xfrm>
          <a:prstGeom prst="rect">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FFFFFF"/>
                </a:solidFill>
              </a:defRPr>
            </a:pPr>
            <a:r>
              <a:t>Team AG-DATA / 23AID302</a:t>
            </a:r>
          </a:p>
        </p:txBody>
      </p:sp>
      <p:sp>
        <p:nvSpPr>
          <p:cNvPr id="4" name="Rectangle 3"/>
          <p:cNvSpPr/>
          <p:nvPr/>
        </p:nvSpPr>
        <p:spPr>
          <a:xfrm>
            <a:off x="2560320" y="6492240"/>
            <a:ext cx="7802575"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a:solidFill>
                  <a:srgbClr val="A30000"/>
                </a:solidFill>
              </a:defRPr>
            </a:pPr>
            <a:r>
              <a:t>Agricultural Commodity Price Analysis and Decision Support</a:t>
            </a:r>
          </a:p>
        </p:txBody>
      </p:sp>
      <p:sp>
        <p:nvSpPr>
          <p:cNvPr id="5" name="Rectangle 4"/>
          <p:cNvSpPr/>
          <p:nvPr/>
        </p:nvSpPr>
        <p:spPr>
          <a:xfrm>
            <a:off x="10362895" y="6492240"/>
            <a:ext cx="1828800" cy="365760"/>
          </a:xfrm>
          <a:prstGeom prst="rect">
            <a:avLst/>
          </a:prstGeom>
          <a:solidFill>
            <a:srgbClr val="DEE2E8"/>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141923"/>
                </a:solidFill>
              </a:defRPr>
            </a:pPr>
            <a:r>
              <a:t>3 / 10</a:t>
            </a:r>
          </a:p>
        </p:txBody>
      </p:sp>
      <p:sp>
        <p:nvSpPr>
          <p:cNvPr id="6" name="TextBox 5"/>
          <p:cNvSpPr txBox="1"/>
          <p:nvPr/>
        </p:nvSpPr>
        <p:spPr>
          <a:xfrm>
            <a:off x="548640" y="292608"/>
            <a:ext cx="11094415" cy="594360"/>
          </a:xfrm>
          <a:prstGeom prst="rect">
            <a:avLst/>
          </a:prstGeom>
          <a:noFill/>
        </p:spPr>
        <p:txBody>
          <a:bodyPr wrap="square" lIns="0" tIns="0" rIns="0" bIns="0">
            <a:spAutoFit/>
          </a:bodyPr>
          <a:lstStyle/>
          <a:p>
            <a:pPr>
              <a:defRPr sz="2200" b="1">
                <a:solidFill>
                  <a:srgbClr val="A30000"/>
                </a:solidFill>
              </a:defRPr>
            </a:pPr>
            <a:r>
              <a:t>2. Our Data and the 5 Vs</a:t>
            </a:r>
          </a:p>
        </p:txBody>
      </p:sp>
      <p:sp>
        <p:nvSpPr>
          <p:cNvPr id="7" name="Rounded Rectangle 6"/>
          <p:cNvSpPr/>
          <p:nvPr/>
        </p:nvSpPr>
        <p:spPr>
          <a:xfrm>
            <a:off x="548640" y="1051560"/>
            <a:ext cx="5349240" cy="4726305"/>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05156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106424"/>
            <a:ext cx="4983479" cy="292607"/>
          </a:xfrm>
          <a:prstGeom prst="rect">
            <a:avLst/>
          </a:prstGeom>
          <a:noFill/>
        </p:spPr>
        <p:txBody>
          <a:bodyPr wrap="square" lIns="0" tIns="0" rIns="0" bIns="0">
            <a:spAutoFit/>
          </a:bodyPr>
          <a:lstStyle/>
          <a:p>
            <a:pPr>
              <a:defRPr sz="1300" b="1">
                <a:solidFill>
                  <a:srgbClr val="FFFFFF"/>
                </a:solidFill>
              </a:defRPr>
            </a:pPr>
            <a:r>
              <a:t>Data already stored in HDFS</a:t>
            </a:r>
          </a:p>
        </p:txBody>
      </p:sp>
      <p:sp>
        <p:nvSpPr>
          <p:cNvPr id="10" name="TextBox 9"/>
          <p:cNvSpPr txBox="1"/>
          <p:nvPr/>
        </p:nvSpPr>
        <p:spPr>
          <a:xfrm>
            <a:off x="749808" y="1527048"/>
            <a:ext cx="4946903" cy="3977640"/>
          </a:xfrm>
          <a:prstGeom prst="rect">
            <a:avLst/>
          </a:prstGeom>
          <a:noFill/>
        </p:spPr>
        <p:txBody>
          <a:bodyPr wrap="square" lIns="0" tIns="0" rIns="0" bIns="0">
            <a:spAutoFit/>
          </a:bodyPr>
          <a:lstStyle/>
          <a:p/>
        </p:txBody>
      </p:sp>
      <p:graphicFrame>
        <p:nvGraphicFramePr>
          <p:cNvPr id="11" name="Table 10"/>
          <p:cNvGraphicFramePr>
            <a:graphicFrameLocks noGrp="1"/>
          </p:cNvGraphicFramePr>
          <p:nvPr/>
        </p:nvGraphicFramePr>
        <p:xfrm>
          <a:off x="731520" y="1600200"/>
          <a:ext cx="4983480" cy="2073275"/>
        </p:xfrm>
        <a:graphic>
          <a:graphicData uri="http://schemas.openxmlformats.org/drawingml/2006/table">
            <a:tbl>
              <a:tblPr firstRow="1" bandRow="1">
                <a:tableStyleId>{5C22544A-7EE6-4342-B048-85BDC9FD1C3A}</a:tableStyleId>
              </a:tblPr>
              <a:tblGrid>
                <a:gridCol w="2148840"/>
                <a:gridCol w="1143000"/>
                <a:gridCol w="1691640"/>
              </a:tblGrid>
              <a:tr h="335280">
                <a:tc>
                  <a:txBody>
                    <a:bodyPr/>
                    <a:lstStyle/>
                    <a:p>
                      <a:pPr>
                        <a:defRPr sz="950" b="1">
                          <a:solidFill>
                            <a:srgbClr val="1B2A6B"/>
                          </a:solidFill>
                        </a:defRPr>
                      </a:pPr>
                      <a:r>
                        <a:t>File / Layer</a:t>
                      </a:r>
                    </a:p>
                  </a:txBody>
                  <a:tcPr marL="73152" marR="73152" anchor="ctr">
                    <a:solidFill>
                      <a:srgbClr val="E4EAF6"/>
                    </a:solidFill>
                  </a:tcPr>
                </a:tc>
                <a:tc>
                  <a:txBody>
                    <a:bodyPr/>
                    <a:lstStyle/>
                    <a:p>
                      <a:pPr>
                        <a:defRPr sz="950" b="1">
                          <a:solidFill>
                            <a:srgbClr val="1B2A6B"/>
                          </a:solidFill>
                        </a:defRPr>
                      </a:pPr>
                      <a:r>
                        <a:t>Rows</a:t>
                      </a:r>
                    </a:p>
                  </a:txBody>
                  <a:tcPr marL="73152" marR="73152" anchor="ctr">
                    <a:solidFill>
                      <a:srgbClr val="E4EAF6"/>
                    </a:solidFill>
                  </a:tcPr>
                </a:tc>
                <a:tc>
                  <a:txBody>
                    <a:bodyPr/>
                    <a:lstStyle/>
                    <a:p>
                      <a:pPr>
                        <a:defRPr sz="950" b="1">
                          <a:solidFill>
                            <a:srgbClr val="1B2A6B"/>
                          </a:solidFill>
                        </a:defRPr>
                      </a:pPr>
                      <a:r>
                        <a:t>Storage / Role</a:t>
                      </a:r>
                    </a:p>
                  </a:txBody>
                  <a:tcPr marL="73152" marR="73152" anchor="ctr">
                    <a:solidFill>
                      <a:srgbClr val="E4EAF6"/>
                    </a:solidFill>
                  </a:tcPr>
                </a:tc>
              </a:tr>
              <a:tr h="335280">
                <a:tc>
                  <a:txBody>
                    <a:bodyPr/>
                    <a:lstStyle/>
                    <a:p>
                      <a:pPr>
                        <a:defRPr sz="950">
                          <a:solidFill>
                            <a:srgbClr val="141923"/>
                          </a:solidFill>
                        </a:defRPr>
                      </a:pPr>
                      <a:r>
                        <a:t>Source 1: Daily Market Prices</a:t>
                      </a:r>
                    </a:p>
                  </a:txBody>
                  <a:tcPr marL="73152" marR="73152" anchor="ctr">
                    <a:solidFill>
                      <a:srgbClr val="FFFFFF"/>
                    </a:solidFill>
                  </a:tcPr>
                </a:tc>
                <a:tc>
                  <a:txBody>
                    <a:bodyPr/>
                    <a:lstStyle/>
                    <a:p>
                      <a:pPr>
                        <a:defRPr sz="950">
                          <a:solidFill>
                            <a:srgbClr val="141923"/>
                          </a:solidFill>
                        </a:defRPr>
                      </a:pPr>
                      <a:r>
                        <a:t>75,984,017</a:t>
                      </a:r>
                    </a:p>
                  </a:txBody>
                  <a:tcPr marL="73152" marR="73152" anchor="ctr">
                    <a:solidFill>
                      <a:srgbClr val="FFFFFF"/>
                    </a:solidFill>
                  </a:tcPr>
                </a:tc>
                <a:tc>
                  <a:txBody>
                    <a:bodyPr/>
                    <a:lstStyle/>
                    <a:p>
                      <a:pPr>
                        <a:defRPr sz="950">
                          <a:solidFill>
                            <a:srgbClr val="141923"/>
                          </a:solidFill>
                        </a:defRPr>
                      </a:pPr>
                      <a:r>
                        <a:t>26 annual CSVs (6.5 GB)</a:t>
                      </a:r>
                    </a:p>
                  </a:txBody>
                  <a:tcPr marL="73152" marR="73152" anchor="ctr">
                    <a:solidFill>
                      <a:srgbClr val="FFFFFF"/>
                    </a:solidFill>
                  </a:tcPr>
                </a:tc>
              </a:tr>
              <a:tr h="335280">
                <a:tc>
                  <a:txBody>
                    <a:bodyPr/>
                    <a:lstStyle/>
                    <a:p>
                      <a:pPr>
                        <a:defRPr sz="950">
                          <a:solidFill>
                            <a:srgbClr val="141923"/>
                          </a:solidFill>
                        </a:defRPr>
                      </a:pPr>
                      <a:r>
                        <a:t>Source 2: India Mandi Dataset</a:t>
                      </a:r>
                    </a:p>
                  </a:txBody>
                  <a:tcPr marL="73152" marR="73152" anchor="ctr">
                    <a:solidFill>
                      <a:srgbClr val="F5F8FD"/>
                    </a:solidFill>
                  </a:tcPr>
                </a:tc>
                <a:tc>
                  <a:txBody>
                    <a:bodyPr/>
                    <a:lstStyle/>
                    <a:p>
                      <a:pPr>
                        <a:defRPr sz="950">
                          <a:solidFill>
                            <a:srgbClr val="141923"/>
                          </a:solidFill>
                        </a:defRPr>
                      </a:pPr>
                      <a:r>
                        <a:t>56,879,072</a:t>
                      </a:r>
                    </a:p>
                  </a:txBody>
                  <a:tcPr marL="73152" marR="73152" anchor="ctr">
                    <a:solidFill>
                      <a:srgbClr val="F5F8FD"/>
                    </a:solidFill>
                  </a:tcPr>
                </a:tc>
                <a:tc>
                  <a:txBody>
                    <a:bodyPr/>
                    <a:lstStyle/>
                    <a:p>
                      <a:pPr>
                        <a:defRPr sz="950">
                          <a:solidFill>
                            <a:srgbClr val="141923"/>
                          </a:solidFill>
                        </a:defRPr>
                      </a:pPr>
                      <a:r>
                        <a:t>325 commodity CSVs (4.4 GB)</a:t>
                      </a:r>
                    </a:p>
                  </a:txBody>
                  <a:tcPr marL="73152" marR="73152" anchor="ctr">
                    <a:solidFill>
                      <a:srgbClr val="F5F8FD"/>
                    </a:solidFill>
                  </a:tcPr>
                </a:tc>
              </a:tr>
              <a:tr h="305435">
                <a:tc>
                  <a:txBody>
                    <a:bodyPr/>
                    <a:lstStyle/>
                    <a:p>
                      <a:pPr>
                        <a:defRPr sz="950">
                          <a:solidFill>
                            <a:srgbClr val="141923"/>
                          </a:solidFill>
                        </a:defRPr>
                      </a:pPr>
                      <a:r>
                        <a:t>Deduplicated Output</a:t>
                      </a:r>
                    </a:p>
                  </a:txBody>
                  <a:tcPr marL="73152" marR="73152" anchor="ctr">
                    <a:solidFill>
                      <a:srgbClr val="FFFFFF"/>
                    </a:solidFill>
                  </a:tcPr>
                </a:tc>
                <a:tc>
                  <a:txBody>
                    <a:bodyPr/>
                    <a:lstStyle/>
                    <a:p>
                      <a:pPr>
                        <a:defRPr sz="950">
                          <a:solidFill>
                            <a:srgbClr val="141923"/>
                          </a:solidFill>
                        </a:defRPr>
                      </a:pPr>
                      <a:r>
                        <a:t>132,327,828</a:t>
                      </a:r>
                    </a:p>
                  </a:txBody>
                  <a:tcPr marL="73152" marR="73152" anchor="ctr">
                    <a:solidFill>
                      <a:srgbClr val="FFFFFF"/>
                    </a:solidFill>
                  </a:tcPr>
                </a:tc>
                <a:tc>
                  <a:txBody>
                    <a:bodyPr/>
                    <a:lstStyle/>
                    <a:p>
                      <a:pPr>
                        <a:defRPr sz="950">
                          <a:solidFill>
                            <a:srgbClr val="141923"/>
                          </a:solidFill>
                        </a:defRPr>
                      </a:pPr>
                      <a:r>
                        <a:t>1.2 GB Parquet (9:1 ratio)</a:t>
                      </a:r>
                    </a:p>
                  </a:txBody>
                  <a:tcPr marL="73152" marR="73152" anchor="ctr">
                    <a:solidFill>
                      <a:srgbClr val="FFFFFF"/>
                    </a:solidFill>
                  </a:tcPr>
                </a:tc>
              </a:tr>
              <a:tr h="335280">
                <a:tc>
                  <a:txBody>
                    <a:bodyPr/>
                    <a:lstStyle/>
                    <a:p>
                      <a:pPr>
                        <a:defRPr sz="950">
                          <a:solidFill>
                            <a:srgbClr val="141923"/>
                          </a:solidFill>
                        </a:defRPr>
                      </a:pPr>
                      <a:r>
                        <a:t>Canonical Cleaned</a:t>
                      </a:r>
                    </a:p>
                  </a:txBody>
                  <a:tcPr marL="73152" marR="73152" anchor="ctr">
                    <a:solidFill>
                      <a:srgbClr val="F5F8FD"/>
                    </a:solidFill>
                  </a:tcPr>
                </a:tc>
                <a:tc>
                  <a:txBody>
                    <a:bodyPr/>
                    <a:lstStyle/>
                    <a:p>
                      <a:pPr>
                        <a:defRPr sz="950">
                          <a:solidFill>
                            <a:srgbClr val="141923"/>
                          </a:solidFill>
                        </a:defRPr>
                      </a:pPr>
                      <a:r>
                        <a:t>93,410,019</a:t>
                      </a:r>
                    </a:p>
                  </a:txBody>
                  <a:tcPr marL="73152" marR="73152" anchor="ctr">
                    <a:solidFill>
                      <a:srgbClr val="F5F8FD"/>
                    </a:solidFill>
                  </a:tcPr>
                </a:tc>
                <a:tc>
                  <a:txBody>
                    <a:bodyPr/>
                    <a:lstStyle/>
                    <a:p>
                      <a:pPr>
                        <a:defRPr sz="950">
                          <a:solidFill>
                            <a:srgbClr val="141923"/>
                          </a:solidFill>
                        </a:defRPr>
                      </a:pPr>
                      <a:r>
                        <a:t>Valid prices &amp; dates for ML</a:t>
                      </a:r>
                    </a:p>
                  </a:txBody>
                  <a:tcPr marL="73152" marR="73152" anchor="ctr">
                    <a:solidFill>
                      <a:srgbClr val="F5F8FD"/>
                    </a:solidFill>
                  </a:tcPr>
                </a:tc>
              </a:tr>
              <a:tr h="335280">
                <a:tc>
                  <a:txBody>
                    <a:bodyPr/>
                    <a:lstStyle/>
                    <a:p>
                      <a:pPr>
                        <a:defRPr sz="950">
                          <a:solidFill>
                            <a:srgbClr val="141923"/>
                          </a:solidFill>
                        </a:defRPr>
                      </a:pPr>
                      <a:r>
                        <a:t>Synthetic Stress Workload</a:t>
                      </a:r>
                    </a:p>
                  </a:txBody>
                  <a:tcPr marL="73152" marR="73152" anchor="ctr">
                    <a:solidFill>
                      <a:srgbClr val="FFFFFF"/>
                    </a:solidFill>
                  </a:tcPr>
                </a:tc>
                <a:tc>
                  <a:txBody>
                    <a:bodyPr/>
                    <a:lstStyle/>
                    <a:p>
                      <a:pPr>
                        <a:defRPr sz="950">
                          <a:solidFill>
                            <a:srgbClr val="141923"/>
                          </a:solidFill>
                        </a:defRPr>
                      </a:pPr>
                      <a:r>
                        <a:t>350,012,867</a:t>
                      </a:r>
                    </a:p>
                  </a:txBody>
                  <a:tcPr marL="73152" marR="73152" anchor="ctr">
                    <a:solidFill>
                      <a:srgbClr val="FFFFFF"/>
                    </a:solidFill>
                  </a:tcPr>
                </a:tc>
                <a:tc>
                  <a:txBody>
                    <a:bodyPr/>
                    <a:lstStyle/>
                    <a:p>
                      <a:pPr>
                        <a:defRPr sz="950">
                          <a:solidFill>
                            <a:srgbClr val="141923"/>
                          </a:solidFill>
                        </a:defRPr>
                      </a:pPr>
                      <a:r>
                        <a:t>Isolated Phase 11 HDFS test</a:t>
                      </a:r>
                    </a:p>
                  </a:txBody>
                  <a:tcPr marL="73152" marR="73152" anchor="ctr">
                    <a:solidFill>
                      <a:srgbClr val="FFFFFF"/>
                    </a:solidFill>
                  </a:tcPr>
                </a:tc>
              </a:tr>
            </a:tbl>
          </a:graphicData>
        </a:graphic>
      </p:graphicFrame>
      <p:sp>
        <p:nvSpPr>
          <p:cNvPr id="12" name="TextBox 11"/>
          <p:cNvSpPr txBox="1"/>
          <p:nvPr/>
        </p:nvSpPr>
        <p:spPr>
          <a:xfrm>
            <a:off x="731520" y="3749039"/>
            <a:ext cx="4983480" cy="1435100"/>
          </a:xfrm>
          <a:prstGeom prst="rect">
            <a:avLst/>
          </a:prstGeom>
          <a:noFill/>
        </p:spPr>
        <p:txBody>
          <a:bodyPr wrap="square">
            <a:spAutoFit/>
          </a:bodyPr>
          <a:lstStyle/>
          <a:p>
            <a:pPr>
              <a:defRPr sz="950">
                <a:solidFill>
                  <a:srgbClr val="555F6E"/>
                </a:solidFill>
              </a:defRPr>
            </a:pPr>
            <a:r>
              <a:rPr sz="1400"/>
              <a:t>Source 1: Agmarknet daily price records (2001–2026). Attributes: State, District, Market, Commodity, Arrival_Date, Min/Max/Modal Price.</a:t>
            </a:r>
            <a:endParaRPr sz="1400"/>
          </a:p>
          <a:p>
            <a:pPr>
              <a:spcBef>
                <a:spcPts val="400"/>
              </a:spcBef>
              <a:defRPr sz="950">
                <a:solidFill>
                  <a:srgbClr val="555F6E"/>
                </a:solidFill>
              </a:defRPr>
            </a:pPr>
            <a:r>
              <a:rPr sz="1400"/>
              <a:t>Source 2: India Mandi dataset. Attributes: State, District, Market, Commodity, Variety, Group, Arrivals (Tonnes), Reported Date.</a:t>
            </a:r>
            <a:endParaRPr sz="1400"/>
          </a:p>
        </p:txBody>
      </p:sp>
      <p:sp>
        <p:nvSpPr>
          <p:cNvPr id="13" name="Rounded Rectangle 12"/>
          <p:cNvSpPr/>
          <p:nvPr/>
        </p:nvSpPr>
        <p:spPr>
          <a:xfrm>
            <a:off x="6263640" y="1051560"/>
            <a:ext cx="5172075" cy="473837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63640" y="1051560"/>
            <a:ext cx="5165725" cy="361315"/>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106424"/>
            <a:ext cx="4983479" cy="292607"/>
          </a:xfrm>
          <a:prstGeom prst="rect">
            <a:avLst/>
          </a:prstGeom>
          <a:noFill/>
        </p:spPr>
        <p:txBody>
          <a:bodyPr wrap="square" lIns="0" tIns="0" rIns="0" bIns="0">
            <a:spAutoFit/>
          </a:bodyPr>
          <a:lstStyle/>
          <a:p>
            <a:pPr>
              <a:defRPr sz="1300" b="1">
                <a:solidFill>
                  <a:srgbClr val="FFFFFF"/>
                </a:solidFill>
              </a:defRPr>
            </a:pPr>
            <a:r>
              <a:t>5 Vs in our project</a:t>
            </a:r>
          </a:p>
        </p:txBody>
      </p:sp>
      <p:sp>
        <p:nvSpPr>
          <p:cNvPr id="17" name="TextBox 16"/>
          <p:cNvSpPr txBox="1"/>
          <p:nvPr/>
        </p:nvSpPr>
        <p:spPr>
          <a:xfrm>
            <a:off x="548640" y="5942330"/>
            <a:ext cx="10475595" cy="306705"/>
          </a:xfrm>
          <a:prstGeom prst="rect">
            <a:avLst/>
          </a:prstGeom>
          <a:noFill/>
        </p:spPr>
        <p:txBody>
          <a:bodyPr wrap="none">
            <a:spAutoFit/>
          </a:bodyPr>
          <a:lstStyle/>
          <a:p>
            <a:pPr>
              <a:defRPr sz="1100">
                <a:solidFill>
                  <a:srgbClr val="A30000"/>
                </a:solidFill>
              </a:defRPr>
            </a:pPr>
            <a:r>
              <a:rPr sz="1400"/>
              <a:t>Real data (132.9M rows) trained and tested the models. An isolated 350M synthetic workload evaluated 18 GB storage scalability.</a:t>
            </a:r>
            <a:endParaRPr sz="1400"/>
          </a:p>
        </p:txBody>
      </p:sp>
      <p:graphicFrame>
        <p:nvGraphicFramePr>
          <p:cNvPr id="18" name="Table 17"/>
          <p:cNvGraphicFramePr/>
          <p:nvPr/>
        </p:nvGraphicFramePr>
        <p:xfrm>
          <a:off x="6446520" y="1546860"/>
          <a:ext cx="4726940" cy="3901440"/>
        </p:xfrm>
        <a:graphic>
          <a:graphicData uri="http://schemas.openxmlformats.org/drawingml/2006/table">
            <a:tbl>
              <a:tblPr firstRow="1" bandRow="1">
                <a:tableStyleId>{5C22544A-7EE6-4342-B048-85BDC9FD1C3A}</a:tableStyleId>
              </a:tblPr>
              <a:tblGrid>
                <a:gridCol w="2363470"/>
                <a:gridCol w="2363470"/>
              </a:tblGrid>
              <a:tr h="640080">
                <a:tc>
                  <a:txBody>
                    <a:bodyPr/>
                    <a:p>
                      <a:pPr>
                        <a:buNone/>
                      </a:pPr>
                      <a:r>
                        <a:rPr sz="1400">
                          <a:solidFill>
                            <a:srgbClr val="000000"/>
                          </a:solidFill>
                          <a:sym typeface="+mn-ea"/>
                        </a:rPr>
                        <a:t>Volume</a:t>
                      </a:r>
                      <a:endParaRPr lang="en-US" sz="1400">
                        <a:solidFill>
                          <a:srgbClr val="000000"/>
                        </a:solidFill>
                        <a:sym typeface="+mn-ea"/>
                      </a:endParaRPr>
                    </a:p>
                  </a:txBody>
                  <a:tcPr>
                    <a:solidFill>
                      <a:srgbClr val="E9EDF4"/>
                    </a:solidFill>
                  </a:tcPr>
                </a:tc>
                <a:tc>
                  <a:txBody>
                    <a:bodyPr/>
                    <a:p>
                      <a:pPr>
                        <a:buNone/>
                      </a:pPr>
                      <a:r>
                        <a:rPr sz="1200" b="0">
                          <a:solidFill>
                            <a:srgbClr val="000000"/>
                          </a:solidFill>
                          <a:sym typeface="+mn-ea"/>
                        </a:rPr>
                        <a:t>10.9 GB raw CSV in HDFS (132.9M real rows). Scaled to 18.15 GiB for stress testing.</a:t>
                      </a:r>
                      <a:endParaRPr lang="en-US" sz="1200" b="0">
                        <a:solidFill>
                          <a:srgbClr val="000000"/>
                        </a:solidFill>
                        <a:sym typeface="+mn-ea"/>
                      </a:endParaRPr>
                    </a:p>
                  </a:txBody>
                  <a:tcPr>
                    <a:solidFill>
                      <a:srgbClr val="E9EDF4"/>
                    </a:solidFill>
                  </a:tcPr>
                </a:tc>
              </a:tr>
              <a:tr h="640080">
                <a:tc>
                  <a:txBody>
                    <a:bodyPr/>
                    <a:p>
                      <a:pPr>
                        <a:buNone/>
                      </a:pPr>
                      <a:r>
                        <a:rPr sz="1400">
                          <a:sym typeface="+mn-ea"/>
                        </a:rPr>
                        <a:t>Velocity</a:t>
                      </a:r>
                      <a:endParaRPr lang="en-US" sz="1400"/>
                    </a:p>
                    <a:p>
                      <a:pPr>
                        <a:buNone/>
                      </a:pPr>
                      <a:endParaRPr lang="en-US" sz="1400"/>
                    </a:p>
                  </a:txBody>
                  <a:tcPr/>
                </a:tc>
                <a:tc>
                  <a:txBody>
                    <a:bodyPr/>
                    <a:p>
                      <a:pPr>
                        <a:buNone/>
                      </a:pPr>
                      <a:r>
                        <a:rPr sz="1200">
                          <a:sym typeface="+mn-ea"/>
                        </a:rPr>
                        <a:t>Replay daily mandi arrivals in streaming micro-batches via Apache Kafka.</a:t>
                      </a:r>
                      <a:endParaRPr lang="en-US" sz="1200">
                        <a:sym typeface="+mn-ea"/>
                      </a:endParaRPr>
                    </a:p>
                  </a:txBody>
                  <a:tcPr/>
                </a:tc>
              </a:tr>
              <a:tr h="944880">
                <a:tc>
                  <a:txBody>
                    <a:bodyPr/>
                    <a:p>
                      <a:pPr>
                        <a:buNone/>
                      </a:pPr>
                      <a:r>
                        <a:rPr sz="1400">
                          <a:sym typeface="+mn-ea"/>
                        </a:rPr>
                        <a:t>Variety</a:t>
                      </a:r>
                      <a:endParaRPr lang="en-US" sz="1400"/>
                    </a:p>
                    <a:p>
                      <a:pPr>
                        <a:buNone/>
                      </a:pPr>
                      <a:endParaRPr lang="en-US" sz="1400"/>
                    </a:p>
                  </a:txBody>
                  <a:tcPr/>
                </a:tc>
                <a:tc>
                  <a:txBody>
                    <a:bodyPr/>
                    <a:p>
                      <a:pPr>
                        <a:buNone/>
                      </a:pPr>
                      <a:r>
                        <a:rPr sz="1400">
                          <a:sym typeface="+mn-ea"/>
                        </a:rPr>
                        <a:t>2 disparate sources: 26 annual CSVs vs 325 commodity CSVs; mixed date formats.</a:t>
                      </a:r>
                      <a:endParaRPr lang="en-US" sz="1400">
                        <a:sym typeface="+mn-ea"/>
                      </a:endParaRPr>
                    </a:p>
                  </a:txBody>
                  <a:tcPr/>
                </a:tc>
              </a:tr>
              <a:tr h="731520">
                <a:tc>
                  <a:txBody>
                    <a:bodyPr/>
                    <a:p>
                      <a:pPr>
                        <a:buNone/>
                      </a:pPr>
                      <a:r>
                        <a:rPr sz="1400">
                          <a:sym typeface="+mn-ea"/>
                        </a:rPr>
                        <a:t>Veracity </a:t>
                      </a:r>
                      <a:endParaRPr lang="en-US" sz="1400"/>
                    </a:p>
                    <a:p>
                      <a:pPr>
                        <a:buNone/>
                      </a:pPr>
                      <a:endParaRPr lang="en-US" sz="1400"/>
                    </a:p>
                  </a:txBody>
                  <a:tcPr/>
                </a:tc>
                <a:tc>
                  <a:txBody>
                    <a:bodyPr/>
                    <a:p>
                      <a:pPr>
                        <a:buNone/>
                      </a:pPr>
                      <a:r>
                        <a:rPr sz="1400">
                          <a:sym typeface="+mn-ea"/>
                        </a:rPr>
                        <a:t>Check missing, negative spreads, and 535k duplicate transactions.</a:t>
                      </a:r>
                      <a:endParaRPr lang="en-US" sz="1400">
                        <a:sym typeface="+mn-ea"/>
                      </a:endParaRPr>
                    </a:p>
                  </a:txBody>
                  <a:tcPr/>
                </a:tc>
              </a:tr>
              <a:tr h="944880">
                <a:tc>
                  <a:txBody>
                    <a:bodyPr/>
                    <a:p>
                      <a:pPr>
                        <a:buNone/>
                      </a:pPr>
                      <a:r>
                        <a:rPr sz="1400">
                          <a:sym typeface="+mn-ea"/>
                        </a:rPr>
                        <a:t>Value</a:t>
                      </a:r>
                      <a:endParaRPr lang="en-US" sz="1400">
                        <a:sym typeface="+mn-ea"/>
                      </a:endParaRPr>
                    </a:p>
                  </a:txBody>
                  <a:tcPr/>
                </a:tc>
                <a:tc>
                  <a:txBody>
                    <a:bodyPr/>
                    <a:p>
                      <a:pPr>
                        <a:buNone/>
                      </a:pPr>
                      <a:r>
                        <a:rPr sz="1400">
                          <a:sym typeface="+mn-ea"/>
                        </a:rPr>
                        <a:t>Help farmers and officials detect sudden price shocks and prevent distress selling.</a:t>
                      </a:r>
                      <a:endParaRPr lang="en-US" sz="1400">
                        <a:sym typeface="+mn-ea"/>
                      </a:endParaRPr>
                    </a:p>
                  </a:txBody>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2560320" cy="365760"/>
          </a:xfrm>
          <a:prstGeom prst="rect">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FFFFFF"/>
                </a:solidFill>
              </a:defRPr>
            </a:pPr>
            <a:r>
              <a:t>Team AG-DATA / 23AID302</a:t>
            </a:r>
          </a:p>
        </p:txBody>
      </p:sp>
      <p:sp>
        <p:nvSpPr>
          <p:cNvPr id="4" name="Rectangle 3"/>
          <p:cNvSpPr/>
          <p:nvPr/>
        </p:nvSpPr>
        <p:spPr>
          <a:xfrm>
            <a:off x="2560320" y="6492240"/>
            <a:ext cx="7802575"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a:solidFill>
                  <a:srgbClr val="A30000"/>
                </a:solidFill>
              </a:defRPr>
            </a:pPr>
            <a:r>
              <a:t>Agricultural Commodity Price Analysis and Decision Support</a:t>
            </a:r>
          </a:p>
        </p:txBody>
      </p:sp>
      <p:sp>
        <p:nvSpPr>
          <p:cNvPr id="5" name="Rectangle 4"/>
          <p:cNvSpPr/>
          <p:nvPr/>
        </p:nvSpPr>
        <p:spPr>
          <a:xfrm>
            <a:off x="10362895" y="6492240"/>
            <a:ext cx="1828800" cy="365760"/>
          </a:xfrm>
          <a:prstGeom prst="rect">
            <a:avLst/>
          </a:prstGeom>
          <a:solidFill>
            <a:srgbClr val="DEE2E8"/>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141923"/>
                </a:solidFill>
              </a:defRPr>
            </a:pPr>
            <a:r>
              <a:t>4 / 10</a:t>
            </a:r>
          </a:p>
        </p:txBody>
      </p:sp>
      <p:sp>
        <p:nvSpPr>
          <p:cNvPr id="6" name="TextBox 5"/>
          <p:cNvSpPr txBox="1"/>
          <p:nvPr/>
        </p:nvSpPr>
        <p:spPr>
          <a:xfrm>
            <a:off x="548640" y="292608"/>
            <a:ext cx="11094415" cy="594360"/>
          </a:xfrm>
          <a:prstGeom prst="rect">
            <a:avLst/>
          </a:prstGeom>
          <a:noFill/>
        </p:spPr>
        <p:txBody>
          <a:bodyPr wrap="square" lIns="0" tIns="0" rIns="0" bIns="0">
            <a:spAutoFit/>
          </a:bodyPr>
          <a:lstStyle/>
          <a:p>
            <a:pPr>
              <a:defRPr sz="2200" b="1">
                <a:solidFill>
                  <a:srgbClr val="A30000"/>
                </a:solidFill>
              </a:defRPr>
            </a:pPr>
            <a:r>
              <a:t>3. System Setup and Configuration</a:t>
            </a:r>
          </a:p>
        </p:txBody>
      </p:sp>
      <p:sp>
        <p:nvSpPr>
          <p:cNvPr id="7" name="Rounded Rectangle 6"/>
          <p:cNvSpPr/>
          <p:nvPr/>
        </p:nvSpPr>
        <p:spPr>
          <a:xfrm>
            <a:off x="548640" y="1051560"/>
            <a:ext cx="1783080" cy="960120"/>
          </a:xfrm>
          <a:prstGeom prst="roundRect">
            <a:avLst/>
          </a:prstGeom>
          <a:solidFill>
            <a:srgbClr val="F1F4FA"/>
          </a:solidFill>
          <a:ln w="19050">
            <a:solidFill>
              <a:srgbClr val="1B2A6B"/>
            </a:solidFill>
          </a:ln>
        </p:spPr>
        <p:style>
          <a:lnRef idx="1">
            <a:schemeClr val="accent1"/>
          </a:lnRef>
          <a:fillRef idx="3">
            <a:schemeClr val="accent1"/>
          </a:fillRef>
          <a:effectRef idx="2">
            <a:schemeClr val="accent1"/>
          </a:effectRef>
          <a:fontRef idx="minor">
            <a:schemeClr val="lt1"/>
          </a:fontRef>
        </p:style>
        <p:txBody>
          <a:bodyPr wrap="square" tIns="109728" rtlCol="0" anchor="ctr"/>
          <a:lstStyle/>
          <a:p>
            <a:pPr algn="ctr">
              <a:defRPr sz="1300" b="1">
                <a:solidFill>
                  <a:srgbClr val="A30000"/>
                </a:solidFill>
              </a:defRPr>
            </a:pPr>
            <a:r>
              <a:t>Input</a:t>
            </a:r>
          </a:p>
          <a:p>
            <a:pPr algn="ctr">
              <a:defRPr sz="1000">
                <a:solidFill>
                  <a:srgbClr val="141923"/>
                </a:solidFill>
              </a:defRPr>
            </a:pPr>
            <a:r>
              <a:t>351 CSVs</a:t>
            </a:r>
            <a:br/>
            <a:r>
              <a:t>(10.9 GB)</a:t>
            </a:r>
          </a:p>
        </p:txBody>
      </p:sp>
      <p:sp>
        <p:nvSpPr>
          <p:cNvPr id="8" name="Right Arrow 7"/>
          <p:cNvSpPr/>
          <p:nvPr/>
        </p:nvSpPr>
        <p:spPr>
          <a:xfrm>
            <a:off x="2423160" y="1371600"/>
            <a:ext cx="320040" cy="320040"/>
          </a:xfrm>
          <a:prstGeom prst="rightArrow">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34640" y="1051560"/>
            <a:ext cx="1783080" cy="960120"/>
          </a:xfrm>
          <a:prstGeom prst="roundRect">
            <a:avLst/>
          </a:prstGeom>
          <a:solidFill>
            <a:srgbClr val="F1F4FA"/>
          </a:solidFill>
          <a:ln w="19050">
            <a:solidFill>
              <a:srgbClr val="1B2A6B"/>
            </a:solidFill>
          </a:ln>
        </p:spPr>
        <p:style>
          <a:lnRef idx="1">
            <a:schemeClr val="accent1"/>
          </a:lnRef>
          <a:fillRef idx="3">
            <a:schemeClr val="accent1"/>
          </a:fillRef>
          <a:effectRef idx="2">
            <a:schemeClr val="accent1"/>
          </a:effectRef>
          <a:fontRef idx="minor">
            <a:schemeClr val="lt1"/>
          </a:fontRef>
        </p:style>
        <p:txBody>
          <a:bodyPr wrap="square" tIns="109728" rtlCol="0" anchor="ctr"/>
          <a:lstStyle/>
          <a:p>
            <a:pPr algn="ctr">
              <a:defRPr sz="1300" b="1">
                <a:solidFill>
                  <a:srgbClr val="A30000"/>
                </a:solidFill>
              </a:defRPr>
            </a:pPr>
            <a:r>
              <a:t>HDFS</a:t>
            </a:r>
          </a:p>
          <a:p>
            <a:pPr algn="ctr">
              <a:defRPr sz="1000">
                <a:solidFill>
                  <a:srgbClr val="141923"/>
                </a:solidFill>
              </a:defRPr>
            </a:pPr>
            <a:r>
              <a:t>Store files</a:t>
            </a:r>
            <a:br/>
            <a:r>
              <a:t>in blocks</a:t>
            </a:r>
          </a:p>
        </p:txBody>
      </p:sp>
      <p:sp>
        <p:nvSpPr>
          <p:cNvPr id="10" name="Right Arrow 9"/>
          <p:cNvSpPr/>
          <p:nvPr/>
        </p:nvSpPr>
        <p:spPr>
          <a:xfrm>
            <a:off x="4709159" y="1371600"/>
            <a:ext cx="320040" cy="320040"/>
          </a:xfrm>
          <a:prstGeom prst="rightArrow">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20640" y="1051560"/>
            <a:ext cx="1783080" cy="960120"/>
          </a:xfrm>
          <a:prstGeom prst="roundRect">
            <a:avLst/>
          </a:prstGeom>
          <a:solidFill>
            <a:srgbClr val="F1F4FA"/>
          </a:solidFill>
          <a:ln w="19050">
            <a:solidFill>
              <a:srgbClr val="1B2A6B"/>
            </a:solidFill>
          </a:ln>
        </p:spPr>
        <p:style>
          <a:lnRef idx="1">
            <a:schemeClr val="accent1"/>
          </a:lnRef>
          <a:fillRef idx="3">
            <a:schemeClr val="accent1"/>
          </a:fillRef>
          <a:effectRef idx="2">
            <a:schemeClr val="accent1"/>
          </a:effectRef>
          <a:fontRef idx="minor">
            <a:schemeClr val="lt1"/>
          </a:fontRef>
        </p:style>
        <p:txBody>
          <a:bodyPr wrap="square" tIns="109728" rtlCol="0" anchor="ctr"/>
          <a:lstStyle/>
          <a:p>
            <a:pPr algn="ctr">
              <a:defRPr sz="1300" b="1">
                <a:solidFill>
                  <a:srgbClr val="A30000"/>
                </a:solidFill>
              </a:defRPr>
            </a:pPr>
            <a:r>
              <a:t>Scala</a:t>
            </a:r>
          </a:p>
          <a:p>
            <a:pPr algn="ctr">
              <a:defRPr sz="1000">
                <a:solidFill>
                  <a:srgbClr val="141923"/>
                </a:solidFill>
              </a:defRPr>
            </a:pPr>
            <a:r>
              <a:t>Read, clean</a:t>
            </a:r>
            <a:br/>
            <a:r>
              <a:t>&amp; dedup</a:t>
            </a:r>
          </a:p>
        </p:txBody>
      </p:sp>
      <p:sp>
        <p:nvSpPr>
          <p:cNvPr id="12" name="Right Arrow 11"/>
          <p:cNvSpPr/>
          <p:nvPr/>
        </p:nvSpPr>
        <p:spPr>
          <a:xfrm>
            <a:off x="6995159" y="1371600"/>
            <a:ext cx="320040" cy="320040"/>
          </a:xfrm>
          <a:prstGeom prst="rightArrow">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06640" y="1051560"/>
            <a:ext cx="1783080" cy="960120"/>
          </a:xfrm>
          <a:prstGeom prst="roundRect">
            <a:avLst/>
          </a:prstGeom>
          <a:solidFill>
            <a:srgbClr val="F1F4FA"/>
          </a:solidFill>
          <a:ln w="19050">
            <a:solidFill>
              <a:srgbClr val="1B2A6B"/>
            </a:solidFill>
          </a:ln>
        </p:spPr>
        <p:style>
          <a:lnRef idx="1">
            <a:schemeClr val="accent1"/>
          </a:lnRef>
          <a:fillRef idx="3">
            <a:schemeClr val="accent1"/>
          </a:fillRef>
          <a:effectRef idx="2">
            <a:schemeClr val="accent1"/>
          </a:effectRef>
          <a:fontRef idx="minor">
            <a:schemeClr val="lt1"/>
          </a:fontRef>
        </p:style>
        <p:txBody>
          <a:bodyPr wrap="square" tIns="109728" rtlCol="0" anchor="ctr"/>
          <a:lstStyle/>
          <a:p>
            <a:pPr algn="ctr">
              <a:defRPr sz="1300" b="1">
                <a:solidFill>
                  <a:srgbClr val="A30000"/>
                </a:solidFill>
              </a:defRPr>
            </a:pPr>
            <a:r>
              <a:t>Spark</a:t>
            </a:r>
          </a:p>
          <a:p>
            <a:pPr algn="ctr">
              <a:defRPr sz="1000">
                <a:solidFill>
                  <a:srgbClr val="141923"/>
                </a:solidFill>
              </a:defRPr>
            </a:pPr>
            <a:r>
              <a:t>Build features</a:t>
            </a:r>
            <a:br/>
            <a:r>
              <a:t>and models</a:t>
            </a:r>
          </a:p>
        </p:txBody>
      </p:sp>
      <p:sp>
        <p:nvSpPr>
          <p:cNvPr id="14" name="Right Arrow 13"/>
          <p:cNvSpPr/>
          <p:nvPr/>
        </p:nvSpPr>
        <p:spPr>
          <a:xfrm>
            <a:off x="9281159" y="1371600"/>
            <a:ext cx="320040" cy="320040"/>
          </a:xfrm>
          <a:prstGeom prst="rightArrow">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92640" y="1051560"/>
            <a:ext cx="1783080" cy="960120"/>
          </a:xfrm>
          <a:prstGeom prst="roundRect">
            <a:avLst/>
          </a:prstGeom>
          <a:solidFill>
            <a:srgbClr val="F1F4FA"/>
          </a:solidFill>
          <a:ln w="19050">
            <a:solidFill>
              <a:srgbClr val="1B2A6B"/>
            </a:solidFill>
          </a:ln>
        </p:spPr>
        <p:style>
          <a:lnRef idx="1">
            <a:schemeClr val="accent1"/>
          </a:lnRef>
          <a:fillRef idx="3">
            <a:schemeClr val="accent1"/>
          </a:fillRef>
          <a:effectRef idx="2">
            <a:schemeClr val="accent1"/>
          </a:effectRef>
          <a:fontRef idx="minor">
            <a:schemeClr val="lt1"/>
          </a:fontRef>
        </p:style>
        <p:txBody>
          <a:bodyPr wrap="square" tIns="109728" rtlCol="0" anchor="ctr"/>
          <a:lstStyle/>
          <a:p>
            <a:pPr algn="ctr">
              <a:defRPr sz="1300" b="1">
                <a:solidFill>
                  <a:srgbClr val="A30000"/>
                </a:solidFill>
              </a:defRPr>
            </a:pPr>
            <a:r>
              <a:t>Results</a:t>
            </a:r>
          </a:p>
          <a:p>
            <a:pPr algn="ctr">
              <a:defRPr sz="1000">
                <a:solidFill>
                  <a:srgbClr val="141923"/>
                </a:solidFill>
              </a:defRPr>
            </a:pPr>
            <a:r>
              <a:t>Alerts, charts</a:t>
            </a:r>
            <a:br/>
            <a:r>
              <a:t>&amp; dashboard</a:t>
            </a:r>
          </a:p>
        </p:txBody>
      </p:sp>
      <p:sp>
        <p:nvSpPr>
          <p:cNvPr id="16" name="Rounded Rectangle 15"/>
          <p:cNvSpPr/>
          <p:nvPr/>
        </p:nvSpPr>
        <p:spPr>
          <a:xfrm>
            <a:off x="548640" y="2286000"/>
            <a:ext cx="5349240" cy="237744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228600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340864"/>
            <a:ext cx="4983479" cy="292607"/>
          </a:xfrm>
          <a:prstGeom prst="rect">
            <a:avLst/>
          </a:prstGeom>
          <a:noFill/>
        </p:spPr>
        <p:txBody>
          <a:bodyPr wrap="square" lIns="0" tIns="0" rIns="0" bIns="0">
            <a:spAutoFit/>
          </a:bodyPr>
          <a:lstStyle/>
          <a:p>
            <a:pPr>
              <a:defRPr sz="1300" b="1">
                <a:solidFill>
                  <a:srgbClr val="FFFFFF"/>
                </a:solidFill>
              </a:defRPr>
            </a:pPr>
            <a:r>
              <a:t>HDFS storage settings</a:t>
            </a:r>
          </a:p>
        </p:txBody>
      </p:sp>
      <p:sp>
        <p:nvSpPr>
          <p:cNvPr id="19" name="TextBox 18"/>
          <p:cNvSpPr txBox="1"/>
          <p:nvPr/>
        </p:nvSpPr>
        <p:spPr>
          <a:xfrm>
            <a:off x="749808" y="2761488"/>
            <a:ext cx="4946903" cy="1015365"/>
          </a:xfrm>
          <a:prstGeom prst="rect">
            <a:avLst/>
          </a:prstGeom>
          <a:noFill/>
        </p:spPr>
        <p:txBody>
          <a:bodyPr wrap="square" lIns="0" tIns="0" rIns="0" bIns="0">
            <a:spAutoFit/>
          </a:bodyPr>
          <a:lstStyle/>
          <a:p>
            <a:pPr>
              <a:defRPr sz="1150">
                <a:solidFill>
                  <a:srgbClr val="141923"/>
                </a:solidFill>
              </a:defRPr>
            </a:pPr>
            <a:r>
              <a:rPr sz="1400"/>
              <a:t>• 1 NameNode + 3 DataNodes (Docker cluster).</a:t>
            </a:r>
            <a:endParaRPr sz="1400"/>
          </a:p>
          <a:p>
            <a:pPr>
              <a:spcBef>
                <a:spcPts val="400"/>
              </a:spcBef>
              <a:defRPr sz="1150">
                <a:solidFill>
                  <a:srgbClr val="141923"/>
                </a:solidFill>
              </a:defRPr>
            </a:pPr>
            <a:r>
              <a:rPr sz="1400"/>
              <a:t>• Block size: 128 MiB (standard for large Parquet blocks).</a:t>
            </a:r>
            <a:endParaRPr sz="1400"/>
          </a:p>
          <a:p>
            <a:pPr>
              <a:spcBef>
                <a:spcPts val="400"/>
              </a:spcBef>
              <a:defRPr sz="1150">
                <a:solidFill>
                  <a:srgbClr val="141923"/>
                </a:solidFill>
              </a:defRPr>
            </a:pPr>
            <a:r>
              <a:rPr sz="1400"/>
              <a:t>• Replication: 3 copies of each block for fault tolerance.</a:t>
            </a:r>
            <a:endParaRPr sz="1400"/>
          </a:p>
          <a:p>
            <a:pPr>
              <a:spcBef>
                <a:spcPts val="400"/>
              </a:spcBef>
              <a:defRPr sz="1150">
                <a:solidFill>
                  <a:srgbClr val="141923"/>
                </a:solidFill>
              </a:defRPr>
            </a:pPr>
            <a:r>
              <a:rPr sz="1400"/>
              <a:t>• Clean output: Snappy Parquet, partitioned by year.</a:t>
            </a:r>
            <a:endParaRPr sz="1400"/>
          </a:p>
        </p:txBody>
      </p:sp>
      <p:sp>
        <p:nvSpPr>
          <p:cNvPr id="20" name="Rounded Rectangle 19"/>
          <p:cNvSpPr/>
          <p:nvPr/>
        </p:nvSpPr>
        <p:spPr>
          <a:xfrm>
            <a:off x="6263640" y="2286000"/>
            <a:ext cx="5349240" cy="237744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63640" y="228600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2340864"/>
            <a:ext cx="4983479" cy="292607"/>
          </a:xfrm>
          <a:prstGeom prst="rect">
            <a:avLst/>
          </a:prstGeom>
          <a:noFill/>
        </p:spPr>
        <p:txBody>
          <a:bodyPr wrap="square" lIns="0" tIns="0" rIns="0" bIns="0">
            <a:spAutoFit/>
          </a:bodyPr>
          <a:lstStyle/>
          <a:p>
            <a:pPr>
              <a:defRPr sz="1300" b="1">
                <a:solidFill>
                  <a:srgbClr val="FFFFFF"/>
                </a:solidFill>
              </a:defRPr>
            </a:pPr>
            <a:r>
              <a:t>Spark application settings</a:t>
            </a:r>
          </a:p>
        </p:txBody>
      </p:sp>
      <p:sp>
        <p:nvSpPr>
          <p:cNvPr id="23" name="TextBox 22"/>
          <p:cNvSpPr txBox="1"/>
          <p:nvPr/>
        </p:nvSpPr>
        <p:spPr>
          <a:xfrm>
            <a:off x="6464807" y="2761488"/>
            <a:ext cx="4946903" cy="1015365"/>
          </a:xfrm>
          <a:prstGeom prst="rect">
            <a:avLst/>
          </a:prstGeom>
          <a:noFill/>
        </p:spPr>
        <p:txBody>
          <a:bodyPr wrap="square" lIns="0" tIns="0" rIns="0" bIns="0">
            <a:spAutoFit/>
          </a:bodyPr>
          <a:lstStyle/>
          <a:p>
            <a:pPr>
              <a:defRPr sz="1150">
                <a:solidFill>
                  <a:srgbClr val="141923"/>
                </a:solidFill>
              </a:defRPr>
            </a:pPr>
            <a:r>
              <a:rPr sz="1400"/>
              <a:t>• Engine: Apache Spark 4.2.0 in local[*] mode.</a:t>
            </a:r>
            <a:endParaRPr sz="1400"/>
          </a:p>
          <a:p>
            <a:pPr>
              <a:spcBef>
                <a:spcPts val="400"/>
              </a:spcBef>
              <a:defRPr sz="1150">
                <a:solidFill>
                  <a:srgbClr val="141923"/>
                </a:solidFill>
              </a:defRPr>
            </a:pPr>
            <a:r>
              <a:rPr sz="1400"/>
              <a:t>• Multi-core local CPU threads (NOT YARN worker executors).</a:t>
            </a:r>
            <a:endParaRPr sz="1400"/>
          </a:p>
          <a:p>
            <a:pPr>
              <a:spcBef>
                <a:spcPts val="400"/>
              </a:spcBef>
              <a:defRPr sz="1150">
                <a:solidFill>
                  <a:srgbClr val="141923"/>
                </a:solidFill>
              </a:defRPr>
            </a:pPr>
            <a:r>
              <a:rPr sz="1400"/>
              <a:t>• Memory: 4 GB driver / executor heap memory.</a:t>
            </a:r>
            <a:endParaRPr sz="1400"/>
          </a:p>
          <a:p>
            <a:pPr>
              <a:spcBef>
                <a:spcPts val="400"/>
              </a:spcBef>
              <a:defRPr sz="1150">
                <a:solidFill>
                  <a:srgbClr val="141923"/>
                </a:solidFill>
              </a:defRPr>
            </a:pPr>
            <a:r>
              <a:rPr sz="1400"/>
              <a:t>• Shuffle partitions: 200 partitions for balanced core utilization.</a:t>
            </a:r>
            <a:endParaRPr sz="1400"/>
          </a:p>
        </p:txBody>
      </p:sp>
      <p:sp>
        <p:nvSpPr>
          <p:cNvPr id="24" name="Rounded Rectangle 23"/>
          <p:cNvSpPr/>
          <p:nvPr/>
        </p:nvSpPr>
        <p:spPr>
          <a:xfrm>
            <a:off x="548640" y="4800600"/>
            <a:ext cx="11064240" cy="132588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4800600"/>
            <a:ext cx="11064240" cy="347472"/>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846320"/>
            <a:ext cx="10698480" cy="256032"/>
          </a:xfrm>
          <a:prstGeom prst="rect">
            <a:avLst/>
          </a:prstGeom>
          <a:noFill/>
        </p:spPr>
        <p:txBody>
          <a:bodyPr wrap="square" lIns="0" tIns="0" rIns="0" bIns="0">
            <a:spAutoFit/>
          </a:bodyPr>
          <a:lstStyle/>
          <a:p>
            <a:pPr>
              <a:defRPr sz="1200" b="1">
                <a:solidFill>
                  <a:srgbClr val="FFFFFF"/>
                </a:solidFill>
              </a:defRPr>
            </a:pPr>
            <a:r>
              <a:t>Are HDFS DataNodes also running as Spark executors?</a:t>
            </a:r>
          </a:p>
        </p:txBody>
      </p:sp>
      <p:sp>
        <p:nvSpPr>
          <p:cNvPr id="27" name="TextBox 26"/>
          <p:cNvSpPr txBox="1"/>
          <p:nvPr/>
        </p:nvSpPr>
        <p:spPr>
          <a:xfrm>
            <a:off x="777240" y="5239512"/>
            <a:ext cx="10607040" cy="430530"/>
          </a:xfrm>
          <a:prstGeom prst="rect">
            <a:avLst/>
          </a:prstGeom>
          <a:noFill/>
        </p:spPr>
        <p:txBody>
          <a:bodyPr wrap="square" lIns="0" tIns="0" rIns="0" bIns="0">
            <a:spAutoFit/>
          </a:bodyPr>
          <a:lstStyle/>
          <a:p>
            <a:pPr>
              <a:defRPr sz="1100">
                <a:solidFill>
                  <a:srgbClr val="141923"/>
                </a:solidFill>
              </a:defRPr>
            </a:pPr>
            <a:r>
              <a:rPr sz="1400"/>
              <a:t>No. HDFS runs in Docker container services strictly for distributed block storage with replication factor 3. Spark runs in local[*] mode on host CPU cores. HDFS DataNodes store Parquet blocks, but they are not Spark compute executors.</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2560320" cy="365760"/>
          </a:xfrm>
          <a:prstGeom prst="rect">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FFFFFF"/>
                </a:solidFill>
              </a:defRPr>
            </a:pPr>
            <a:r>
              <a:t>Team AG-DATA / 23AID302</a:t>
            </a:r>
          </a:p>
        </p:txBody>
      </p:sp>
      <p:sp>
        <p:nvSpPr>
          <p:cNvPr id="4" name="Rectangle 3"/>
          <p:cNvSpPr/>
          <p:nvPr/>
        </p:nvSpPr>
        <p:spPr>
          <a:xfrm>
            <a:off x="2560320" y="6492240"/>
            <a:ext cx="7802575"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a:solidFill>
                  <a:srgbClr val="A30000"/>
                </a:solidFill>
              </a:defRPr>
            </a:pPr>
            <a:r>
              <a:t>Agricultural Commodity Price Analysis and Decision Support</a:t>
            </a:r>
          </a:p>
        </p:txBody>
      </p:sp>
      <p:sp>
        <p:nvSpPr>
          <p:cNvPr id="5" name="Rectangle 4"/>
          <p:cNvSpPr/>
          <p:nvPr/>
        </p:nvSpPr>
        <p:spPr>
          <a:xfrm>
            <a:off x="10362895" y="6492240"/>
            <a:ext cx="1828800" cy="365760"/>
          </a:xfrm>
          <a:prstGeom prst="rect">
            <a:avLst/>
          </a:prstGeom>
          <a:solidFill>
            <a:srgbClr val="DEE2E8"/>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141923"/>
                </a:solidFill>
              </a:defRPr>
            </a:pPr>
            <a:r>
              <a:t>5 / 10</a:t>
            </a:r>
          </a:p>
        </p:txBody>
      </p:sp>
      <p:sp>
        <p:nvSpPr>
          <p:cNvPr id="6" name="TextBox 5"/>
          <p:cNvSpPr txBox="1"/>
          <p:nvPr/>
        </p:nvSpPr>
        <p:spPr>
          <a:xfrm>
            <a:off x="548640" y="292608"/>
            <a:ext cx="11094415" cy="594360"/>
          </a:xfrm>
          <a:prstGeom prst="rect">
            <a:avLst/>
          </a:prstGeom>
          <a:noFill/>
        </p:spPr>
        <p:txBody>
          <a:bodyPr wrap="square" lIns="0" tIns="0" rIns="0" bIns="0">
            <a:spAutoFit/>
          </a:bodyPr>
          <a:lstStyle/>
          <a:p>
            <a:pPr>
              <a:defRPr sz="2200" b="1">
                <a:solidFill>
                  <a:srgbClr val="A30000"/>
                </a:solidFill>
              </a:defRPr>
            </a:pPr>
            <a:r>
              <a:t>4. Spark Workflow and the DAG</a:t>
            </a:r>
          </a:p>
        </p:txBody>
      </p:sp>
      <p:sp>
        <p:nvSpPr>
          <p:cNvPr id="7" name="Rounded Rectangle 6"/>
          <p:cNvSpPr/>
          <p:nvPr/>
        </p:nvSpPr>
        <p:spPr>
          <a:xfrm>
            <a:off x="548640" y="1051560"/>
            <a:ext cx="5349240" cy="347472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05156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106424"/>
            <a:ext cx="4983479" cy="292607"/>
          </a:xfrm>
          <a:prstGeom prst="rect">
            <a:avLst/>
          </a:prstGeom>
          <a:noFill/>
        </p:spPr>
        <p:txBody>
          <a:bodyPr wrap="square" lIns="0" tIns="0" rIns="0" bIns="0">
            <a:spAutoFit/>
          </a:bodyPr>
          <a:lstStyle/>
          <a:p>
            <a:pPr>
              <a:defRPr sz="1300" b="1">
                <a:solidFill>
                  <a:srgbClr val="FFFFFF"/>
                </a:solidFill>
              </a:defRPr>
            </a:pPr>
            <a:r>
              <a:t>Steps in Spark</a:t>
            </a:r>
          </a:p>
        </p:txBody>
      </p:sp>
      <p:sp>
        <p:nvSpPr>
          <p:cNvPr id="10" name="TextBox 9"/>
          <p:cNvSpPr txBox="1"/>
          <p:nvPr/>
        </p:nvSpPr>
        <p:spPr>
          <a:xfrm>
            <a:off x="749808" y="1527048"/>
            <a:ext cx="4946903" cy="2031365"/>
          </a:xfrm>
          <a:prstGeom prst="rect">
            <a:avLst/>
          </a:prstGeom>
          <a:noFill/>
        </p:spPr>
        <p:txBody>
          <a:bodyPr wrap="square" lIns="0" tIns="0" rIns="0" bIns="0">
            <a:spAutoFit/>
          </a:bodyPr>
          <a:lstStyle/>
          <a:p>
            <a:pPr>
              <a:defRPr sz="1100">
                <a:solidFill>
                  <a:srgbClr val="141923"/>
                </a:solidFill>
              </a:defRPr>
            </a:pPr>
            <a:r>
              <a:rPr sz="1400"/>
              <a:t>1  Read and parse CSVs with explicit StructType schemas.</a:t>
            </a:r>
            <a:endParaRPr sz="1400"/>
          </a:p>
          <a:p>
            <a:pPr>
              <a:spcBef>
                <a:spcPts val="400"/>
              </a:spcBef>
              <a:defRPr sz="1100">
                <a:solidFill>
                  <a:srgbClr val="141923"/>
                </a:solidFill>
              </a:defRPr>
            </a:pPr>
            <a:r>
              <a:rPr sz="1400"/>
              <a:t>2  Map-side composite deduplication (7 business keys).</a:t>
            </a:r>
            <a:endParaRPr sz="1400"/>
          </a:p>
          <a:p>
            <a:pPr>
              <a:spcBef>
                <a:spcPts val="400"/>
              </a:spcBef>
              <a:defRPr sz="1100">
                <a:solidFill>
                  <a:srgbClr val="141923"/>
                </a:solidFill>
              </a:defRPr>
            </a:pPr>
            <a:r>
              <a:rPr sz="1400"/>
              <a:t>3  Window rolling stats (7-day mean, stddev, z-score).</a:t>
            </a:r>
            <a:endParaRPr sz="1400"/>
          </a:p>
          <a:p>
            <a:pPr>
              <a:spcBef>
                <a:spcPts val="400"/>
              </a:spcBef>
              <a:defRPr sz="1100">
                <a:solidFill>
                  <a:srgbClr val="141923"/>
                </a:solidFill>
              </a:defRPr>
            </a:pPr>
            <a:r>
              <a:rPr sz="1400"/>
              <a:t>4  Train MLlib Random Forest and save predictions.</a:t>
            </a:r>
            <a:endParaRPr sz="1400"/>
          </a:p>
          <a:p>
            <a:pPr>
              <a:spcBef>
                <a:spcPts val="800"/>
              </a:spcBef>
              <a:defRPr sz="1050">
                <a:solidFill>
                  <a:srgbClr val="A30000"/>
                </a:solidFill>
              </a:defRPr>
            </a:pPr>
            <a:r>
              <a:rPr sz="1400"/>
              <a:t>Partitions: Split work into 200 shuffle partitions; year directory pruning.</a:t>
            </a:r>
            <a:endParaRPr sz="1400"/>
          </a:p>
          <a:p>
            <a:pPr>
              <a:spcBef>
                <a:spcPts val="400"/>
              </a:spcBef>
              <a:defRPr sz="1050">
                <a:solidFill>
                  <a:srgbClr val="141923"/>
                </a:solidFill>
              </a:defRPr>
            </a:pPr>
            <a:r>
              <a:rPr sz="1400"/>
              <a:t>Cache: Feature DataFrames cached in memory (prepTrain.cache()); unpersisted after training.</a:t>
            </a:r>
            <a:endParaRPr sz="1400"/>
          </a:p>
        </p:txBody>
      </p:sp>
      <p:sp>
        <p:nvSpPr>
          <p:cNvPr id="11" name="Rounded Rectangle 10"/>
          <p:cNvSpPr/>
          <p:nvPr/>
        </p:nvSpPr>
        <p:spPr>
          <a:xfrm>
            <a:off x="6263640" y="1051560"/>
            <a:ext cx="5349240" cy="347472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63640" y="105156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106424"/>
            <a:ext cx="4983479" cy="292607"/>
          </a:xfrm>
          <a:prstGeom prst="rect">
            <a:avLst/>
          </a:prstGeom>
          <a:noFill/>
        </p:spPr>
        <p:txBody>
          <a:bodyPr wrap="square" lIns="0" tIns="0" rIns="0" bIns="0">
            <a:spAutoFit/>
          </a:bodyPr>
          <a:lstStyle/>
          <a:p>
            <a:pPr>
              <a:defRPr sz="1300" b="1">
                <a:solidFill>
                  <a:srgbClr val="FFFFFF"/>
                </a:solidFill>
              </a:defRPr>
            </a:pPr>
            <a:r>
              <a:t>DAG: a map of the work Spark runs</a:t>
            </a:r>
          </a:p>
        </p:txBody>
      </p:sp>
      <p:sp>
        <p:nvSpPr>
          <p:cNvPr id="14" name="TextBox 13"/>
          <p:cNvSpPr txBox="1"/>
          <p:nvPr/>
        </p:nvSpPr>
        <p:spPr>
          <a:xfrm>
            <a:off x="6464807" y="1527048"/>
            <a:ext cx="4946903" cy="2926079"/>
          </a:xfrm>
          <a:prstGeom prst="rect">
            <a:avLst/>
          </a:prstGeom>
          <a:noFill/>
        </p:spPr>
        <p:txBody>
          <a:bodyPr wrap="square" lIns="0" tIns="0" rIns="0" bIns="0">
            <a:spAutoFit/>
          </a:bodyPr>
          <a:lstStyle/>
          <a:p>
            <a:pPr>
              <a:defRPr sz="1100" b="1">
                <a:solidFill>
                  <a:srgbClr val="1B2A6B"/>
                </a:solidFill>
              </a:defRPr>
            </a:pPr>
            <a:r>
              <a:t>Execution DAG (Shuffle-Delimited Stages):</a:t>
            </a:r>
          </a:p>
        </p:txBody>
      </p:sp>
      <p:sp>
        <p:nvSpPr>
          <p:cNvPr id="15" name="Rounded Rectangle 14"/>
          <p:cNvSpPr/>
          <p:nvPr/>
        </p:nvSpPr>
        <p:spPr>
          <a:xfrm>
            <a:off x="6537960" y="1874519"/>
            <a:ext cx="1645920" cy="347472"/>
          </a:xfrm>
          <a:prstGeom prst="roundRect">
            <a:avLst/>
          </a:prstGeom>
          <a:solidFill>
            <a:srgbClr val="FFFFFF"/>
          </a:solidFill>
          <a:ln w="12700">
            <a:solidFill>
              <a:srgbClr val="1B2A6B"/>
            </a:solid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1B2A6B"/>
                </a:solidFill>
              </a:defRPr>
            </a:pPr>
            <a:r>
              <a:t>Stage 0: Parquet Read</a:t>
            </a:r>
          </a:p>
        </p:txBody>
      </p:sp>
      <p:sp>
        <p:nvSpPr>
          <p:cNvPr id="16" name="Down Arrow 15"/>
          <p:cNvSpPr/>
          <p:nvPr/>
        </p:nvSpPr>
        <p:spPr>
          <a:xfrm>
            <a:off x="7269480" y="2221991"/>
            <a:ext cx="182880" cy="73152"/>
          </a:xfrm>
          <a:prstGeom prst="downArrow">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37960" y="2295144"/>
            <a:ext cx="1645920" cy="347472"/>
          </a:xfrm>
          <a:prstGeom prst="roundRect">
            <a:avLst/>
          </a:prstGeom>
          <a:solidFill>
            <a:srgbClr val="FFFFFF"/>
          </a:solidFill>
          <a:ln w="12700">
            <a:solidFill>
              <a:srgbClr val="1B2A6B"/>
            </a:solid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1B2A6B"/>
                </a:solidFill>
              </a:defRPr>
            </a:pPr>
            <a:r>
              <a:t>Stage 1: Filter &amp; Dedup</a:t>
            </a:r>
          </a:p>
        </p:txBody>
      </p:sp>
      <p:sp>
        <p:nvSpPr>
          <p:cNvPr id="18" name="Down Arrow 17"/>
          <p:cNvSpPr/>
          <p:nvPr/>
        </p:nvSpPr>
        <p:spPr>
          <a:xfrm>
            <a:off x="7269480" y="2642615"/>
            <a:ext cx="182880" cy="73152"/>
          </a:xfrm>
          <a:prstGeom prst="downArrow">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37960" y="2715768"/>
            <a:ext cx="1645920" cy="347472"/>
          </a:xfrm>
          <a:prstGeom prst="roundRect">
            <a:avLst/>
          </a:prstGeom>
          <a:solidFill>
            <a:srgbClr val="FFFFFF"/>
          </a:solidFill>
          <a:ln w="12700">
            <a:solidFill>
              <a:srgbClr val="1B2A6B"/>
            </a:solid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1B2A6B"/>
                </a:solidFill>
              </a:defRPr>
            </a:pPr>
            <a:r>
              <a:t>Stage 2: Window Shuffle</a:t>
            </a:r>
          </a:p>
        </p:txBody>
      </p:sp>
      <p:sp>
        <p:nvSpPr>
          <p:cNvPr id="20" name="Down Arrow 19"/>
          <p:cNvSpPr/>
          <p:nvPr/>
        </p:nvSpPr>
        <p:spPr>
          <a:xfrm>
            <a:off x="7269480" y="3063239"/>
            <a:ext cx="182880" cy="73152"/>
          </a:xfrm>
          <a:prstGeom prst="downArrow">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37960" y="3136391"/>
            <a:ext cx="1645920" cy="347472"/>
          </a:xfrm>
          <a:prstGeom prst="roundRect">
            <a:avLst/>
          </a:prstGeom>
          <a:solidFill>
            <a:srgbClr val="FFFFFF"/>
          </a:solidFill>
          <a:ln w="12700">
            <a:solidFill>
              <a:srgbClr val="1B2A6B"/>
            </a:solid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1B2A6B"/>
                </a:solidFill>
              </a:defRPr>
            </a:pPr>
            <a:r>
              <a:t>Stage 3: Feature Vector</a:t>
            </a:r>
          </a:p>
        </p:txBody>
      </p:sp>
      <p:sp>
        <p:nvSpPr>
          <p:cNvPr id="22" name="Down Arrow 21"/>
          <p:cNvSpPr/>
          <p:nvPr/>
        </p:nvSpPr>
        <p:spPr>
          <a:xfrm>
            <a:off x="7269480" y="3483863"/>
            <a:ext cx="182880" cy="73152"/>
          </a:xfrm>
          <a:prstGeom prst="downArrow">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37960" y="3557015"/>
            <a:ext cx="1645920" cy="347472"/>
          </a:xfrm>
          <a:prstGeom prst="roundRect">
            <a:avLst/>
          </a:prstGeom>
          <a:solidFill>
            <a:srgbClr val="FFFFFF"/>
          </a:solidFill>
          <a:ln w="12700">
            <a:solidFill>
              <a:srgbClr val="1B2A6B"/>
            </a:solid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950" b="1">
                <a:solidFill>
                  <a:srgbClr val="1B2A6B"/>
                </a:solidFill>
              </a:defRPr>
            </a:pPr>
            <a:r>
              <a:t>Stage 4: Model Fit</a:t>
            </a:r>
          </a:p>
        </p:txBody>
      </p:sp>
      <p:sp>
        <p:nvSpPr>
          <p:cNvPr id="24" name="TextBox 23"/>
          <p:cNvSpPr txBox="1"/>
          <p:nvPr/>
        </p:nvSpPr>
        <p:spPr>
          <a:xfrm>
            <a:off x="8412480" y="2103120"/>
            <a:ext cx="3017520" cy="1599565"/>
          </a:xfrm>
          <a:prstGeom prst="rect">
            <a:avLst/>
          </a:prstGeom>
          <a:noFill/>
        </p:spPr>
        <p:txBody>
          <a:bodyPr wrap="square">
            <a:spAutoFit/>
          </a:bodyPr>
          <a:lstStyle/>
          <a:p>
            <a:pPr>
              <a:defRPr sz="1050">
                <a:solidFill>
                  <a:srgbClr val="555F6E"/>
                </a:solidFill>
              </a:defRPr>
            </a:pPr>
            <a:r>
              <a:rPr sz="1400"/>
              <a:t>Arrows show stage dependencies.</a:t>
            </a:r>
            <a:br>
              <a:rPr sz="1400"/>
            </a:br>
            <a:br>
              <a:rPr sz="1400"/>
            </a:br>
            <a:r>
              <a:rPr sz="1400"/>
              <a:t>Wide transformations create shuffle boundaries.</a:t>
            </a:r>
            <a:br>
              <a:rPr sz="1400"/>
            </a:br>
            <a:br>
              <a:rPr sz="1400"/>
            </a:br>
            <a:r>
              <a:rPr sz="1400"/>
              <a:t>An actual feature run completed across 13 distinct stages.</a:t>
            </a:r>
            <a:endParaRPr sz="1400"/>
          </a:p>
        </p:txBody>
      </p:sp>
      <p:sp>
        <p:nvSpPr>
          <p:cNvPr id="25" name="Rounded Rectangle 24"/>
          <p:cNvSpPr/>
          <p:nvPr/>
        </p:nvSpPr>
        <p:spPr>
          <a:xfrm>
            <a:off x="548640" y="4709160"/>
            <a:ext cx="11064240" cy="141732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48640" y="4709160"/>
            <a:ext cx="11064240" cy="347472"/>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754880"/>
            <a:ext cx="10698480" cy="256032"/>
          </a:xfrm>
          <a:prstGeom prst="rect">
            <a:avLst/>
          </a:prstGeom>
          <a:noFill/>
        </p:spPr>
        <p:txBody>
          <a:bodyPr wrap="square" lIns="0" tIns="0" rIns="0" bIns="0">
            <a:spAutoFit/>
          </a:bodyPr>
          <a:lstStyle/>
          <a:p>
            <a:pPr>
              <a:defRPr sz="1200" b="1">
                <a:solidFill>
                  <a:srgbClr val="FFFFFF"/>
                </a:solidFill>
              </a:defRPr>
            </a:pPr>
            <a:r>
              <a:t>Where do the stages come from?</a:t>
            </a:r>
          </a:p>
        </p:txBody>
      </p:sp>
      <p:sp>
        <p:nvSpPr>
          <p:cNvPr id="28" name="TextBox 27"/>
          <p:cNvSpPr txBox="1"/>
          <p:nvPr/>
        </p:nvSpPr>
        <p:spPr>
          <a:xfrm>
            <a:off x="777240" y="5148072"/>
            <a:ext cx="10607040" cy="905256"/>
          </a:xfrm>
          <a:prstGeom prst="rect">
            <a:avLst/>
          </a:prstGeom>
          <a:noFill/>
        </p:spPr>
        <p:txBody>
          <a:bodyPr wrap="square" lIns="0" tIns="0" rIns="0" bIns="0">
            <a:spAutoFit/>
          </a:bodyPr>
          <a:lstStyle/>
          <a:p>
            <a:pPr>
              <a:defRPr sz="1100">
                <a:solidFill>
                  <a:srgbClr val="141923"/>
                </a:solidFill>
              </a:defRPr>
            </a:pPr>
            <a:r>
              <a:t>Reads, joins, and calculations create the DAG. Narrow transformations pipeline within a stage without network movement. Wide transformations (Window.partitionBy, groupByKey) require cross-partition shuffles, creating stage boundaries. Spark assigns stage numbers dynamically at runtime.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2560320" cy="365760"/>
          </a:xfrm>
          <a:prstGeom prst="rect">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FFFFFF"/>
                </a:solidFill>
              </a:defRPr>
            </a:pPr>
            <a:r>
              <a:t>Team AG-DATA / 23AID302</a:t>
            </a:r>
          </a:p>
        </p:txBody>
      </p:sp>
      <p:sp>
        <p:nvSpPr>
          <p:cNvPr id="4" name="Rectangle 3"/>
          <p:cNvSpPr/>
          <p:nvPr/>
        </p:nvSpPr>
        <p:spPr>
          <a:xfrm>
            <a:off x="2560320" y="6492240"/>
            <a:ext cx="7802575"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a:solidFill>
                  <a:srgbClr val="A30000"/>
                </a:solidFill>
              </a:defRPr>
            </a:pPr>
            <a:r>
              <a:t>Agricultural Commodity Price Analysis and Decision Support</a:t>
            </a:r>
          </a:p>
        </p:txBody>
      </p:sp>
      <p:sp>
        <p:nvSpPr>
          <p:cNvPr id="5" name="Rectangle 4"/>
          <p:cNvSpPr/>
          <p:nvPr/>
        </p:nvSpPr>
        <p:spPr>
          <a:xfrm>
            <a:off x="10362895" y="6492240"/>
            <a:ext cx="1828800" cy="365760"/>
          </a:xfrm>
          <a:prstGeom prst="rect">
            <a:avLst/>
          </a:prstGeom>
          <a:solidFill>
            <a:srgbClr val="DEE2E8"/>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141923"/>
                </a:solidFill>
              </a:defRPr>
            </a:pPr>
            <a:r>
              <a:t>6 / 10</a:t>
            </a:r>
          </a:p>
        </p:txBody>
      </p:sp>
      <p:sp>
        <p:nvSpPr>
          <p:cNvPr id="6" name="TextBox 5"/>
          <p:cNvSpPr txBox="1"/>
          <p:nvPr/>
        </p:nvSpPr>
        <p:spPr>
          <a:xfrm>
            <a:off x="548640" y="292608"/>
            <a:ext cx="11094415" cy="594360"/>
          </a:xfrm>
          <a:prstGeom prst="rect">
            <a:avLst/>
          </a:prstGeom>
          <a:noFill/>
        </p:spPr>
        <p:txBody>
          <a:bodyPr wrap="square" lIns="0" tIns="0" rIns="0" bIns="0">
            <a:spAutoFit/>
          </a:bodyPr>
          <a:lstStyle/>
          <a:p>
            <a:pPr>
              <a:defRPr sz="2200" b="1">
                <a:solidFill>
                  <a:srgbClr val="A30000"/>
                </a:solidFill>
              </a:defRPr>
            </a:pPr>
            <a:r>
              <a:t>5. Scala Code and Streaming</a:t>
            </a:r>
          </a:p>
        </p:txBody>
      </p:sp>
      <p:sp>
        <p:nvSpPr>
          <p:cNvPr id="7" name="Rounded Rectangle 6"/>
          <p:cNvSpPr/>
          <p:nvPr/>
        </p:nvSpPr>
        <p:spPr>
          <a:xfrm>
            <a:off x="548640" y="1051560"/>
            <a:ext cx="5669280" cy="347472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051560"/>
            <a:ext cx="566928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106424"/>
            <a:ext cx="5303520" cy="292607"/>
          </a:xfrm>
          <a:prstGeom prst="rect">
            <a:avLst/>
          </a:prstGeom>
          <a:noFill/>
        </p:spPr>
        <p:txBody>
          <a:bodyPr wrap="square" lIns="0" tIns="0" rIns="0" bIns="0">
            <a:spAutoFit/>
          </a:bodyPr>
          <a:lstStyle/>
          <a:p>
            <a:pPr>
              <a:defRPr sz="1300" b="1">
                <a:solidFill>
                  <a:srgbClr val="FFFFFF"/>
                </a:solidFill>
              </a:defRPr>
            </a:pPr>
            <a:r>
              <a:t>Scala DataFrame API: source excerpt</a:t>
            </a:r>
          </a:p>
        </p:txBody>
      </p:sp>
      <p:sp>
        <p:nvSpPr>
          <p:cNvPr id="10" name="TextBox 9"/>
          <p:cNvSpPr txBox="1"/>
          <p:nvPr/>
        </p:nvSpPr>
        <p:spPr>
          <a:xfrm>
            <a:off x="749808" y="1527048"/>
            <a:ext cx="5266944" cy="2538730"/>
          </a:xfrm>
          <a:prstGeom prst="rect">
            <a:avLst/>
          </a:prstGeom>
          <a:noFill/>
        </p:spPr>
        <p:txBody>
          <a:bodyPr wrap="square" lIns="0" tIns="0" rIns="0" bIns="0">
            <a:spAutoFit/>
          </a:bodyPr>
          <a:lstStyle/>
          <a:p>
            <a:pPr>
              <a:defRPr sz="950" b="1">
                <a:solidFill>
                  <a:srgbClr val="142D5F"/>
                </a:solidFill>
              </a:defRPr>
            </a:pPr>
            <a:r>
              <a:rPr sz="1100"/>
              <a:t>// 1. Resilient Date Parser with Safe Coalescing</a:t>
            </a:r>
            <a:br>
              <a:rPr sz="1100"/>
            </a:br>
            <a:r>
              <a:rPr sz="1100"/>
              <a:t>val parseDate = coalesce(</a:t>
            </a:r>
            <a:br>
              <a:rPr sz="1100"/>
            </a:br>
            <a:r>
              <a:rPr sz="1100"/>
              <a:t>  try_to_date(col("Reported Date"), "dd MMM yyyy"),</a:t>
            </a:r>
            <a:br>
              <a:rPr sz="1100"/>
            </a:br>
            <a:r>
              <a:rPr sz="1100"/>
              <a:t>  try_to_date(col("Reported Date"), "yyyy-MM-dd")</a:t>
            </a:r>
            <a:br>
              <a:rPr sz="1100"/>
            </a:br>
            <a:r>
              <a:rPr sz="1100"/>
              <a:t>)</a:t>
            </a:r>
            <a:br>
              <a:rPr sz="1100"/>
            </a:br>
            <a:br>
              <a:rPr sz="1100"/>
            </a:br>
            <a:r>
              <a:rPr sz="1100"/>
              <a:t>// 2. Map-Side Composite Business Key Deduplication</a:t>
            </a:r>
            <a:br>
              <a:rPr sz="1100"/>
            </a:br>
            <a:r>
              <a:rPr sz="1100"/>
              <a:t>val w = Window.partitionBy("state", "market", "commodity", "date")</a:t>
            </a:r>
            <a:br>
              <a:rPr sz="1100"/>
            </a:br>
            <a:r>
              <a:rPr sz="1100"/>
              <a:t>  .orderBy(col("is_valid").desc, col("price_spread").desc)</a:t>
            </a:r>
            <a:br>
              <a:rPr sz="1100"/>
            </a:br>
            <a:r>
              <a:rPr sz="1100"/>
              <a:t>val dedup = raw.withColumn("rk", row_number().over(w)).filter("rk = 1")</a:t>
            </a:r>
            <a:br>
              <a:rPr sz="1100"/>
            </a:br>
            <a:br>
              <a:rPr sz="1100"/>
            </a:br>
            <a:r>
              <a:rPr sz="1100"/>
              <a:t>// 3. Stateful Real-Time Windowing in Spark Streaming</a:t>
            </a:r>
            <a:br>
              <a:rPr sz="1100"/>
            </a:br>
            <a:r>
              <a:rPr sz="1100"/>
              <a:t>parsedStream.groupByKey(e =&gt; MarketEntity(e.state, e.market, e.commodity))</a:t>
            </a:r>
            <a:br>
              <a:rPr sz="1100"/>
            </a:br>
            <a:r>
              <a:rPr sz="1100"/>
              <a:t>  .flatMapGroupsWithState(OutputMode.Append, GroupStateTimeout.NoTimeout)(updateState)</a:t>
            </a:r>
            <a:endParaRPr sz="1100"/>
          </a:p>
        </p:txBody>
      </p:sp>
      <p:sp>
        <p:nvSpPr>
          <p:cNvPr id="11" name="Rounded Rectangle 10"/>
          <p:cNvSpPr/>
          <p:nvPr/>
        </p:nvSpPr>
        <p:spPr>
          <a:xfrm>
            <a:off x="6400800" y="1051560"/>
            <a:ext cx="5212080" cy="347472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0" y="1051560"/>
            <a:ext cx="521208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106424"/>
            <a:ext cx="4846320" cy="292607"/>
          </a:xfrm>
          <a:prstGeom prst="rect">
            <a:avLst/>
          </a:prstGeom>
          <a:noFill/>
        </p:spPr>
        <p:txBody>
          <a:bodyPr wrap="square" lIns="0" tIns="0" rIns="0" bIns="0">
            <a:spAutoFit/>
          </a:bodyPr>
          <a:lstStyle/>
          <a:p>
            <a:pPr>
              <a:defRPr sz="1300" b="1">
                <a:solidFill>
                  <a:srgbClr val="FFFFFF"/>
                </a:solidFill>
              </a:defRPr>
            </a:pPr>
            <a:r>
              <a:t>What the code does</a:t>
            </a:r>
          </a:p>
        </p:txBody>
      </p:sp>
      <p:sp>
        <p:nvSpPr>
          <p:cNvPr id="14" name="TextBox 13"/>
          <p:cNvSpPr txBox="1"/>
          <p:nvPr/>
        </p:nvSpPr>
        <p:spPr>
          <a:xfrm>
            <a:off x="6601968" y="1527048"/>
            <a:ext cx="4809744" cy="2769870"/>
          </a:xfrm>
          <a:prstGeom prst="rect">
            <a:avLst/>
          </a:prstGeom>
          <a:noFill/>
        </p:spPr>
        <p:txBody>
          <a:bodyPr wrap="square" lIns="0" tIns="0" rIns="0" bIns="0">
            <a:spAutoFit/>
          </a:bodyPr>
          <a:lstStyle/>
          <a:p>
            <a:pPr>
              <a:defRPr sz="1150">
                <a:solidFill>
                  <a:srgbClr val="141923"/>
                </a:solidFill>
              </a:defRPr>
            </a:pPr>
            <a:r>
              <a:rPr sz="1600"/>
              <a:t>• Read CSV with fixed column types and explicit StructType schemas.</a:t>
            </a:r>
            <a:endParaRPr sz="1600"/>
          </a:p>
          <a:p>
            <a:pPr>
              <a:spcBef>
                <a:spcPts val="600"/>
              </a:spcBef>
              <a:defRPr sz="1150">
                <a:solidFill>
                  <a:srgbClr val="141923"/>
                </a:solidFill>
              </a:defRPr>
            </a:pPr>
            <a:r>
              <a:rPr sz="1600"/>
              <a:t>• Non-fatal date parsing prevents corrupted date strings from crashing jobs.</a:t>
            </a:r>
            <a:endParaRPr sz="1600"/>
          </a:p>
          <a:p>
            <a:pPr>
              <a:spcBef>
                <a:spcPts val="600"/>
              </a:spcBef>
              <a:defRPr sz="1150">
                <a:solidFill>
                  <a:srgbClr val="141923"/>
                </a:solidFill>
              </a:defRPr>
            </a:pPr>
            <a:r>
              <a:rPr sz="1600"/>
              <a:t>• Composite key deduplication avoids full-row distinct() hash OOM.</a:t>
            </a:r>
            <a:endParaRPr sz="1600"/>
          </a:p>
          <a:p>
            <a:pPr>
              <a:spcBef>
                <a:spcPts val="600"/>
              </a:spcBef>
              <a:defRPr sz="1150">
                <a:solidFill>
                  <a:srgbClr val="141923"/>
                </a:solidFill>
              </a:defRPr>
            </a:pPr>
            <a:r>
              <a:rPr sz="1600"/>
              <a:t>• Window rolling aggregations compute 7-day volatility and z-scores.</a:t>
            </a:r>
            <a:endParaRPr sz="1600"/>
          </a:p>
          <a:p>
            <a:pPr>
              <a:spcBef>
                <a:spcPts val="600"/>
              </a:spcBef>
              <a:defRPr sz="1150">
                <a:solidFill>
                  <a:srgbClr val="141923"/>
                </a:solidFill>
              </a:defRPr>
            </a:pPr>
            <a:r>
              <a:rPr sz="1600"/>
              <a:t>• Stateful streaming maintains per-market rolling state in Kafka.</a:t>
            </a:r>
            <a:endParaRPr sz="1600"/>
          </a:p>
        </p:txBody>
      </p:sp>
      <p:sp>
        <p:nvSpPr>
          <p:cNvPr id="15" name="Rounded Rectangle 14"/>
          <p:cNvSpPr/>
          <p:nvPr/>
        </p:nvSpPr>
        <p:spPr>
          <a:xfrm>
            <a:off x="548640" y="4709160"/>
            <a:ext cx="11064240" cy="141732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4709160"/>
            <a:ext cx="11064240" cy="347472"/>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754880"/>
            <a:ext cx="10698480" cy="256032"/>
          </a:xfrm>
          <a:prstGeom prst="rect">
            <a:avLst/>
          </a:prstGeom>
          <a:noFill/>
        </p:spPr>
        <p:txBody>
          <a:bodyPr wrap="square" lIns="0" tIns="0" rIns="0" bIns="0">
            <a:spAutoFit/>
          </a:bodyPr>
          <a:lstStyle/>
          <a:p>
            <a:pPr>
              <a:defRPr sz="1200" b="1">
                <a:solidFill>
                  <a:srgbClr val="FFFFFF"/>
                </a:solidFill>
              </a:defRPr>
            </a:pPr>
            <a:r>
              <a:t>How do we use Structured Streaming?</a:t>
            </a:r>
          </a:p>
        </p:txBody>
      </p:sp>
      <p:sp>
        <p:nvSpPr>
          <p:cNvPr id="18" name="TextBox 17"/>
          <p:cNvSpPr txBox="1"/>
          <p:nvPr/>
        </p:nvSpPr>
        <p:spPr>
          <a:xfrm>
            <a:off x="777240" y="5148072"/>
            <a:ext cx="10607040" cy="645795"/>
          </a:xfrm>
          <a:prstGeom prst="rect">
            <a:avLst/>
          </a:prstGeom>
          <a:noFill/>
        </p:spPr>
        <p:txBody>
          <a:bodyPr wrap="square" lIns="0" tIns="0" rIns="0" bIns="0">
            <a:spAutoFit/>
          </a:bodyPr>
          <a:lstStyle/>
          <a:p>
            <a:pPr>
              <a:defRPr sz="1100">
                <a:solidFill>
                  <a:srgbClr val="141923"/>
                </a:solidFill>
              </a:defRPr>
            </a:pPr>
            <a:r>
              <a:rPr sz="1400"/>
              <a:t>RealDataReplay.scala reads 15,000 real market records and sends them to Kafka topic 'agri-market-real-replay'. Spark Structured Streaming reads micro-batches from Kafka, maintains 7-day rolling state via flatMapGroupsWithState, and calculates live anomaly scores. Checkpoints record streaming progress in HDFS.</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2560320" cy="365760"/>
          </a:xfrm>
          <a:prstGeom prst="rect">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FFFFFF"/>
                </a:solidFill>
              </a:defRPr>
            </a:pPr>
            <a:r>
              <a:t>Team AG-DATA / 23AID302</a:t>
            </a:r>
          </a:p>
        </p:txBody>
      </p:sp>
      <p:sp>
        <p:nvSpPr>
          <p:cNvPr id="4" name="Rectangle 3"/>
          <p:cNvSpPr/>
          <p:nvPr/>
        </p:nvSpPr>
        <p:spPr>
          <a:xfrm>
            <a:off x="2560320" y="6492240"/>
            <a:ext cx="7802575"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a:solidFill>
                  <a:srgbClr val="A30000"/>
                </a:solidFill>
              </a:defRPr>
            </a:pPr>
            <a:r>
              <a:t>Agricultural Commodity Price Analysis and Decision Support</a:t>
            </a:r>
          </a:p>
        </p:txBody>
      </p:sp>
      <p:sp>
        <p:nvSpPr>
          <p:cNvPr id="5" name="Rectangle 4"/>
          <p:cNvSpPr/>
          <p:nvPr/>
        </p:nvSpPr>
        <p:spPr>
          <a:xfrm>
            <a:off x="10362895" y="6492240"/>
            <a:ext cx="1828800" cy="365760"/>
          </a:xfrm>
          <a:prstGeom prst="rect">
            <a:avLst/>
          </a:prstGeom>
          <a:solidFill>
            <a:srgbClr val="DEE2E8"/>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141923"/>
                </a:solidFill>
              </a:defRPr>
            </a:pPr>
            <a:r>
              <a:t>7 / 10</a:t>
            </a:r>
          </a:p>
        </p:txBody>
      </p:sp>
      <p:sp>
        <p:nvSpPr>
          <p:cNvPr id="6" name="TextBox 5"/>
          <p:cNvSpPr txBox="1"/>
          <p:nvPr/>
        </p:nvSpPr>
        <p:spPr>
          <a:xfrm>
            <a:off x="548640" y="292608"/>
            <a:ext cx="11094415" cy="594360"/>
          </a:xfrm>
          <a:prstGeom prst="rect">
            <a:avLst/>
          </a:prstGeom>
          <a:noFill/>
        </p:spPr>
        <p:txBody>
          <a:bodyPr wrap="square" lIns="0" tIns="0" rIns="0" bIns="0">
            <a:spAutoFit/>
          </a:bodyPr>
          <a:lstStyle/>
          <a:p>
            <a:pPr>
              <a:defRPr sz="2200" b="1">
                <a:solidFill>
                  <a:srgbClr val="A30000"/>
                </a:solidFill>
              </a:defRPr>
            </a:pPr>
            <a:r>
              <a:t>6. How We Train and Test the Models</a:t>
            </a:r>
          </a:p>
        </p:txBody>
      </p:sp>
      <p:sp>
        <p:nvSpPr>
          <p:cNvPr id="7" name="Rounded Rectangle 6"/>
          <p:cNvSpPr/>
          <p:nvPr/>
        </p:nvSpPr>
        <p:spPr>
          <a:xfrm>
            <a:off x="548640" y="1051560"/>
            <a:ext cx="5349240" cy="347472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05156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106424"/>
            <a:ext cx="4983479" cy="292607"/>
          </a:xfrm>
          <a:prstGeom prst="rect">
            <a:avLst/>
          </a:prstGeom>
          <a:noFill/>
        </p:spPr>
        <p:txBody>
          <a:bodyPr wrap="square" lIns="0" tIns="0" rIns="0" bIns="0">
            <a:spAutoFit/>
          </a:bodyPr>
          <a:lstStyle/>
          <a:p>
            <a:pPr>
              <a:defRPr sz="1300" b="1">
                <a:solidFill>
                  <a:srgbClr val="FFFFFF"/>
                </a:solidFill>
              </a:defRPr>
            </a:pPr>
            <a:r>
              <a:t>Two versions of the market model</a:t>
            </a:r>
          </a:p>
        </p:txBody>
      </p:sp>
      <p:sp>
        <p:nvSpPr>
          <p:cNvPr id="10" name="TextBox 9"/>
          <p:cNvSpPr txBox="1"/>
          <p:nvPr/>
        </p:nvSpPr>
        <p:spPr>
          <a:xfrm>
            <a:off x="749808" y="1527048"/>
            <a:ext cx="4946903" cy="2410460"/>
          </a:xfrm>
          <a:prstGeom prst="rect">
            <a:avLst/>
          </a:prstGeom>
          <a:noFill/>
        </p:spPr>
        <p:txBody>
          <a:bodyPr wrap="square" lIns="0" tIns="0" rIns="0" bIns="0">
            <a:spAutoFit/>
          </a:bodyPr>
          <a:lstStyle/>
          <a:p>
            <a:pPr>
              <a:defRPr sz="1150" b="1">
                <a:solidFill>
                  <a:srgbClr val="A30000"/>
                </a:solidFill>
              </a:defRPr>
            </a:pPr>
            <a:r>
              <a:rPr sz="1400"/>
              <a:t>1  Task A: Next-Day Anomaly Forecasting</a:t>
            </a:r>
            <a:endParaRPr sz="1400"/>
          </a:p>
          <a:p>
            <a:pPr>
              <a:spcBef>
                <a:spcPts val="300"/>
              </a:spcBef>
              <a:defRPr sz="1050">
                <a:solidFill>
                  <a:srgbClr val="141923"/>
                </a:solidFill>
              </a:defRPr>
            </a:pPr>
            <a:r>
              <a:rPr sz="1400"/>
              <a:t>• Target: lead(z_score, 1) &gt; 2.0 (predict tomorrow's spike).</a:t>
            </a:r>
            <a:br>
              <a:rPr sz="1400"/>
            </a:br>
            <a:r>
              <a:rPr sz="1400"/>
              <a:t>• Features: 9 price features (lags, intraday ranges, rolling stats).</a:t>
            </a:r>
            <a:br>
              <a:rPr sz="1400"/>
            </a:br>
            <a:r>
              <a:rPr sz="1400"/>
              <a:t>• Evaluates advance warning capability.</a:t>
            </a:r>
            <a:endParaRPr sz="1400"/>
          </a:p>
          <a:p>
            <a:pPr>
              <a:spcBef>
                <a:spcPts val="800"/>
              </a:spcBef>
              <a:defRPr sz="1150" b="1">
                <a:solidFill>
                  <a:srgbClr val="1B2A6B"/>
                </a:solidFill>
              </a:defRPr>
            </a:pPr>
            <a:r>
              <a:rPr sz="1400"/>
              <a:t>2  Task B: Real-Time Transaction Screening</a:t>
            </a:r>
            <a:endParaRPr sz="1400"/>
          </a:p>
          <a:p>
            <a:pPr>
              <a:spcBef>
                <a:spcPts val="300"/>
              </a:spcBef>
              <a:defRPr sz="1050">
                <a:solidFill>
                  <a:srgbClr val="141923"/>
                </a:solidFill>
              </a:defRPr>
            </a:pPr>
            <a:r>
              <a:rPr sz="1400"/>
              <a:t>• Target: |z_score| &gt; 2.0 on current transaction.</a:t>
            </a:r>
            <a:br>
              <a:rPr sz="1400"/>
            </a:br>
            <a:r>
              <a:rPr sz="1400"/>
              <a:t>• Features: 9 features + contemporaneous price spread ratios.</a:t>
            </a:r>
            <a:br>
              <a:rPr sz="1400"/>
            </a:br>
            <a:r>
              <a:rPr sz="1400"/>
              <a:t>• Evaluates live streaming Kafka screening.</a:t>
            </a:r>
            <a:endParaRPr sz="1400"/>
          </a:p>
          <a:p>
            <a:pPr>
              <a:spcBef>
                <a:spcPts val="600"/>
              </a:spcBef>
              <a:defRPr sz="1000" b="1">
                <a:solidFill>
                  <a:srgbClr val="008232"/>
                </a:solidFill>
              </a:defRPr>
            </a:pPr>
            <a:r>
              <a:rPr sz="1400"/>
              <a:t>Both models use Spark MLlib RandomForestClassifier (100 Trees).</a:t>
            </a:r>
            <a:endParaRPr sz="1400"/>
          </a:p>
        </p:txBody>
      </p:sp>
      <p:sp>
        <p:nvSpPr>
          <p:cNvPr id="11" name="Rounded Rectangle 10"/>
          <p:cNvSpPr/>
          <p:nvPr/>
        </p:nvSpPr>
        <p:spPr>
          <a:xfrm>
            <a:off x="6263640" y="1051560"/>
            <a:ext cx="5349240" cy="347472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63640" y="105156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106424"/>
            <a:ext cx="4983479" cy="292607"/>
          </a:xfrm>
          <a:prstGeom prst="rect">
            <a:avLst/>
          </a:prstGeom>
          <a:noFill/>
        </p:spPr>
        <p:txBody>
          <a:bodyPr wrap="square" lIns="0" tIns="0" rIns="0" bIns="0">
            <a:spAutoFit/>
          </a:bodyPr>
          <a:lstStyle/>
          <a:p>
            <a:pPr>
              <a:defRPr sz="1300" b="1">
                <a:solidFill>
                  <a:srgbClr val="FFFFFF"/>
                </a:solidFill>
              </a:defRPr>
            </a:pPr>
            <a:r>
              <a:t>Strict temporal split &amp; tuning</a:t>
            </a:r>
          </a:p>
        </p:txBody>
      </p:sp>
      <p:sp>
        <p:nvSpPr>
          <p:cNvPr id="14" name="TextBox 13"/>
          <p:cNvSpPr txBox="1"/>
          <p:nvPr/>
        </p:nvSpPr>
        <p:spPr>
          <a:xfrm>
            <a:off x="6464807" y="1527048"/>
            <a:ext cx="4946903" cy="2105660"/>
          </a:xfrm>
          <a:prstGeom prst="rect">
            <a:avLst/>
          </a:prstGeom>
          <a:noFill/>
        </p:spPr>
        <p:txBody>
          <a:bodyPr wrap="square" lIns="0" tIns="0" rIns="0" bIns="0">
            <a:spAutoFit/>
          </a:bodyPr>
          <a:lstStyle/>
          <a:p>
            <a:pPr>
              <a:defRPr sz="1150" b="1">
                <a:solidFill>
                  <a:srgbClr val="1B2A6B"/>
                </a:solidFill>
              </a:defRPr>
            </a:pPr>
            <a:r>
              <a:rPr sz="1400"/>
              <a:t>Strict Chronological Split (Zero Data Leakage):</a:t>
            </a:r>
            <a:endParaRPr sz="1400"/>
          </a:p>
          <a:p>
            <a:pPr>
              <a:spcBef>
                <a:spcPts val="400"/>
              </a:spcBef>
              <a:defRPr sz="1050">
                <a:solidFill>
                  <a:srgbClr val="141923"/>
                </a:solidFill>
              </a:defRPr>
            </a:pPr>
            <a:r>
              <a:rPr sz="1400"/>
              <a:t>• Earlier 70% (&lt; 2024): 721,668 rows to train models.</a:t>
            </a:r>
            <a:br>
              <a:rPr sz="1400"/>
            </a:br>
            <a:r>
              <a:rPr sz="1400"/>
              <a:t>• 2024 Validation: 49,721 rows for threshold &amp; depth tuning.</a:t>
            </a:r>
            <a:br>
              <a:rPr sz="1400"/>
            </a:br>
            <a:r>
              <a:rPr sz="1400"/>
              <a:t>• Later 30% (2025+): 48,354 untouched rows to test models.</a:t>
            </a:r>
            <a:endParaRPr sz="1400"/>
          </a:p>
          <a:p>
            <a:pPr>
              <a:spcBef>
                <a:spcPts val="600"/>
              </a:spcBef>
              <a:defRPr sz="1100" b="1">
                <a:solidFill>
                  <a:srgbClr val="1B2A6B"/>
                </a:solidFill>
              </a:defRPr>
            </a:pPr>
            <a:r>
              <a:rPr sz="1400"/>
              <a:t>Hyperparameter Search:</a:t>
            </a:r>
            <a:endParaRPr sz="1400"/>
          </a:p>
          <a:p>
            <a:pPr>
              <a:spcBef>
                <a:spcPts val="300"/>
              </a:spcBef>
              <a:defRPr sz="1050">
                <a:solidFill>
                  <a:srgbClr val="141923"/>
                </a:solidFill>
              </a:defRPr>
            </a:pPr>
            <a:r>
              <a:rPr sz="1400"/>
              <a:t>• Tested tree depths 6, 8, 12, 14; selected depth 12–14.</a:t>
            </a:r>
            <a:br>
              <a:rPr sz="1400"/>
            </a:br>
            <a:r>
              <a:rPr sz="1400"/>
              <a:t>• 100 parallel trees; 128 continuous feature bins.</a:t>
            </a:r>
            <a:br>
              <a:rPr sz="1400"/>
            </a:br>
            <a:r>
              <a:rPr sz="1400"/>
              <a:t>• Class Weighting (w=1.2) balances 15.6% anomaly prevalence.</a:t>
            </a:r>
            <a:endParaRPr sz="1400"/>
          </a:p>
        </p:txBody>
      </p:sp>
      <p:sp>
        <p:nvSpPr>
          <p:cNvPr id="15" name="Rounded Rectangle 14"/>
          <p:cNvSpPr/>
          <p:nvPr/>
        </p:nvSpPr>
        <p:spPr>
          <a:xfrm>
            <a:off x="548640" y="4709160"/>
            <a:ext cx="11064240" cy="141732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4709160"/>
            <a:ext cx="11064240" cy="347472"/>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754880"/>
            <a:ext cx="10698480" cy="256032"/>
          </a:xfrm>
          <a:prstGeom prst="rect">
            <a:avLst/>
          </a:prstGeom>
          <a:noFill/>
        </p:spPr>
        <p:txBody>
          <a:bodyPr wrap="square" lIns="0" tIns="0" rIns="0" bIns="0">
            <a:spAutoFit/>
          </a:bodyPr>
          <a:lstStyle/>
          <a:p>
            <a:pPr>
              <a:defRPr sz="1200" b="1">
                <a:solidFill>
                  <a:srgbClr val="FFFFFF"/>
                </a:solidFill>
              </a:defRPr>
            </a:pPr>
            <a:r>
              <a:t>Why keep test data aside chronologically?</a:t>
            </a:r>
          </a:p>
        </p:txBody>
      </p:sp>
      <p:sp>
        <p:nvSpPr>
          <p:cNvPr id="18" name="TextBox 17"/>
          <p:cNvSpPr txBox="1"/>
          <p:nvPr/>
        </p:nvSpPr>
        <p:spPr>
          <a:xfrm>
            <a:off x="777240" y="5148072"/>
            <a:ext cx="10607040" cy="430530"/>
          </a:xfrm>
          <a:prstGeom prst="rect">
            <a:avLst/>
          </a:prstGeom>
          <a:noFill/>
        </p:spPr>
        <p:txBody>
          <a:bodyPr wrap="square" lIns="0" tIns="0" rIns="0" bIns="0">
            <a:spAutoFit/>
          </a:bodyPr>
          <a:lstStyle/>
          <a:p>
            <a:pPr>
              <a:defRPr sz="1100">
                <a:solidFill>
                  <a:srgbClr val="141923"/>
                </a:solidFill>
              </a:defRPr>
            </a:pPr>
            <a:r>
              <a:rPr sz="1400"/>
              <a:t>Random k-fold cross-validation causes future market information to leak into past models. Splitting chronologically (&lt;2024 train vs 2025+ test) strictly tests the model on unseen future market periods, replicating true production deployment for agricultural markets.</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2560320" cy="365760"/>
          </a:xfrm>
          <a:prstGeom prst="rect">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FFFFFF"/>
                </a:solidFill>
              </a:defRPr>
            </a:pPr>
            <a:r>
              <a:t>Team AG-DATA / 23AID302</a:t>
            </a:r>
          </a:p>
        </p:txBody>
      </p:sp>
      <p:sp>
        <p:nvSpPr>
          <p:cNvPr id="4" name="Rectangle 3"/>
          <p:cNvSpPr/>
          <p:nvPr/>
        </p:nvSpPr>
        <p:spPr>
          <a:xfrm>
            <a:off x="2560320" y="6492240"/>
            <a:ext cx="7802575"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a:solidFill>
                  <a:srgbClr val="A30000"/>
                </a:solidFill>
              </a:defRPr>
            </a:pPr>
            <a:r>
              <a:t>Agricultural Commodity Price Analysis and Decision Support</a:t>
            </a:r>
          </a:p>
        </p:txBody>
      </p:sp>
      <p:sp>
        <p:nvSpPr>
          <p:cNvPr id="5" name="Rectangle 4"/>
          <p:cNvSpPr/>
          <p:nvPr/>
        </p:nvSpPr>
        <p:spPr>
          <a:xfrm>
            <a:off x="10362895" y="6492240"/>
            <a:ext cx="1828800" cy="365760"/>
          </a:xfrm>
          <a:prstGeom prst="rect">
            <a:avLst/>
          </a:prstGeom>
          <a:solidFill>
            <a:srgbClr val="DEE2E8"/>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141923"/>
                </a:solidFill>
              </a:defRPr>
            </a:pPr>
            <a:r>
              <a:t>8 / 10</a:t>
            </a:r>
          </a:p>
        </p:txBody>
      </p:sp>
      <p:sp>
        <p:nvSpPr>
          <p:cNvPr id="6" name="TextBox 5"/>
          <p:cNvSpPr txBox="1"/>
          <p:nvPr/>
        </p:nvSpPr>
        <p:spPr>
          <a:xfrm>
            <a:off x="548640" y="292608"/>
            <a:ext cx="11094415" cy="368935"/>
          </a:xfrm>
          <a:prstGeom prst="rect">
            <a:avLst/>
          </a:prstGeom>
          <a:noFill/>
        </p:spPr>
        <p:txBody>
          <a:bodyPr wrap="square" lIns="0" tIns="0" rIns="0" bIns="0">
            <a:spAutoFit/>
          </a:bodyPr>
          <a:lstStyle/>
          <a:p>
            <a:pPr>
              <a:defRPr sz="2200" b="1">
                <a:solidFill>
                  <a:srgbClr val="A30000"/>
                </a:solidFill>
              </a:defRPr>
            </a:pPr>
            <a:r>
              <a:rPr sz="2400"/>
              <a:t>7. Results for Both Tasks</a:t>
            </a:r>
            <a:endParaRPr sz="2400"/>
          </a:p>
        </p:txBody>
      </p:sp>
      <p:sp>
        <p:nvSpPr>
          <p:cNvPr id="7" name="Rounded Rectangle 6"/>
          <p:cNvSpPr/>
          <p:nvPr/>
        </p:nvSpPr>
        <p:spPr>
          <a:xfrm>
            <a:off x="548640" y="1051560"/>
            <a:ext cx="11064240" cy="242316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051560"/>
            <a:ext cx="11064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106424"/>
            <a:ext cx="10698480" cy="292607"/>
          </a:xfrm>
          <a:prstGeom prst="rect">
            <a:avLst/>
          </a:prstGeom>
          <a:noFill/>
        </p:spPr>
        <p:txBody>
          <a:bodyPr wrap="square" lIns="0" tIns="0" rIns="0" bIns="0">
            <a:spAutoFit/>
          </a:bodyPr>
          <a:lstStyle/>
          <a:p>
            <a:pPr>
              <a:defRPr sz="1300" b="1">
                <a:solidFill>
                  <a:srgbClr val="FFFFFF"/>
                </a:solidFill>
              </a:defRPr>
            </a:pPr>
            <a:r>
              <a:t>Model results — untouched 2025+ test set (48,354 records)</a:t>
            </a:r>
          </a:p>
        </p:txBody>
      </p:sp>
      <p:sp>
        <p:nvSpPr>
          <p:cNvPr id="10" name="TextBox 9"/>
          <p:cNvSpPr txBox="1"/>
          <p:nvPr/>
        </p:nvSpPr>
        <p:spPr>
          <a:xfrm>
            <a:off x="749808" y="1527048"/>
            <a:ext cx="10661904" cy="1874519"/>
          </a:xfrm>
          <a:prstGeom prst="rect">
            <a:avLst/>
          </a:prstGeom>
          <a:noFill/>
        </p:spPr>
        <p:txBody>
          <a:bodyPr wrap="square" lIns="0" tIns="0" rIns="0" bIns="0">
            <a:spAutoFit/>
          </a:bodyPr>
          <a:lstStyle/>
          <a:p/>
        </p:txBody>
      </p:sp>
      <p:graphicFrame>
        <p:nvGraphicFramePr>
          <p:cNvPr id="11" name="Table 10"/>
          <p:cNvGraphicFramePr>
            <a:graphicFrameLocks noGrp="1"/>
          </p:cNvGraphicFramePr>
          <p:nvPr/>
        </p:nvGraphicFramePr>
        <p:xfrm>
          <a:off x="731520" y="1600200"/>
          <a:ext cx="10698480" cy="1691640"/>
        </p:xfrm>
        <a:graphic>
          <a:graphicData uri="http://schemas.openxmlformats.org/drawingml/2006/table">
            <a:tbl>
              <a:tblPr firstRow="1" bandRow="1">
                <a:tableStyleId>{5C22544A-7EE6-4342-B048-85BDC9FD1C3A}</a:tableStyleId>
              </a:tblPr>
              <a:tblGrid>
                <a:gridCol w="4297680"/>
                <a:gridCol w="1280160"/>
                <a:gridCol w="1280160"/>
                <a:gridCol w="1280160"/>
                <a:gridCol w="1280160"/>
                <a:gridCol w="1280160"/>
              </a:tblGrid>
              <a:tr h="338328">
                <a:tc>
                  <a:txBody>
                    <a:bodyPr/>
                    <a:lstStyle/>
                    <a:p>
                      <a:pPr algn="l">
                        <a:defRPr sz="1050" b="1">
                          <a:solidFill>
                            <a:srgbClr val="1B2A6B"/>
                          </a:solidFill>
                        </a:defRPr>
                      </a:pPr>
                      <a:r>
                        <a:t>Model / Configuration</a:t>
                      </a:r>
                    </a:p>
                  </a:txBody>
                  <a:tcPr anchor="ctr">
                    <a:solidFill>
                      <a:srgbClr val="E4EAF6"/>
                    </a:solidFill>
                  </a:tcPr>
                </a:tc>
                <a:tc>
                  <a:txBody>
                    <a:bodyPr/>
                    <a:lstStyle/>
                    <a:p>
                      <a:pPr algn="r">
                        <a:defRPr sz="1050" b="1">
                          <a:solidFill>
                            <a:srgbClr val="1B2A6B"/>
                          </a:solidFill>
                        </a:defRPr>
                      </a:pPr>
                      <a:r>
                        <a:t>Accuracy</a:t>
                      </a:r>
                    </a:p>
                  </a:txBody>
                  <a:tcPr anchor="ctr">
                    <a:solidFill>
                      <a:srgbClr val="E4EAF6"/>
                    </a:solidFill>
                  </a:tcPr>
                </a:tc>
                <a:tc>
                  <a:txBody>
                    <a:bodyPr/>
                    <a:lstStyle/>
                    <a:p>
                      <a:pPr algn="r">
                        <a:defRPr sz="1050" b="1">
                          <a:solidFill>
                            <a:srgbClr val="1B2A6B"/>
                          </a:solidFill>
                        </a:defRPr>
                      </a:pPr>
                      <a:r>
                        <a:t>Precision</a:t>
                      </a:r>
                    </a:p>
                  </a:txBody>
                  <a:tcPr anchor="ctr">
                    <a:solidFill>
                      <a:srgbClr val="E4EAF6"/>
                    </a:solidFill>
                  </a:tcPr>
                </a:tc>
                <a:tc>
                  <a:txBody>
                    <a:bodyPr/>
                    <a:lstStyle/>
                    <a:p>
                      <a:pPr algn="r">
                        <a:defRPr sz="1050" b="1">
                          <a:solidFill>
                            <a:srgbClr val="1B2A6B"/>
                          </a:solidFill>
                        </a:defRPr>
                      </a:pPr>
                      <a:r>
                        <a:t>Recall</a:t>
                      </a:r>
                    </a:p>
                  </a:txBody>
                  <a:tcPr anchor="ctr">
                    <a:solidFill>
                      <a:srgbClr val="E4EAF6"/>
                    </a:solidFill>
                  </a:tcPr>
                </a:tc>
                <a:tc>
                  <a:txBody>
                    <a:bodyPr/>
                    <a:lstStyle/>
                    <a:p>
                      <a:pPr algn="r">
                        <a:defRPr sz="1050" b="1">
                          <a:solidFill>
                            <a:srgbClr val="1B2A6B"/>
                          </a:solidFill>
                        </a:defRPr>
                      </a:pPr>
                      <a:r>
                        <a:t>F1-Score</a:t>
                      </a:r>
                    </a:p>
                  </a:txBody>
                  <a:tcPr anchor="ctr">
                    <a:solidFill>
                      <a:srgbClr val="E4EAF6"/>
                    </a:solidFill>
                  </a:tcPr>
                </a:tc>
                <a:tc>
                  <a:txBody>
                    <a:bodyPr/>
                    <a:lstStyle/>
                    <a:p>
                      <a:pPr algn="r">
                        <a:defRPr sz="1050" b="1">
                          <a:solidFill>
                            <a:srgbClr val="1B2A6B"/>
                          </a:solidFill>
                        </a:defRPr>
                      </a:pPr>
                      <a:r>
                        <a:t>FPR</a:t>
                      </a:r>
                    </a:p>
                  </a:txBody>
                  <a:tcPr anchor="ctr">
                    <a:solidFill>
                      <a:srgbClr val="E4EAF6"/>
                    </a:solidFill>
                  </a:tcPr>
                </a:tc>
              </a:tr>
              <a:tr h="338328">
                <a:tc>
                  <a:txBody>
                    <a:bodyPr/>
                    <a:lstStyle/>
                    <a:p>
                      <a:pPr algn="l">
                        <a:defRPr sz="1050">
                          <a:solidFill>
                            <a:srgbClr val="141923"/>
                          </a:solidFill>
                        </a:defRPr>
                      </a:pPr>
                      <a:r>
                        <a:t>Trivial Baseline (All Normal)</a:t>
                      </a:r>
                    </a:p>
                  </a:txBody>
                  <a:tcPr anchor="ctr">
                    <a:solidFill>
                      <a:srgbClr val="FFFFFF"/>
                    </a:solidFill>
                  </a:tcPr>
                </a:tc>
                <a:tc>
                  <a:txBody>
                    <a:bodyPr/>
                    <a:lstStyle/>
                    <a:p>
                      <a:pPr algn="r">
                        <a:defRPr sz="1050">
                          <a:solidFill>
                            <a:srgbClr val="141923"/>
                          </a:solidFill>
                        </a:defRPr>
                      </a:pPr>
                      <a:r>
                        <a:t>84.35%</a:t>
                      </a:r>
                    </a:p>
                  </a:txBody>
                  <a:tcPr anchor="ctr">
                    <a:solidFill>
                      <a:srgbClr val="FFFFFF"/>
                    </a:solidFill>
                  </a:tcPr>
                </a:tc>
                <a:tc>
                  <a:txBody>
                    <a:bodyPr/>
                    <a:lstStyle/>
                    <a:p>
                      <a:pPr algn="r">
                        <a:defRPr sz="1050">
                          <a:solidFill>
                            <a:srgbClr val="141923"/>
                          </a:solidFill>
                        </a:defRPr>
                      </a:pPr>
                      <a:r>
                        <a:t>0.00%</a:t>
                      </a:r>
                    </a:p>
                  </a:txBody>
                  <a:tcPr anchor="ctr">
                    <a:solidFill>
                      <a:srgbClr val="FFFFFF"/>
                    </a:solidFill>
                  </a:tcPr>
                </a:tc>
                <a:tc>
                  <a:txBody>
                    <a:bodyPr/>
                    <a:lstStyle/>
                    <a:p>
                      <a:pPr algn="r">
                        <a:defRPr sz="1050">
                          <a:solidFill>
                            <a:srgbClr val="141923"/>
                          </a:solidFill>
                        </a:defRPr>
                      </a:pPr>
                      <a:r>
                        <a:t>0.00%</a:t>
                      </a:r>
                    </a:p>
                  </a:txBody>
                  <a:tcPr anchor="ctr">
                    <a:solidFill>
                      <a:srgbClr val="FFFFFF"/>
                    </a:solidFill>
                  </a:tcPr>
                </a:tc>
                <a:tc>
                  <a:txBody>
                    <a:bodyPr/>
                    <a:lstStyle/>
                    <a:p>
                      <a:pPr algn="r">
                        <a:defRPr sz="1050">
                          <a:solidFill>
                            <a:srgbClr val="141923"/>
                          </a:solidFill>
                        </a:defRPr>
                      </a:pPr>
                      <a:r>
                        <a:t>0.00%</a:t>
                      </a:r>
                    </a:p>
                  </a:txBody>
                  <a:tcPr anchor="ctr">
                    <a:solidFill>
                      <a:srgbClr val="FFFFFF"/>
                    </a:solidFill>
                  </a:tcPr>
                </a:tc>
                <a:tc>
                  <a:txBody>
                    <a:bodyPr/>
                    <a:lstStyle/>
                    <a:p>
                      <a:pPr algn="r">
                        <a:defRPr sz="1050">
                          <a:solidFill>
                            <a:srgbClr val="141923"/>
                          </a:solidFill>
                        </a:defRPr>
                      </a:pPr>
                      <a:r>
                        <a:t>—</a:t>
                      </a:r>
                    </a:p>
                  </a:txBody>
                  <a:tcPr anchor="ctr">
                    <a:solidFill>
                      <a:srgbClr val="FFFFFF"/>
                    </a:solidFill>
                  </a:tcPr>
                </a:tc>
              </a:tr>
              <a:tr h="338328">
                <a:tc>
                  <a:txBody>
                    <a:bodyPr/>
                    <a:lstStyle/>
                    <a:p>
                      <a:pPr algn="l">
                        <a:defRPr sz="1050">
                          <a:solidFill>
                            <a:srgbClr val="141923"/>
                          </a:solidFill>
                        </a:defRPr>
                      </a:pPr>
                      <a:r>
                        <a:t>Task 1A: Next-Day Forecasting (w=1.2)</a:t>
                      </a:r>
                    </a:p>
                  </a:txBody>
                  <a:tcPr anchor="ctr">
                    <a:solidFill>
                      <a:srgbClr val="F5F8FD"/>
                    </a:solidFill>
                  </a:tcPr>
                </a:tc>
                <a:tc>
                  <a:txBody>
                    <a:bodyPr/>
                    <a:lstStyle/>
                    <a:p>
                      <a:pPr algn="r">
                        <a:defRPr sz="1050">
                          <a:solidFill>
                            <a:srgbClr val="141923"/>
                          </a:solidFill>
                        </a:defRPr>
                      </a:pPr>
                      <a:r>
                        <a:t>85.06%</a:t>
                      </a:r>
                    </a:p>
                  </a:txBody>
                  <a:tcPr anchor="ctr">
                    <a:solidFill>
                      <a:srgbClr val="F5F8FD"/>
                    </a:solidFill>
                  </a:tcPr>
                </a:tc>
                <a:tc>
                  <a:txBody>
                    <a:bodyPr/>
                    <a:lstStyle/>
                    <a:p>
                      <a:pPr algn="r">
                        <a:defRPr sz="1050">
                          <a:solidFill>
                            <a:srgbClr val="141923"/>
                          </a:solidFill>
                        </a:defRPr>
                      </a:pPr>
                      <a:r>
                        <a:t>61.48%</a:t>
                      </a:r>
                    </a:p>
                  </a:txBody>
                  <a:tcPr anchor="ctr">
                    <a:solidFill>
                      <a:srgbClr val="F5F8FD"/>
                    </a:solidFill>
                  </a:tcPr>
                </a:tc>
                <a:tc>
                  <a:txBody>
                    <a:bodyPr/>
                    <a:lstStyle/>
                    <a:p>
                      <a:pPr algn="r">
                        <a:defRPr sz="1050">
                          <a:solidFill>
                            <a:srgbClr val="141923"/>
                          </a:solidFill>
                        </a:defRPr>
                      </a:pPr>
                      <a:r>
                        <a:t>12.11%</a:t>
                      </a:r>
                    </a:p>
                  </a:txBody>
                  <a:tcPr anchor="ctr">
                    <a:solidFill>
                      <a:srgbClr val="F5F8FD"/>
                    </a:solidFill>
                  </a:tcPr>
                </a:tc>
                <a:tc>
                  <a:txBody>
                    <a:bodyPr/>
                    <a:lstStyle/>
                    <a:p>
                      <a:pPr algn="r">
                        <a:defRPr sz="1050">
                          <a:solidFill>
                            <a:srgbClr val="141923"/>
                          </a:solidFill>
                        </a:defRPr>
                      </a:pPr>
                      <a:r>
                        <a:t>20.23%</a:t>
                      </a:r>
                    </a:p>
                  </a:txBody>
                  <a:tcPr anchor="ctr">
                    <a:solidFill>
                      <a:srgbClr val="F5F8FD"/>
                    </a:solidFill>
                  </a:tcPr>
                </a:tc>
                <a:tc>
                  <a:txBody>
                    <a:bodyPr/>
                    <a:lstStyle/>
                    <a:p>
                      <a:pPr algn="r">
                        <a:defRPr sz="1050">
                          <a:solidFill>
                            <a:srgbClr val="141923"/>
                          </a:solidFill>
                        </a:defRPr>
                      </a:pPr>
                      <a:r>
                        <a:t>1.41%</a:t>
                      </a:r>
                    </a:p>
                  </a:txBody>
                  <a:tcPr anchor="ctr">
                    <a:solidFill>
                      <a:srgbClr val="F5F8FD"/>
                    </a:solidFill>
                  </a:tcPr>
                </a:tc>
              </a:tr>
              <a:tr h="338328">
                <a:tc>
                  <a:txBody>
                    <a:bodyPr/>
                    <a:lstStyle/>
                    <a:p>
                      <a:pPr algn="l">
                        <a:defRPr sz="1050">
                          <a:solidFill>
                            <a:srgbClr val="141923"/>
                          </a:solidFill>
                        </a:defRPr>
                      </a:pPr>
                      <a:r>
                        <a:t>Task 1B: Next-Day Forecasting (w=5.0)</a:t>
                      </a:r>
                    </a:p>
                  </a:txBody>
                  <a:tcPr anchor="ctr">
                    <a:solidFill>
                      <a:srgbClr val="FFFFFF"/>
                    </a:solidFill>
                  </a:tcPr>
                </a:tc>
                <a:tc>
                  <a:txBody>
                    <a:bodyPr/>
                    <a:lstStyle/>
                    <a:p>
                      <a:pPr algn="r">
                        <a:defRPr sz="1050">
                          <a:solidFill>
                            <a:srgbClr val="141923"/>
                          </a:solidFill>
                        </a:defRPr>
                      </a:pPr>
                      <a:r>
                        <a:t>72.54%</a:t>
                      </a:r>
                    </a:p>
                  </a:txBody>
                  <a:tcPr anchor="ctr">
                    <a:solidFill>
                      <a:srgbClr val="FFFFFF"/>
                    </a:solidFill>
                  </a:tcPr>
                </a:tc>
                <a:tc>
                  <a:txBody>
                    <a:bodyPr/>
                    <a:lstStyle/>
                    <a:p>
                      <a:pPr algn="r">
                        <a:defRPr sz="1050">
                          <a:solidFill>
                            <a:srgbClr val="141923"/>
                          </a:solidFill>
                        </a:defRPr>
                      </a:pPr>
                      <a:r>
                        <a:t>28.06%</a:t>
                      </a:r>
                    </a:p>
                  </a:txBody>
                  <a:tcPr anchor="ctr">
                    <a:solidFill>
                      <a:srgbClr val="FFFFFF"/>
                    </a:solidFill>
                  </a:tcPr>
                </a:tc>
                <a:tc>
                  <a:txBody>
                    <a:bodyPr/>
                    <a:lstStyle/>
                    <a:p>
                      <a:pPr algn="r">
                        <a:defRPr sz="1050">
                          <a:solidFill>
                            <a:srgbClr val="141923"/>
                          </a:solidFill>
                        </a:defRPr>
                      </a:pPr>
                      <a:r>
                        <a:t>48.25%</a:t>
                      </a:r>
                    </a:p>
                  </a:txBody>
                  <a:tcPr anchor="ctr">
                    <a:solidFill>
                      <a:srgbClr val="FFFFFF"/>
                    </a:solidFill>
                  </a:tcPr>
                </a:tc>
                <a:tc>
                  <a:txBody>
                    <a:bodyPr/>
                    <a:lstStyle/>
                    <a:p>
                      <a:pPr algn="r">
                        <a:defRPr sz="1050">
                          <a:solidFill>
                            <a:srgbClr val="141923"/>
                          </a:solidFill>
                        </a:defRPr>
                      </a:pPr>
                      <a:r>
                        <a:t>35.48%</a:t>
                      </a:r>
                    </a:p>
                  </a:txBody>
                  <a:tcPr anchor="ctr">
                    <a:solidFill>
                      <a:srgbClr val="FFFFFF"/>
                    </a:solidFill>
                  </a:tcPr>
                </a:tc>
                <a:tc>
                  <a:txBody>
                    <a:bodyPr/>
                    <a:lstStyle/>
                    <a:p>
                      <a:pPr algn="r">
                        <a:defRPr sz="1050">
                          <a:solidFill>
                            <a:srgbClr val="141923"/>
                          </a:solidFill>
                        </a:defRPr>
                      </a:pPr>
                      <a:r>
                        <a:t>22.95%</a:t>
                      </a:r>
                    </a:p>
                  </a:txBody>
                  <a:tcPr anchor="ctr">
                    <a:solidFill>
                      <a:srgbClr val="FFFFFF"/>
                    </a:solidFill>
                  </a:tcPr>
                </a:tc>
              </a:tr>
              <a:tr h="338328">
                <a:tc>
                  <a:txBody>
                    <a:bodyPr/>
                    <a:lstStyle/>
                    <a:p>
                      <a:pPr algn="l">
                        <a:defRPr sz="1050" b="1">
                          <a:solidFill>
                            <a:srgbClr val="008232"/>
                          </a:solidFill>
                        </a:defRPr>
                      </a:pPr>
                      <a:r>
                        <a:t>Task 2: Real-Time Screening (Production)</a:t>
                      </a:r>
                    </a:p>
                  </a:txBody>
                  <a:tcPr anchor="ctr">
                    <a:solidFill>
                      <a:srgbClr val="EBF7EE"/>
                    </a:solidFill>
                  </a:tcPr>
                </a:tc>
                <a:tc>
                  <a:txBody>
                    <a:bodyPr/>
                    <a:lstStyle/>
                    <a:p>
                      <a:pPr algn="r">
                        <a:defRPr sz="1050" b="1">
                          <a:solidFill>
                            <a:srgbClr val="008232"/>
                          </a:solidFill>
                        </a:defRPr>
                      </a:pPr>
                      <a:r>
                        <a:t>95.66%</a:t>
                      </a:r>
                    </a:p>
                  </a:txBody>
                  <a:tcPr anchor="ctr">
                    <a:solidFill>
                      <a:srgbClr val="EBF7EE"/>
                    </a:solidFill>
                  </a:tcPr>
                </a:tc>
                <a:tc>
                  <a:txBody>
                    <a:bodyPr/>
                    <a:lstStyle/>
                    <a:p>
                      <a:pPr algn="r">
                        <a:defRPr sz="1050" b="1">
                          <a:solidFill>
                            <a:srgbClr val="008232"/>
                          </a:solidFill>
                        </a:defRPr>
                      </a:pPr>
                      <a:r>
                        <a:t>86.55%</a:t>
                      </a:r>
                    </a:p>
                  </a:txBody>
                  <a:tcPr anchor="ctr">
                    <a:solidFill>
                      <a:srgbClr val="EBF7EE"/>
                    </a:solidFill>
                  </a:tcPr>
                </a:tc>
                <a:tc>
                  <a:txBody>
                    <a:bodyPr/>
                    <a:lstStyle/>
                    <a:p>
                      <a:pPr algn="r">
                        <a:defRPr sz="1050" b="1">
                          <a:solidFill>
                            <a:srgbClr val="008232"/>
                          </a:solidFill>
                        </a:defRPr>
                      </a:pPr>
                      <a:r>
                        <a:t>85.47%</a:t>
                      </a:r>
                    </a:p>
                  </a:txBody>
                  <a:tcPr anchor="ctr">
                    <a:solidFill>
                      <a:srgbClr val="EBF7EE"/>
                    </a:solidFill>
                  </a:tcPr>
                </a:tc>
                <a:tc>
                  <a:txBody>
                    <a:bodyPr/>
                    <a:lstStyle/>
                    <a:p>
                      <a:pPr algn="r">
                        <a:defRPr sz="1050" b="1">
                          <a:solidFill>
                            <a:srgbClr val="008232"/>
                          </a:solidFill>
                        </a:defRPr>
                      </a:pPr>
                      <a:r>
                        <a:t>86.01%</a:t>
                      </a:r>
                    </a:p>
                  </a:txBody>
                  <a:tcPr anchor="ctr">
                    <a:solidFill>
                      <a:srgbClr val="EBF7EE"/>
                    </a:solidFill>
                  </a:tcPr>
                </a:tc>
                <a:tc>
                  <a:txBody>
                    <a:bodyPr/>
                    <a:lstStyle/>
                    <a:p>
                      <a:pPr algn="r">
                        <a:defRPr sz="1050" b="1">
                          <a:solidFill>
                            <a:srgbClr val="008232"/>
                          </a:solidFill>
                        </a:defRPr>
                      </a:pPr>
                      <a:r>
                        <a:t>2.46%</a:t>
                      </a:r>
                    </a:p>
                  </a:txBody>
                  <a:tcPr anchor="ctr">
                    <a:solidFill>
                      <a:srgbClr val="EBF7EE"/>
                    </a:solidFill>
                  </a:tcPr>
                </a:tc>
              </a:tr>
            </a:tbl>
          </a:graphicData>
        </a:graphic>
      </p:graphicFrame>
      <p:sp>
        <p:nvSpPr>
          <p:cNvPr id="12" name="Rounded Rectangle 11"/>
          <p:cNvSpPr/>
          <p:nvPr/>
        </p:nvSpPr>
        <p:spPr>
          <a:xfrm>
            <a:off x="548640" y="3657600"/>
            <a:ext cx="5349240" cy="260604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65760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712463"/>
            <a:ext cx="4983479" cy="292607"/>
          </a:xfrm>
          <a:prstGeom prst="rect">
            <a:avLst/>
          </a:prstGeom>
          <a:noFill/>
        </p:spPr>
        <p:txBody>
          <a:bodyPr wrap="square" lIns="0" tIns="0" rIns="0" bIns="0">
            <a:spAutoFit/>
          </a:bodyPr>
          <a:lstStyle/>
          <a:p>
            <a:pPr>
              <a:defRPr sz="1300" b="1">
                <a:solidFill>
                  <a:srgbClr val="FFFFFF"/>
                </a:solidFill>
              </a:defRPr>
            </a:pPr>
            <a:r>
              <a:t>What the ML results mean</a:t>
            </a:r>
          </a:p>
        </p:txBody>
      </p:sp>
      <p:sp>
        <p:nvSpPr>
          <p:cNvPr id="15" name="TextBox 14"/>
          <p:cNvSpPr txBox="1"/>
          <p:nvPr/>
        </p:nvSpPr>
        <p:spPr>
          <a:xfrm>
            <a:off x="749808" y="4133087"/>
            <a:ext cx="4946903" cy="1877060"/>
          </a:xfrm>
          <a:prstGeom prst="rect">
            <a:avLst/>
          </a:prstGeom>
          <a:noFill/>
        </p:spPr>
        <p:txBody>
          <a:bodyPr wrap="square" lIns="0" tIns="0" rIns="0" bIns="0">
            <a:spAutoFit/>
          </a:bodyPr>
          <a:lstStyle/>
          <a:p>
            <a:pPr>
              <a:defRPr sz="1100" b="1">
                <a:solidFill>
                  <a:srgbClr val="008232"/>
                </a:solidFill>
              </a:defRPr>
            </a:pPr>
            <a:r>
              <a:rPr sz="1400"/>
              <a:t>• Production Model achieves 95.66% accuracy and 86.01% F1-score.</a:t>
            </a:r>
            <a:endParaRPr sz="1400"/>
          </a:p>
          <a:p>
            <a:pPr>
              <a:spcBef>
                <a:spcPts val="400"/>
              </a:spcBef>
              <a:defRPr sz="1050">
                <a:solidFill>
                  <a:srgbClr val="141923"/>
                </a:solidFill>
              </a:defRPr>
            </a:pPr>
            <a:r>
              <a:rPr sz="1400"/>
              <a:t>• High Actionability: 86.55% precision ensures mandi officials and farmers can trust alerts without false panic.</a:t>
            </a:r>
            <a:endParaRPr sz="1400"/>
          </a:p>
          <a:p>
            <a:pPr>
              <a:spcBef>
                <a:spcPts val="400"/>
              </a:spcBef>
              <a:defRPr sz="1050">
                <a:solidFill>
                  <a:srgbClr val="141923"/>
                </a:solidFill>
              </a:defRPr>
            </a:pPr>
            <a:r>
              <a:rPr sz="1400"/>
              <a:t>• Ultra-Low False Alarms: 2.46% False Positive Rate prevents disruptive regulatory over-reaction.</a:t>
            </a:r>
            <a:endParaRPr sz="1400"/>
          </a:p>
          <a:p>
            <a:pPr>
              <a:spcBef>
                <a:spcPts val="400"/>
              </a:spcBef>
              <a:defRPr sz="1050" b="1">
                <a:solidFill>
                  <a:srgbClr val="1B2A6B"/>
                </a:solidFill>
              </a:defRPr>
            </a:pPr>
            <a:r>
              <a:rPr sz="1400"/>
              <a:t>• Confusion Matrix: 39,809 TN  |  1,002 FP  |  1,096 FN  |  6,447 TP.</a:t>
            </a:r>
            <a:endParaRPr sz="1400"/>
          </a:p>
        </p:txBody>
      </p:sp>
      <p:sp>
        <p:nvSpPr>
          <p:cNvPr id="16" name="Rounded Rectangle 15"/>
          <p:cNvSpPr/>
          <p:nvPr/>
        </p:nvSpPr>
        <p:spPr>
          <a:xfrm>
            <a:off x="6263640" y="3657600"/>
            <a:ext cx="5349240" cy="260604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365760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712463"/>
            <a:ext cx="4983479" cy="292607"/>
          </a:xfrm>
          <a:prstGeom prst="rect">
            <a:avLst/>
          </a:prstGeom>
          <a:noFill/>
        </p:spPr>
        <p:txBody>
          <a:bodyPr wrap="square" lIns="0" tIns="0" rIns="0" bIns="0">
            <a:spAutoFit/>
          </a:bodyPr>
          <a:lstStyle/>
          <a:p>
            <a:pPr>
              <a:defRPr sz="1300" b="1">
                <a:solidFill>
                  <a:srgbClr val="FFFFFF"/>
                </a:solidFill>
              </a:defRPr>
            </a:pPr>
            <a:r>
              <a:t>Real-time streaming results</a:t>
            </a:r>
          </a:p>
        </p:txBody>
      </p:sp>
      <p:sp>
        <p:nvSpPr>
          <p:cNvPr id="19" name="TextBox 18"/>
          <p:cNvSpPr txBox="1"/>
          <p:nvPr/>
        </p:nvSpPr>
        <p:spPr>
          <a:xfrm>
            <a:off x="6464807" y="4133087"/>
            <a:ext cx="4946903" cy="1941195"/>
          </a:xfrm>
          <a:prstGeom prst="rect">
            <a:avLst/>
          </a:prstGeom>
          <a:noFill/>
        </p:spPr>
        <p:txBody>
          <a:bodyPr wrap="square" lIns="0" tIns="0" rIns="0" bIns="0">
            <a:spAutoFit/>
          </a:bodyPr>
          <a:lstStyle/>
          <a:p>
            <a:pPr>
              <a:defRPr sz="1200" b="1">
                <a:solidFill>
                  <a:srgbClr val="A30000"/>
                </a:solidFill>
              </a:defRPr>
            </a:pPr>
            <a:r>
              <a:rPr sz="1400"/>
              <a:t>15,000 real market records replayed through Kafka.</a:t>
            </a:r>
            <a:endParaRPr sz="1400"/>
          </a:p>
          <a:p>
            <a:pPr>
              <a:spcBef>
                <a:spcPts val="500"/>
              </a:spcBef>
              <a:defRPr sz="1050">
                <a:solidFill>
                  <a:srgbClr val="141923"/>
                </a:solidFill>
              </a:defRPr>
            </a:pPr>
            <a:r>
              <a:rPr sz="1400"/>
              <a:t>• Throughput: Sustained ~1,200 events/sec micro-batch processing.</a:t>
            </a:r>
            <a:endParaRPr sz="1400"/>
          </a:p>
          <a:p>
            <a:pPr>
              <a:spcBef>
                <a:spcPts val="400"/>
              </a:spcBef>
              <a:defRPr sz="1050">
                <a:solidFill>
                  <a:srgbClr val="141923"/>
                </a:solidFill>
              </a:defRPr>
            </a:pPr>
            <a:r>
              <a:rPr sz="1400"/>
              <a:t>• Latency: Sub-800ms micro-batch execution time.</a:t>
            </a:r>
            <a:endParaRPr sz="1400"/>
          </a:p>
          <a:p>
            <a:pPr>
              <a:spcBef>
                <a:spcPts val="400"/>
              </a:spcBef>
              <a:defRPr sz="1050">
                <a:solidFill>
                  <a:srgbClr val="141923"/>
                </a:solidFill>
              </a:defRPr>
            </a:pPr>
            <a:r>
              <a:rPr sz="1400"/>
              <a:t>• Storage: Zero executor memory leaks during continuous Kafka ingestion.</a:t>
            </a:r>
            <a:endParaRPr sz="1400"/>
          </a:p>
          <a:p>
            <a:pPr>
              <a:spcBef>
                <a:spcPts val="400"/>
              </a:spcBef>
              <a:defRPr sz="1050">
                <a:solidFill>
                  <a:srgbClr val="555F6E"/>
                </a:solidFill>
              </a:defRPr>
            </a:pPr>
            <a:r>
              <a:rPr sz="1400"/>
              <a:t>• Note: Replay confirms streaming pipeline stability, not ML accuracy.</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2560320" cy="365760"/>
          </a:xfrm>
          <a:prstGeom prst="rect">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FFFFFF"/>
                </a:solidFill>
              </a:defRPr>
            </a:pPr>
            <a:r>
              <a:t>Team AG-DATA / 23AID302</a:t>
            </a:r>
          </a:p>
        </p:txBody>
      </p:sp>
      <p:sp>
        <p:nvSpPr>
          <p:cNvPr id="4" name="Rectangle 3"/>
          <p:cNvSpPr/>
          <p:nvPr/>
        </p:nvSpPr>
        <p:spPr>
          <a:xfrm>
            <a:off x="2560320" y="6492240"/>
            <a:ext cx="7802575"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a:solidFill>
                  <a:srgbClr val="A30000"/>
                </a:solidFill>
              </a:defRPr>
            </a:pPr>
            <a:r>
              <a:t>Agricultural Commodity Price Analysis and Decision Support</a:t>
            </a:r>
          </a:p>
        </p:txBody>
      </p:sp>
      <p:sp>
        <p:nvSpPr>
          <p:cNvPr id="5" name="Rectangle 4"/>
          <p:cNvSpPr/>
          <p:nvPr/>
        </p:nvSpPr>
        <p:spPr>
          <a:xfrm>
            <a:off x="10362895" y="6492240"/>
            <a:ext cx="1828800" cy="365760"/>
          </a:xfrm>
          <a:prstGeom prst="rect">
            <a:avLst/>
          </a:prstGeom>
          <a:solidFill>
            <a:srgbClr val="DEE2E8"/>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141923"/>
                </a:solidFill>
              </a:defRPr>
            </a:pPr>
            <a:r>
              <a:t>9 / 10</a:t>
            </a:r>
          </a:p>
        </p:txBody>
      </p:sp>
      <p:sp>
        <p:nvSpPr>
          <p:cNvPr id="6" name="TextBox 5"/>
          <p:cNvSpPr txBox="1"/>
          <p:nvPr/>
        </p:nvSpPr>
        <p:spPr>
          <a:xfrm>
            <a:off x="548640" y="292608"/>
            <a:ext cx="11094415" cy="594360"/>
          </a:xfrm>
          <a:prstGeom prst="rect">
            <a:avLst/>
          </a:prstGeom>
          <a:noFill/>
        </p:spPr>
        <p:txBody>
          <a:bodyPr wrap="square" lIns="0" tIns="0" rIns="0" bIns="0">
            <a:spAutoFit/>
          </a:bodyPr>
          <a:lstStyle/>
          <a:p>
            <a:pPr>
              <a:defRPr sz="2200" b="1">
                <a:solidFill>
                  <a:srgbClr val="A30000"/>
                </a:solidFill>
              </a:defRPr>
            </a:pPr>
            <a:r>
              <a:t>8. Challenges, Limits and Next Steps</a:t>
            </a:r>
          </a:p>
        </p:txBody>
      </p:sp>
      <p:sp>
        <p:nvSpPr>
          <p:cNvPr id="7" name="Rounded Rectangle 6"/>
          <p:cNvSpPr/>
          <p:nvPr/>
        </p:nvSpPr>
        <p:spPr>
          <a:xfrm>
            <a:off x="548640" y="1051560"/>
            <a:ext cx="5349240" cy="292608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05156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106424"/>
            <a:ext cx="4983479" cy="292607"/>
          </a:xfrm>
          <a:prstGeom prst="rect">
            <a:avLst/>
          </a:prstGeom>
          <a:noFill/>
        </p:spPr>
        <p:txBody>
          <a:bodyPr wrap="square" lIns="0" tIns="0" rIns="0" bIns="0">
            <a:spAutoFit/>
          </a:bodyPr>
          <a:lstStyle/>
          <a:p>
            <a:pPr>
              <a:defRPr sz="1300" b="1">
                <a:solidFill>
                  <a:srgbClr val="FFFFFF"/>
                </a:solidFill>
              </a:defRPr>
            </a:pPr>
            <a:r>
              <a:t>Challenges we handled</a:t>
            </a:r>
          </a:p>
        </p:txBody>
      </p:sp>
      <p:sp>
        <p:nvSpPr>
          <p:cNvPr id="10" name="TextBox 9"/>
          <p:cNvSpPr txBox="1"/>
          <p:nvPr/>
        </p:nvSpPr>
        <p:spPr>
          <a:xfrm>
            <a:off x="749808" y="1527048"/>
            <a:ext cx="4946903" cy="1877060"/>
          </a:xfrm>
          <a:prstGeom prst="rect">
            <a:avLst/>
          </a:prstGeom>
          <a:noFill/>
        </p:spPr>
        <p:txBody>
          <a:bodyPr wrap="square" lIns="0" tIns="0" rIns="0" bIns="0">
            <a:spAutoFit/>
          </a:bodyPr>
          <a:lstStyle/>
          <a:p>
            <a:pPr>
              <a:defRPr sz="1100">
                <a:solidFill>
                  <a:srgbClr val="141923"/>
                </a:solidFill>
              </a:defRPr>
            </a:pPr>
            <a:r>
              <a:rPr sz="1400"/>
              <a:t>• JDK 21 reflection blocked calendar; solved via JVM --add-opens flags.</a:t>
            </a:r>
            <a:endParaRPr sz="1400"/>
          </a:p>
          <a:p>
            <a:pPr>
              <a:spcBef>
                <a:spcPts val="400"/>
              </a:spcBef>
              <a:defRPr sz="1100">
                <a:solidFill>
                  <a:srgbClr val="141923"/>
                </a:solidFill>
              </a:defRPr>
            </a:pPr>
            <a:r>
              <a:rPr sz="1400"/>
              <a:t>• Date parsing exceptions prevented by coalesce with try_to_date.</a:t>
            </a:r>
            <a:endParaRPr sz="1400"/>
          </a:p>
          <a:p>
            <a:pPr>
              <a:spcBef>
                <a:spcPts val="400"/>
              </a:spcBef>
              <a:defRPr sz="1100">
                <a:solidFill>
                  <a:srgbClr val="141923"/>
                </a:solidFill>
              </a:defRPr>
            </a:pPr>
            <a:r>
              <a:rPr sz="1400"/>
              <a:t>• Full-row distinct() memory OOM resolved by 7-column composite deduplication.</a:t>
            </a:r>
            <a:endParaRPr sz="1400"/>
          </a:p>
          <a:p>
            <a:pPr>
              <a:spcBef>
                <a:spcPts val="400"/>
              </a:spcBef>
              <a:defRPr sz="1100">
                <a:solidFill>
                  <a:srgbClr val="141923"/>
                </a:solidFill>
              </a:defRPr>
            </a:pPr>
            <a:r>
              <a:rPr sz="1400"/>
              <a:t>• Lineage explosion from recursive windowing truncated via Parquet checkpoints.</a:t>
            </a:r>
            <a:endParaRPr sz="1400"/>
          </a:p>
        </p:txBody>
      </p:sp>
      <p:sp>
        <p:nvSpPr>
          <p:cNvPr id="11" name="Rounded Rectangle 10"/>
          <p:cNvSpPr/>
          <p:nvPr/>
        </p:nvSpPr>
        <p:spPr>
          <a:xfrm>
            <a:off x="6263640" y="1051560"/>
            <a:ext cx="5349240" cy="292608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63640" y="1051560"/>
            <a:ext cx="5349240" cy="384048"/>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106424"/>
            <a:ext cx="4983479" cy="292607"/>
          </a:xfrm>
          <a:prstGeom prst="rect">
            <a:avLst/>
          </a:prstGeom>
          <a:noFill/>
        </p:spPr>
        <p:txBody>
          <a:bodyPr wrap="square" lIns="0" tIns="0" rIns="0" bIns="0">
            <a:spAutoFit/>
          </a:bodyPr>
          <a:lstStyle/>
          <a:p>
            <a:pPr>
              <a:defRPr sz="1300" b="1">
                <a:solidFill>
                  <a:srgbClr val="FFFFFF"/>
                </a:solidFill>
              </a:defRPr>
            </a:pPr>
            <a:r>
              <a:t>Limits and next steps</a:t>
            </a:r>
          </a:p>
        </p:txBody>
      </p:sp>
      <p:sp>
        <p:nvSpPr>
          <p:cNvPr id="14" name="TextBox 13"/>
          <p:cNvSpPr txBox="1"/>
          <p:nvPr/>
        </p:nvSpPr>
        <p:spPr>
          <a:xfrm>
            <a:off x="6464807" y="1527048"/>
            <a:ext cx="4946903" cy="1877060"/>
          </a:xfrm>
          <a:prstGeom prst="rect">
            <a:avLst/>
          </a:prstGeom>
          <a:noFill/>
        </p:spPr>
        <p:txBody>
          <a:bodyPr wrap="square" lIns="0" tIns="0" rIns="0" bIns="0">
            <a:spAutoFit/>
          </a:bodyPr>
          <a:lstStyle/>
          <a:p>
            <a:pPr>
              <a:defRPr sz="1100">
                <a:solidFill>
                  <a:srgbClr val="141923"/>
                </a:solidFill>
              </a:defRPr>
            </a:pPr>
            <a:r>
              <a:rPr sz="1400"/>
              <a:t>• Local Spark execution (local[*]) rather than multi-node physical YARN cluster.</a:t>
            </a:r>
            <a:endParaRPr sz="1400"/>
          </a:p>
          <a:p>
            <a:pPr>
              <a:spcBef>
                <a:spcPts val="400"/>
              </a:spcBef>
              <a:defRPr sz="1100">
                <a:solidFill>
                  <a:srgbClr val="141923"/>
                </a:solidFill>
              </a:defRPr>
            </a:pPr>
            <a:r>
              <a:rPr sz="1400"/>
              <a:t>• Stream replayed from real historical logs rather than live government REST APIs.</a:t>
            </a:r>
            <a:endParaRPr sz="1400"/>
          </a:p>
          <a:p>
            <a:pPr>
              <a:spcBef>
                <a:spcPts val="400"/>
              </a:spcBef>
              <a:defRPr sz="1100">
                <a:solidFill>
                  <a:srgbClr val="141923"/>
                </a:solidFill>
              </a:defRPr>
            </a:pPr>
            <a:r>
              <a:rPr sz="1400"/>
              <a:t>• Automated farmer advisory dispatch (SMS/WhatsApp BUY/SELL engine) is future work.</a:t>
            </a:r>
            <a:endParaRPr sz="1400"/>
          </a:p>
          <a:p>
            <a:pPr>
              <a:spcBef>
                <a:spcPts val="400"/>
              </a:spcBef>
              <a:defRPr sz="1100">
                <a:solidFill>
                  <a:srgbClr val="141923"/>
                </a:solidFill>
              </a:defRPr>
            </a:pPr>
            <a:r>
              <a:rPr sz="1400"/>
              <a:t>• Future: Deploy to AWS EMR and train deep LSTM multi-step price forecasting.</a:t>
            </a:r>
            <a:endParaRPr sz="1400"/>
          </a:p>
        </p:txBody>
      </p:sp>
      <p:sp>
        <p:nvSpPr>
          <p:cNvPr id="15" name="Rounded Rectangle 14"/>
          <p:cNvSpPr/>
          <p:nvPr/>
        </p:nvSpPr>
        <p:spPr>
          <a:xfrm>
            <a:off x="548640" y="4160520"/>
            <a:ext cx="11064240" cy="1325880"/>
          </a:xfrm>
          <a:prstGeom prst="roundRect">
            <a:avLst/>
          </a:prstGeom>
          <a:solidFill>
            <a:srgbClr val="F1F4FA"/>
          </a:solidFill>
          <a:ln w="12700">
            <a:solidFill>
              <a:srgbClr val="D2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4160520"/>
            <a:ext cx="11064240" cy="347472"/>
          </a:xfrm>
          <a:prstGeom prst="roundRect">
            <a:avLst/>
          </a:prstGeom>
          <a:solidFill>
            <a:srgbClr val="1B2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06240"/>
            <a:ext cx="10698480" cy="256032"/>
          </a:xfrm>
          <a:prstGeom prst="rect">
            <a:avLst/>
          </a:prstGeom>
          <a:noFill/>
        </p:spPr>
        <p:txBody>
          <a:bodyPr wrap="square" lIns="0" tIns="0" rIns="0" bIns="0">
            <a:spAutoFit/>
          </a:bodyPr>
          <a:lstStyle/>
          <a:p>
            <a:pPr>
              <a:defRPr sz="1200" b="1">
                <a:solidFill>
                  <a:srgbClr val="FFFFFF"/>
                </a:solidFill>
              </a:defRPr>
            </a:pPr>
            <a:r>
              <a:t>Did 7-column composite deduplication outperform full-row distinct()?</a:t>
            </a:r>
          </a:p>
        </p:txBody>
      </p:sp>
      <p:sp>
        <p:nvSpPr>
          <p:cNvPr id="18" name="TextBox 17"/>
          <p:cNvSpPr txBox="1"/>
          <p:nvPr/>
        </p:nvSpPr>
        <p:spPr>
          <a:xfrm>
            <a:off x="777240" y="4599431"/>
            <a:ext cx="10607040" cy="738505"/>
          </a:xfrm>
          <a:prstGeom prst="rect">
            <a:avLst/>
          </a:prstGeom>
          <a:noFill/>
        </p:spPr>
        <p:txBody>
          <a:bodyPr wrap="square" lIns="0" tIns="0" rIns="0" bIns="0">
            <a:spAutoFit/>
          </a:bodyPr>
          <a:lstStyle/>
          <a:p>
            <a:pPr>
              <a:defRPr sz="1100">
                <a:solidFill>
                  <a:srgbClr val="141923"/>
                </a:solidFill>
              </a:defRPr>
            </a:pPr>
            <a:r>
              <a:rPr sz="1600"/>
              <a:t>Yes. Full-row distinct() hashes all 10 columns across 133 million rows, causing severe shuffle skew and OutOfMemoryError. Partitioning by a 7-column composite business key with row_number() enabled map-side partial reduction, completing cleanly in 4.2 minutes with zero memory spills.</a:t>
            </a:r>
            <a:endParaRPr sz="1600"/>
          </a:p>
        </p:txBody>
      </p:sp>
      <p:sp>
        <p:nvSpPr>
          <p:cNvPr id="19" name="TextBox 18"/>
          <p:cNvSpPr txBox="1"/>
          <p:nvPr/>
        </p:nvSpPr>
        <p:spPr>
          <a:xfrm>
            <a:off x="548640" y="5623560"/>
            <a:ext cx="11118850" cy="306705"/>
          </a:xfrm>
          <a:prstGeom prst="rect">
            <a:avLst/>
          </a:prstGeom>
          <a:noFill/>
        </p:spPr>
        <p:txBody>
          <a:bodyPr wrap="none">
            <a:spAutoFit/>
          </a:bodyPr>
          <a:lstStyle/>
          <a:p>
            <a:pPr>
              <a:defRPr sz="1150" b="1">
                <a:solidFill>
                  <a:srgbClr val="141923"/>
                </a:solidFill>
              </a:defRPr>
            </a:pPr>
            <a:r>
              <a:rPr sz="1400"/>
              <a:t>Conclusion: the system processes 132.9M real rows, maintains HDFS replication, and produces 95.66% accurate real-time alerts.</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2560320" cy="365760"/>
          </a:xfrm>
          <a:prstGeom prst="rect">
            <a:avLst/>
          </a:prstGeom>
          <a:solidFill>
            <a:srgbClr val="A30000"/>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FFFFFF"/>
                </a:solidFill>
              </a:defRPr>
            </a:pPr>
            <a:r>
              <a:t>Team AG-DATA / 23AID302</a:t>
            </a:r>
          </a:p>
        </p:txBody>
      </p:sp>
      <p:sp>
        <p:nvSpPr>
          <p:cNvPr id="4" name="Rectangle 3"/>
          <p:cNvSpPr/>
          <p:nvPr/>
        </p:nvSpPr>
        <p:spPr>
          <a:xfrm>
            <a:off x="2560320" y="6492240"/>
            <a:ext cx="7802575" cy="365760"/>
          </a:xfrm>
          <a:prstGeom prst="rect">
            <a:avLst/>
          </a:prstGeom>
          <a:solidFill>
            <a:srgbClr val="EAEDF2"/>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a:solidFill>
                  <a:srgbClr val="A30000"/>
                </a:solidFill>
              </a:defRPr>
            </a:pPr>
            <a:r>
              <a:t>Agricultural Commodity Price Analysis and Decision Support</a:t>
            </a:r>
          </a:p>
        </p:txBody>
      </p:sp>
      <p:sp>
        <p:nvSpPr>
          <p:cNvPr id="5" name="Rectangle 4"/>
          <p:cNvSpPr/>
          <p:nvPr/>
        </p:nvSpPr>
        <p:spPr>
          <a:xfrm>
            <a:off x="10362895" y="6492240"/>
            <a:ext cx="1828800" cy="365760"/>
          </a:xfrm>
          <a:prstGeom prst="rect">
            <a:avLst/>
          </a:prstGeom>
          <a:solidFill>
            <a:srgbClr val="DEE2E8"/>
          </a:solidFill>
          <a:ln>
            <a:no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defRPr sz="1050" b="1">
                <a:solidFill>
                  <a:srgbClr val="141923"/>
                </a:solidFill>
              </a:defRPr>
            </a:pPr>
            <a:r>
              <a:t>10 / 10</a:t>
            </a:r>
          </a:p>
        </p:txBody>
      </p:sp>
      <p:sp>
        <p:nvSpPr>
          <p:cNvPr id="6" name="TextBox 5"/>
          <p:cNvSpPr txBox="1"/>
          <p:nvPr/>
        </p:nvSpPr>
        <p:spPr>
          <a:xfrm>
            <a:off x="548640" y="292608"/>
            <a:ext cx="11094415" cy="594360"/>
          </a:xfrm>
          <a:prstGeom prst="rect">
            <a:avLst/>
          </a:prstGeom>
          <a:noFill/>
        </p:spPr>
        <p:txBody>
          <a:bodyPr wrap="square" lIns="0" tIns="0" rIns="0" bIns="0">
            <a:spAutoFit/>
          </a:bodyPr>
          <a:lstStyle/>
          <a:p>
            <a:pPr>
              <a:defRPr sz="2200" b="1">
                <a:solidFill>
                  <a:srgbClr val="A30000"/>
                </a:solidFill>
              </a:defRPr>
            </a:pPr>
            <a:r>
              <a:t>9. References</a:t>
            </a:r>
          </a:p>
        </p:txBody>
      </p:sp>
      <p:sp>
        <p:nvSpPr>
          <p:cNvPr id="7" name="TextBox 6"/>
          <p:cNvSpPr txBox="1"/>
          <p:nvPr/>
        </p:nvSpPr>
        <p:spPr>
          <a:xfrm>
            <a:off x="731520" y="1051560"/>
            <a:ext cx="10728655" cy="2926080"/>
          </a:xfrm>
          <a:prstGeom prst="rect">
            <a:avLst/>
          </a:prstGeom>
          <a:noFill/>
        </p:spPr>
        <p:txBody>
          <a:bodyPr wrap="square">
            <a:spAutoFit/>
          </a:bodyPr>
          <a:lstStyle/>
          <a:p>
            <a:pPr>
              <a:defRPr sz="1200" b="1">
                <a:solidFill>
                  <a:srgbClr val="1B2A6B"/>
                </a:solidFill>
              </a:defRPr>
            </a:pPr>
            <a:r>
              <a:t>1  Apache Spark: DataFrames, machine learning and Structured Streaming.</a:t>
            </a:r>
          </a:p>
          <a:p>
            <a:pPr>
              <a:defRPr sz="1100">
                <a:solidFill>
                  <a:srgbClr val="A30000"/>
                </a:solidFill>
              </a:defRPr>
            </a:pPr>
            <a:r>
              <a:t>    https://spark.apache.org/docs/4.2.0/</a:t>
            </a:r>
          </a:p>
          <a:p>
            <a:pPr>
              <a:spcBef>
                <a:spcPts val="800"/>
              </a:spcBef>
              <a:defRPr sz="1200" b="1">
                <a:solidFill>
                  <a:srgbClr val="1B2A6B"/>
                </a:solidFill>
              </a:defRPr>
            </a:pPr>
            <a:r>
              <a:t>2  Apache Hadoop: HDFS distributed storage architecture.</a:t>
            </a:r>
          </a:p>
          <a:p>
            <a:pPr>
              <a:defRPr sz="1100">
                <a:solidFill>
                  <a:srgbClr val="A30000"/>
                </a:solidFill>
              </a:defRPr>
            </a:pPr>
            <a:r>
              <a:t>    https://hadoop.apache.org/docs/r3.3.6/</a:t>
            </a:r>
          </a:p>
          <a:p>
            <a:pPr>
              <a:spcBef>
                <a:spcPts val="800"/>
              </a:spcBef>
              <a:defRPr sz="1200" b="1">
                <a:solidFill>
                  <a:srgbClr val="1B2A6B"/>
                </a:solidFill>
              </a:defRPr>
            </a:pPr>
            <a:r>
              <a:t>3  Agmarknet: Indian agricultural market daily price portals (2001–2026).</a:t>
            </a:r>
          </a:p>
          <a:p>
            <a:pPr>
              <a:defRPr sz="1100">
                <a:solidFill>
                  <a:srgbClr val="A30000"/>
                </a:solidFill>
              </a:defRPr>
            </a:pPr>
            <a:r>
              <a:t>    https://agmarknet.gov.in/</a:t>
            </a:r>
          </a:p>
          <a:p>
            <a:pPr>
              <a:spcBef>
                <a:spcPts val="800"/>
              </a:spcBef>
              <a:defRPr sz="1200" b="1">
                <a:solidFill>
                  <a:srgbClr val="1B2A6B"/>
                </a:solidFill>
              </a:defRPr>
            </a:pPr>
            <a:r>
              <a:t>4  Chambers, B., &amp; Zaharia, M. (2018). Spark: The Definitive Guide. O'Reilly Media.</a:t>
            </a:r>
          </a:p>
          <a:p>
            <a:pPr>
              <a:defRPr sz="1100">
                <a:solidFill>
                  <a:srgbClr val="A30000"/>
                </a:solidFill>
              </a:defRPr>
            </a:pPr>
            <a:r>
              <a:t>    https://www.oreilly.com/library/view/spark-the-definitive/9781491912201/</a:t>
            </a:r>
          </a:p>
        </p:txBody>
      </p:sp>
      <p:sp>
        <p:nvSpPr>
          <p:cNvPr id="8" name="TextBox 7"/>
          <p:cNvSpPr txBox="1"/>
          <p:nvPr/>
        </p:nvSpPr>
        <p:spPr>
          <a:xfrm>
            <a:off x="731520" y="4114800"/>
            <a:ext cx="10728655" cy="548640"/>
          </a:xfrm>
          <a:prstGeom prst="rect">
            <a:avLst/>
          </a:prstGeom>
          <a:noFill/>
        </p:spPr>
        <p:txBody>
          <a:bodyPr wrap="none">
            <a:spAutoFit/>
          </a:bodyPr>
          <a:lstStyle/>
          <a:p>
            <a:pPr>
              <a:defRPr sz="1200" b="1">
                <a:solidFill>
                  <a:srgbClr val="141923"/>
                </a:solidFill>
              </a:defRPr>
            </a:pPr>
            <a:r>
              <a:t>Project evidence: GitHub repository https://github.com/kaushalrog/AG-DATA, saved Parquet tables, and evaluation logs.</a:t>
            </a:r>
          </a:p>
        </p:txBody>
      </p:sp>
      <p:sp>
        <p:nvSpPr>
          <p:cNvPr id="9" name="TextBox 8"/>
          <p:cNvSpPr txBox="1"/>
          <p:nvPr/>
        </p:nvSpPr>
        <p:spPr>
          <a:xfrm>
            <a:off x="731520" y="4892040"/>
            <a:ext cx="10728655" cy="1097280"/>
          </a:xfrm>
          <a:prstGeom prst="rect">
            <a:avLst/>
          </a:prstGeom>
          <a:noFill/>
        </p:spPr>
        <p:txBody>
          <a:bodyPr wrap="none">
            <a:spAutoFit/>
          </a:bodyPr>
          <a:lstStyle/>
          <a:p>
            <a:pPr algn="ctr">
              <a:defRPr sz="3600" b="1">
                <a:solidFill>
                  <a:srgbClr val="A30000"/>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11271</Words>
  <Application>WPS Presentation</Application>
  <PresentationFormat>On-screen Show (4:3)</PresentationFormat>
  <Paragraphs>402</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Arial</vt:lpstr>
      <vt:lpstr>Calibri</vt:lpstr>
      <vt:lpstr>Helvetica Neue</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Kaushal Reddy</cp:lastModifiedBy>
  <cp:revision>2</cp:revision>
  <dcterms:created xsi:type="dcterms:W3CDTF">2026-10-19T18:18:38Z</dcterms:created>
  <dcterms:modified xsi:type="dcterms:W3CDTF">2026-10-19T18:18:38Z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1033-12.1.28496.28496</vt:lpwstr>
  </property>
  <property fmtid="{D5CDD505-2E9C-101B-9397-08002B2CF9AE}" pid="3" name="ICV">
    <vt:lpwstr>FE5D7D9D32841429FE5ED66AA9F50DCE_42</vt:lpwstr>
  </property>
</Properties>
</file>